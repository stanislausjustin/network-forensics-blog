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93" r:id="rId3"/>
    <p:sldId id="316" r:id="rId4"/>
    <p:sldId id="317"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15"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FDCF6184-A2D9-AB41-A157-73E9C07C27FC}">
          <p14:sldIdLst>
            <p14:sldId id="256"/>
            <p14:sldId id="293"/>
            <p14:sldId id="316"/>
            <p14:sldId id="317"/>
            <p14:sldId id="318"/>
            <p14:sldId id="319"/>
            <p14:sldId id="320"/>
            <p14:sldId id="321"/>
            <p14:sldId id="322"/>
            <p14:sldId id="323"/>
            <p14:sldId id="324"/>
            <p14:sldId id="325"/>
            <p14:sldId id="326"/>
            <p14:sldId id="327"/>
            <p14:sldId id="328"/>
            <p14:sldId id="329"/>
            <p14:sldId id="330"/>
            <p14:sldId id="315"/>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4A4"/>
    <a:srgbClr val="1C8ED3"/>
    <a:srgbClr val="23A1E1"/>
    <a:srgbClr val="F724FF"/>
    <a:srgbClr val="45FFFF"/>
    <a:srgbClr val="4AFD00"/>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70" autoAdjust="0"/>
    <p:restoredTop sz="82220"/>
  </p:normalViewPr>
  <p:slideViewPr>
    <p:cSldViewPr snapToGrid="0" snapToObjects="1">
      <p:cViewPr varScale="1">
        <p:scale>
          <a:sx n="60" d="100"/>
          <a:sy n="60" d="100"/>
        </p:scale>
        <p:origin x="2672" y="17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Welcome to Week 3. Today we’ll focus on </a:t>
            </a:r>
            <a:r>
              <a:rPr lang="en-ID" b="1" dirty="0"/>
              <a:t>Common Network Protocols in Network Forensics</a:t>
            </a:r>
            <a:r>
              <a:rPr lang="en-ID" dirty="0"/>
              <a:t>, based on Chapter 2.2 of our textbook.</a:t>
            </a:r>
          </a:p>
          <a:p>
            <a:r>
              <a:rPr lang="en-ID" dirty="0"/>
              <a:t>In the previous week, we learned about </a:t>
            </a:r>
            <a:r>
              <a:rPr lang="en-ID" b="1" dirty="0"/>
              <a:t>sources of evidence</a:t>
            </a:r>
            <a:r>
              <a:rPr lang="en-ID" dirty="0"/>
              <a:t> — where logs, packets, and flows come from. This week, we’ll drill deeper into the actual </a:t>
            </a:r>
            <a:r>
              <a:rPr lang="en-ID" b="1" dirty="0"/>
              <a:t>protocols</a:t>
            </a:r>
            <a:r>
              <a:rPr lang="en-ID" dirty="0"/>
              <a:t> behind those packets, and why they’re so valuable in investigations.</a:t>
            </a:r>
          </a:p>
        </p:txBody>
      </p:sp>
    </p:spTree>
    <p:extLst>
      <p:ext uri="{BB962C8B-B14F-4D97-AF65-F5344CB8AC3E}">
        <p14:creationId xmlns:p14="http://schemas.microsoft.com/office/powerpoint/2010/main" val="2827974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By the end of today, you should be able to:</a:t>
            </a:r>
          </a:p>
          <a:p>
            <a:pPr>
              <a:buFont typeface="Arial" panose="020B0604020202020204" pitchFamily="34" charset="0"/>
              <a:buChar char="•"/>
            </a:pPr>
            <a:r>
              <a:rPr lang="en-ID" dirty="0"/>
              <a:t>Recognize common network protocols like TCP, UDP, ICMP, DNS, HTTP, SMTP, FTP, and SSH.</a:t>
            </a:r>
          </a:p>
          <a:p>
            <a:pPr>
              <a:buFont typeface="Arial" panose="020B0604020202020204" pitchFamily="34" charset="0"/>
              <a:buChar char="•"/>
            </a:pPr>
            <a:r>
              <a:rPr lang="en-ID" dirty="0"/>
              <a:t>Explain the forensic value of each protocol.</a:t>
            </a:r>
          </a:p>
          <a:p>
            <a:pPr>
              <a:buFont typeface="Arial" panose="020B0604020202020204" pitchFamily="34" charset="0"/>
              <a:buChar char="•"/>
            </a:pPr>
            <a:r>
              <a:rPr lang="en-ID" dirty="0"/>
              <a:t>Identify important fields inside protocols that help us reconstruct attacker activity.</a:t>
            </a:r>
          </a:p>
          <a:p>
            <a:pPr>
              <a:buFont typeface="Arial" panose="020B0604020202020204" pitchFamily="34" charset="0"/>
              <a:buChar char="•"/>
            </a:pPr>
            <a:r>
              <a:rPr lang="en-ID" dirty="0"/>
              <a:t>And finally, see how multiple protocols can be correlated together to build a case.”</a:t>
            </a:r>
          </a:p>
          <a:p>
            <a:endParaRPr lang="en-US" dirty="0"/>
          </a:p>
        </p:txBody>
      </p:sp>
    </p:spTree>
    <p:extLst>
      <p:ext uri="{BB962C8B-B14F-4D97-AF65-F5344CB8AC3E}">
        <p14:creationId xmlns:p14="http://schemas.microsoft.com/office/powerpoint/2010/main" val="695212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When a cyberattack happens, evidence is often buried inside </a:t>
            </a:r>
            <a:r>
              <a:rPr lang="en-ID" b="1" dirty="0"/>
              <a:t>network traffic</a:t>
            </a:r>
            <a:r>
              <a:rPr lang="en-ID" dirty="0"/>
              <a:t>.</a:t>
            </a:r>
          </a:p>
          <a:p>
            <a:r>
              <a:rPr lang="en-ID" dirty="0"/>
              <a:t>Think of protocols as the </a:t>
            </a:r>
            <a:r>
              <a:rPr lang="en-ID" b="1" dirty="0"/>
              <a:t>languages</a:t>
            </a:r>
            <a:r>
              <a:rPr lang="en-ID" dirty="0"/>
              <a:t> computers use to talk. Each protocol leaves behind </a:t>
            </a:r>
            <a:r>
              <a:rPr lang="en-ID" b="1" dirty="0"/>
              <a:t>fingerprints</a:t>
            </a:r>
            <a:r>
              <a:rPr lang="en-ID" dirty="0"/>
              <a:t> in the logs or captures.</a:t>
            </a:r>
          </a:p>
          <a:p>
            <a:r>
              <a:rPr lang="en-ID" dirty="0"/>
              <a:t>For example:</a:t>
            </a:r>
          </a:p>
          <a:p>
            <a:pPr>
              <a:buFont typeface="Arial" panose="020B0604020202020204" pitchFamily="34" charset="0"/>
              <a:buChar char="•"/>
            </a:pPr>
            <a:r>
              <a:rPr lang="en-ID" dirty="0"/>
              <a:t>A TCP handshake shows who connected to whom.</a:t>
            </a:r>
          </a:p>
          <a:p>
            <a:pPr>
              <a:buFont typeface="Arial" panose="020B0604020202020204" pitchFamily="34" charset="0"/>
              <a:buChar char="•"/>
            </a:pPr>
            <a:r>
              <a:rPr lang="en-ID" dirty="0"/>
              <a:t>DNS queries show which domains were requested.</a:t>
            </a:r>
          </a:p>
          <a:p>
            <a:pPr>
              <a:buFont typeface="Arial" panose="020B0604020202020204" pitchFamily="34" charset="0"/>
              <a:buChar char="•"/>
            </a:pPr>
            <a:r>
              <a:rPr lang="en-ID" dirty="0"/>
              <a:t>HTTP requests can reveal malware downloads.</a:t>
            </a:r>
          </a:p>
          <a:p>
            <a:r>
              <a:rPr lang="en-ID" dirty="0"/>
              <a:t>If we know how to read these, we can trace what happened step by step.</a:t>
            </a:r>
          </a:p>
          <a:p>
            <a:endParaRPr lang="en-US" dirty="0"/>
          </a:p>
        </p:txBody>
      </p:sp>
    </p:spTree>
    <p:extLst>
      <p:ext uri="{BB962C8B-B14F-4D97-AF65-F5344CB8AC3E}">
        <p14:creationId xmlns:p14="http://schemas.microsoft.com/office/powerpoint/2010/main" val="2420029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Let’s recall the TCP/IP model:</a:t>
            </a:r>
          </a:p>
          <a:p>
            <a:pPr>
              <a:buFont typeface="Arial" panose="020B0604020202020204" pitchFamily="34" charset="0"/>
              <a:buChar char="•"/>
            </a:pPr>
            <a:r>
              <a:rPr lang="en-ID" b="1" dirty="0"/>
              <a:t>Application Layer:</a:t>
            </a:r>
            <a:r>
              <a:rPr lang="en-ID" dirty="0"/>
              <a:t> This is where user-level protocols sit — DNS, HTTP, SMTP, FTP, SSH.</a:t>
            </a:r>
          </a:p>
          <a:p>
            <a:pPr>
              <a:buFont typeface="Arial" panose="020B0604020202020204" pitchFamily="34" charset="0"/>
              <a:buChar char="•"/>
            </a:pPr>
            <a:r>
              <a:rPr lang="en-ID" b="1" dirty="0"/>
              <a:t>Transport Layer:</a:t>
            </a:r>
            <a:r>
              <a:rPr lang="en-ID" dirty="0"/>
              <a:t> TCP and UDP.</a:t>
            </a:r>
          </a:p>
          <a:p>
            <a:pPr>
              <a:buFont typeface="Arial" panose="020B0604020202020204" pitchFamily="34" charset="0"/>
              <a:buChar char="•"/>
            </a:pPr>
            <a:r>
              <a:rPr lang="en-ID" b="1" dirty="0"/>
              <a:t>Network Layer:</a:t>
            </a:r>
            <a:r>
              <a:rPr lang="en-ID" dirty="0"/>
              <a:t> IP and ICMP.</a:t>
            </a:r>
          </a:p>
          <a:p>
            <a:r>
              <a:rPr lang="en-ID" dirty="0"/>
              <a:t>In forensics, we don’t stop at one layer. We look across layers. For example, an attack may show up as suspicious DNS queries at the application layer, but you’ll need TCP details from the transport layer to confirm the session, and ICMP at the network layer to see if reconnaissance happened first.</a:t>
            </a:r>
          </a:p>
          <a:p>
            <a:endParaRPr lang="en-US" dirty="0"/>
          </a:p>
        </p:txBody>
      </p:sp>
    </p:spTree>
    <p:extLst>
      <p:ext uri="{BB962C8B-B14F-4D97-AF65-F5344CB8AC3E}">
        <p14:creationId xmlns:p14="http://schemas.microsoft.com/office/powerpoint/2010/main" val="2236180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TCP stands for Transmission Control Protocol. It’s reliable and connection-oriented.</a:t>
            </a:r>
          </a:p>
          <a:p>
            <a:r>
              <a:rPr lang="en-ID" b="1" dirty="0"/>
              <a:t>Forensic value:</a:t>
            </a:r>
            <a:endParaRPr lang="en-ID" dirty="0"/>
          </a:p>
          <a:p>
            <a:pPr>
              <a:buFont typeface="Arial" panose="020B0604020202020204" pitchFamily="34" charset="0"/>
              <a:buChar char="•"/>
            </a:pPr>
            <a:r>
              <a:rPr lang="en-ID" dirty="0"/>
              <a:t>Sequence and acknowledgment numbers help reconstruct the order of communication.</a:t>
            </a:r>
          </a:p>
          <a:p>
            <a:pPr>
              <a:buFont typeface="Arial" panose="020B0604020202020204" pitchFamily="34" charset="0"/>
              <a:buChar char="•"/>
            </a:pPr>
            <a:r>
              <a:rPr lang="en-ID" dirty="0"/>
              <a:t>TCP flags (SYN, ACK, FIN, RST) reveal connection attempts, session lifetimes, and resets.</a:t>
            </a:r>
          </a:p>
          <a:p>
            <a:pPr>
              <a:buFont typeface="Arial" panose="020B0604020202020204" pitchFamily="34" charset="0"/>
              <a:buChar char="•"/>
            </a:pPr>
            <a:r>
              <a:rPr lang="en-ID" dirty="0"/>
              <a:t>Source and destination ports tell us which services were involved.</a:t>
            </a:r>
          </a:p>
          <a:p>
            <a:r>
              <a:rPr lang="en-ID" b="1" dirty="0"/>
              <a:t>Attack evidence:</a:t>
            </a:r>
            <a:endParaRPr lang="en-ID" dirty="0"/>
          </a:p>
          <a:p>
            <a:pPr>
              <a:buFont typeface="Arial" panose="020B0604020202020204" pitchFamily="34" charset="0"/>
              <a:buChar char="•"/>
            </a:pPr>
            <a:r>
              <a:rPr lang="en-ID" dirty="0"/>
              <a:t>SYN floods in denial-of-service attacks.</a:t>
            </a:r>
          </a:p>
          <a:p>
            <a:pPr>
              <a:buFont typeface="Arial" panose="020B0604020202020204" pitchFamily="34" charset="0"/>
              <a:buChar char="•"/>
            </a:pPr>
            <a:r>
              <a:rPr lang="en-ID" dirty="0"/>
              <a:t>Abnormal resets, which sometimes indicate attackers trying to hide or cut sessions abruptly.</a:t>
            </a:r>
          </a:p>
          <a:p>
            <a:r>
              <a:rPr lang="en-ID" dirty="0"/>
              <a:t>So when we see an unusual flood of SYN packets in Wireshark, it’s not just random — it might be evidence of a DoS attack.</a:t>
            </a:r>
          </a:p>
          <a:p>
            <a:endParaRPr lang="en-US" dirty="0"/>
          </a:p>
        </p:txBody>
      </p:sp>
    </p:spTree>
    <p:extLst>
      <p:ext uri="{BB962C8B-B14F-4D97-AF65-F5344CB8AC3E}">
        <p14:creationId xmlns:p14="http://schemas.microsoft.com/office/powerpoint/2010/main" val="2191936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UDP, or User Datagram Protocol, is different: it’s fast, connectionless, and doesn’t guarantee delivery.</a:t>
            </a:r>
          </a:p>
          <a:p>
            <a:r>
              <a:rPr lang="en-ID" b="1" dirty="0"/>
              <a:t>Forensic value:</a:t>
            </a:r>
            <a:endParaRPr lang="en-ID" dirty="0"/>
          </a:p>
          <a:p>
            <a:pPr>
              <a:buFont typeface="Arial" panose="020B0604020202020204" pitchFamily="34" charset="0"/>
              <a:buChar char="•"/>
            </a:pPr>
            <a:r>
              <a:rPr lang="en-ID" dirty="0"/>
              <a:t>No handshake means it’s easier for attackers to spoof packets.</a:t>
            </a:r>
          </a:p>
          <a:p>
            <a:pPr>
              <a:buFont typeface="Arial" panose="020B0604020202020204" pitchFamily="34" charset="0"/>
              <a:buChar char="•"/>
            </a:pPr>
            <a:r>
              <a:rPr lang="en-ID" dirty="0"/>
              <a:t>Often used in DNS, VoIP, and streaming.</a:t>
            </a:r>
          </a:p>
          <a:p>
            <a:r>
              <a:rPr lang="en-ID" b="1" dirty="0"/>
              <a:t>Attack evidence:</a:t>
            </a:r>
            <a:endParaRPr lang="en-ID" dirty="0"/>
          </a:p>
          <a:p>
            <a:pPr>
              <a:buFont typeface="Arial" panose="020B0604020202020204" pitchFamily="34" charset="0"/>
              <a:buChar char="•"/>
            </a:pPr>
            <a:r>
              <a:rPr lang="en-ID" dirty="0"/>
              <a:t>UDP flood attacks are very common.</a:t>
            </a:r>
          </a:p>
          <a:p>
            <a:pPr>
              <a:buFont typeface="Arial" panose="020B0604020202020204" pitchFamily="34" charset="0"/>
              <a:buChar char="•"/>
            </a:pPr>
            <a:r>
              <a:rPr lang="en-ID" dirty="0"/>
              <a:t>Malware sometimes uses UDP to send covert traffic since it’s less monitored.”</a:t>
            </a:r>
          </a:p>
          <a:p>
            <a:endParaRPr lang="en-US" dirty="0"/>
          </a:p>
        </p:txBody>
      </p:sp>
    </p:spTree>
    <p:extLst>
      <p:ext uri="{BB962C8B-B14F-4D97-AF65-F5344CB8AC3E}">
        <p14:creationId xmlns:p14="http://schemas.microsoft.com/office/powerpoint/2010/main" val="2228480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ICMP, Internet Control Message Protocol, is usually for diagnostics like ping or traceroute.</a:t>
            </a:r>
          </a:p>
          <a:p>
            <a:r>
              <a:rPr lang="en-ID" b="1" dirty="0"/>
              <a:t>Forensic value:</a:t>
            </a:r>
            <a:endParaRPr lang="en-ID" dirty="0"/>
          </a:p>
          <a:p>
            <a:pPr>
              <a:buFont typeface="Arial" panose="020B0604020202020204" pitchFamily="34" charset="0"/>
              <a:buChar char="•"/>
            </a:pPr>
            <a:r>
              <a:rPr lang="en-ID" dirty="0"/>
              <a:t>ICMP Echo Requests and Replies show if someone scanned your network.</a:t>
            </a:r>
          </a:p>
          <a:p>
            <a:pPr>
              <a:buFont typeface="Arial" panose="020B0604020202020204" pitchFamily="34" charset="0"/>
              <a:buChar char="•"/>
            </a:pPr>
            <a:r>
              <a:rPr lang="en-ID" dirty="0"/>
              <a:t>Destination Unreachable messages indicate routing or firewall </a:t>
            </a:r>
            <a:r>
              <a:rPr lang="en-ID" dirty="0" err="1"/>
              <a:t>behavior</a:t>
            </a:r>
            <a:r>
              <a:rPr lang="en-ID" dirty="0"/>
              <a:t>.</a:t>
            </a:r>
          </a:p>
          <a:p>
            <a:r>
              <a:rPr lang="en-ID" b="1" dirty="0"/>
              <a:t>Attack evidence:</a:t>
            </a:r>
            <a:endParaRPr lang="en-ID" dirty="0"/>
          </a:p>
          <a:p>
            <a:pPr>
              <a:buFont typeface="Arial" panose="020B0604020202020204" pitchFamily="34" charset="0"/>
              <a:buChar char="•"/>
            </a:pPr>
            <a:r>
              <a:rPr lang="en-ID" dirty="0"/>
              <a:t>ICMP </a:t>
            </a:r>
            <a:r>
              <a:rPr lang="en-ID" dirty="0" err="1"/>
              <a:t>tunneling</a:t>
            </a:r>
            <a:r>
              <a:rPr lang="en-ID" dirty="0"/>
              <a:t>, where attackers sneak data out through ping packets.</a:t>
            </a:r>
          </a:p>
          <a:p>
            <a:pPr>
              <a:buFont typeface="Arial" panose="020B0604020202020204" pitchFamily="34" charset="0"/>
              <a:buChar char="•"/>
            </a:pPr>
            <a:r>
              <a:rPr lang="en-ID" dirty="0"/>
              <a:t>Ping floods in denial-of-service.</a:t>
            </a:r>
          </a:p>
          <a:p>
            <a:r>
              <a:rPr lang="en-ID" dirty="0"/>
              <a:t>If you see a workstation pinging hundreds of IP addresses rapidly, that’s a red flag for reconnaissance.”</a:t>
            </a:r>
          </a:p>
          <a:p>
            <a:endParaRPr lang="en-US" dirty="0"/>
          </a:p>
        </p:txBody>
      </p:sp>
    </p:spTree>
    <p:extLst>
      <p:ext uri="{BB962C8B-B14F-4D97-AF65-F5344CB8AC3E}">
        <p14:creationId xmlns:p14="http://schemas.microsoft.com/office/powerpoint/2010/main" val="2495809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DNS is the phonebook of the internet, translating domain names to IP addresses.</a:t>
            </a:r>
          </a:p>
          <a:p>
            <a:r>
              <a:rPr lang="en-ID" b="1" dirty="0"/>
              <a:t>Forensic value:</a:t>
            </a:r>
            <a:endParaRPr lang="en-ID" dirty="0"/>
          </a:p>
          <a:p>
            <a:pPr>
              <a:buFont typeface="Arial" panose="020B0604020202020204" pitchFamily="34" charset="0"/>
              <a:buChar char="•"/>
            </a:pPr>
            <a:r>
              <a:rPr lang="en-ID" dirty="0"/>
              <a:t>DNS queries and responses show where a system tried to connect.</a:t>
            </a:r>
          </a:p>
          <a:p>
            <a:pPr>
              <a:buFont typeface="Arial" panose="020B0604020202020204" pitchFamily="34" charset="0"/>
              <a:buChar char="•"/>
            </a:pPr>
            <a:r>
              <a:rPr lang="en-ID" dirty="0"/>
              <a:t>NXDOMAIN errors can indicate malware generating fake domains.</a:t>
            </a:r>
          </a:p>
          <a:p>
            <a:pPr>
              <a:buFont typeface="Arial" panose="020B0604020202020204" pitchFamily="34" charset="0"/>
              <a:buChar char="•"/>
            </a:pPr>
            <a:r>
              <a:rPr lang="en-ID" dirty="0"/>
              <a:t>TXT records, meant for email security, can sometimes be abused by attackers.</a:t>
            </a:r>
          </a:p>
          <a:p>
            <a:r>
              <a:rPr lang="en-ID" b="1" dirty="0"/>
              <a:t>Attack evidence:</a:t>
            </a:r>
            <a:endParaRPr lang="en-ID" dirty="0"/>
          </a:p>
          <a:p>
            <a:pPr>
              <a:buFont typeface="Arial" panose="020B0604020202020204" pitchFamily="34" charset="0"/>
              <a:buChar char="•"/>
            </a:pPr>
            <a:r>
              <a:rPr lang="en-ID" dirty="0"/>
              <a:t>Fast-flux DNS, where attackers rotate IP addresses to avoid detection.</a:t>
            </a:r>
          </a:p>
          <a:p>
            <a:pPr>
              <a:buFont typeface="Arial" panose="020B0604020202020204" pitchFamily="34" charset="0"/>
              <a:buChar char="•"/>
            </a:pPr>
            <a:r>
              <a:rPr lang="en-ID" dirty="0"/>
              <a:t>DNS </a:t>
            </a:r>
            <a:r>
              <a:rPr lang="en-ID" dirty="0" err="1"/>
              <a:t>tunneling</a:t>
            </a:r>
            <a:r>
              <a:rPr lang="en-ID" dirty="0"/>
              <a:t>, where commands or data are hidden inside DNS queries.</a:t>
            </a:r>
          </a:p>
          <a:p>
            <a:r>
              <a:rPr lang="en-ID" dirty="0"/>
              <a:t>This is why DNS logs are gold for investigators.</a:t>
            </a:r>
          </a:p>
          <a:p>
            <a:endParaRPr lang="en-US" dirty="0"/>
          </a:p>
        </p:txBody>
      </p:sp>
    </p:spTree>
    <p:extLst>
      <p:ext uri="{BB962C8B-B14F-4D97-AF65-F5344CB8AC3E}">
        <p14:creationId xmlns:p14="http://schemas.microsoft.com/office/powerpoint/2010/main" val="66849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HTTP runs most of the web.</a:t>
            </a:r>
          </a:p>
          <a:p>
            <a:r>
              <a:rPr lang="en-ID" b="1" dirty="0"/>
              <a:t>Forensic value:</a:t>
            </a:r>
            <a:endParaRPr lang="en-ID" dirty="0"/>
          </a:p>
          <a:p>
            <a:pPr>
              <a:buFont typeface="Arial" panose="020B0604020202020204" pitchFamily="34" charset="0"/>
              <a:buChar char="•"/>
            </a:pPr>
            <a:r>
              <a:rPr lang="en-ID" dirty="0"/>
              <a:t>URLs, headers, cookies — all can reveal user </a:t>
            </a:r>
            <a:r>
              <a:rPr lang="en-ID" dirty="0" err="1"/>
              <a:t>behavior</a:t>
            </a:r>
            <a:r>
              <a:rPr lang="en-ID" dirty="0"/>
              <a:t> or malware downloads.</a:t>
            </a:r>
          </a:p>
          <a:p>
            <a:pPr>
              <a:buFont typeface="Arial" panose="020B0604020202020204" pitchFamily="34" charset="0"/>
              <a:buChar char="•"/>
            </a:pPr>
            <a:r>
              <a:rPr lang="en-ID" dirty="0"/>
              <a:t>User-Agent strings can tell us if traffic came from a normal browser or malware pretending to be one.</a:t>
            </a:r>
          </a:p>
          <a:p>
            <a:r>
              <a:rPr lang="en-ID" b="1" dirty="0"/>
              <a:t>Attack evidence:</a:t>
            </a:r>
            <a:endParaRPr lang="en-ID" dirty="0"/>
          </a:p>
          <a:p>
            <a:pPr>
              <a:buFont typeface="Arial" panose="020B0604020202020204" pitchFamily="34" charset="0"/>
              <a:buChar char="•"/>
            </a:pPr>
            <a:r>
              <a:rPr lang="en-ID" dirty="0"/>
              <a:t>Phishing sites hosted on HTTP.</a:t>
            </a:r>
          </a:p>
          <a:p>
            <a:pPr>
              <a:buFont typeface="Arial" panose="020B0604020202020204" pitchFamily="34" charset="0"/>
              <a:buChar char="•"/>
            </a:pPr>
            <a:r>
              <a:rPr lang="en-ID" dirty="0"/>
              <a:t>Command-and-control servers communicating via HTTP/S.</a:t>
            </a:r>
          </a:p>
          <a:p>
            <a:pPr>
              <a:buFont typeface="Arial" panose="020B0604020202020204" pitchFamily="34" charset="0"/>
              <a:buChar char="•"/>
            </a:pPr>
            <a:r>
              <a:rPr lang="en-ID" dirty="0"/>
              <a:t>SQL injection attempts visible in HTTP requests.”</a:t>
            </a:r>
          </a:p>
          <a:p>
            <a:endParaRPr lang="en-US" dirty="0"/>
          </a:p>
        </p:txBody>
      </p:sp>
    </p:spTree>
    <p:extLst>
      <p:ext uri="{BB962C8B-B14F-4D97-AF65-F5344CB8AC3E}">
        <p14:creationId xmlns:p14="http://schemas.microsoft.com/office/powerpoint/2010/main" val="2915521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SMTP is the protocol for sending email.</a:t>
            </a:r>
          </a:p>
          <a:p>
            <a:r>
              <a:rPr lang="en-ID" b="1" dirty="0"/>
              <a:t>Forensic value:</a:t>
            </a:r>
            <a:endParaRPr lang="en-ID" dirty="0"/>
          </a:p>
          <a:p>
            <a:pPr>
              <a:buFont typeface="Arial" panose="020B0604020202020204" pitchFamily="34" charset="0"/>
              <a:buChar char="•"/>
            </a:pPr>
            <a:r>
              <a:rPr lang="en-ID" dirty="0"/>
              <a:t>Email headers show sender, recipient, and the mail servers involved.</a:t>
            </a:r>
          </a:p>
          <a:p>
            <a:pPr>
              <a:buFont typeface="Arial" panose="020B0604020202020204" pitchFamily="34" charset="0"/>
              <a:buChar char="•"/>
            </a:pPr>
            <a:r>
              <a:rPr lang="en-ID" dirty="0"/>
              <a:t>Timestamps help build a timeline.</a:t>
            </a:r>
          </a:p>
          <a:p>
            <a:r>
              <a:rPr lang="en-ID" b="1" dirty="0"/>
              <a:t>Attack evidence:</a:t>
            </a:r>
            <a:endParaRPr lang="en-ID" dirty="0"/>
          </a:p>
          <a:p>
            <a:pPr>
              <a:buFont typeface="Arial" panose="020B0604020202020204" pitchFamily="34" charset="0"/>
              <a:buChar char="•"/>
            </a:pPr>
            <a:r>
              <a:rPr lang="en-ID" dirty="0"/>
              <a:t>Phishing campaigns sent via SMTP.</a:t>
            </a:r>
          </a:p>
          <a:p>
            <a:pPr>
              <a:buFont typeface="Arial" panose="020B0604020202020204" pitchFamily="34" charset="0"/>
              <a:buChar char="•"/>
            </a:pPr>
            <a:r>
              <a:rPr lang="en-ID" dirty="0"/>
              <a:t>Spoofed addresses that investigators can check against SPF or DKIM records.</a:t>
            </a:r>
          </a:p>
          <a:p>
            <a:endParaRPr lang="en-US" dirty="0"/>
          </a:p>
        </p:txBody>
      </p:sp>
    </p:spTree>
    <p:extLst>
      <p:ext uri="{BB962C8B-B14F-4D97-AF65-F5344CB8AC3E}">
        <p14:creationId xmlns:p14="http://schemas.microsoft.com/office/powerpoint/2010/main" val="3992103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FTP is one of the oldest protocols, used for file transfer.</a:t>
            </a:r>
          </a:p>
          <a:p>
            <a:r>
              <a:rPr lang="en-ID" b="1" dirty="0"/>
              <a:t>Forensic value:</a:t>
            </a:r>
            <a:endParaRPr lang="en-ID" dirty="0"/>
          </a:p>
          <a:p>
            <a:pPr>
              <a:buFont typeface="Arial" panose="020B0604020202020204" pitchFamily="34" charset="0"/>
              <a:buChar char="•"/>
            </a:pPr>
            <a:r>
              <a:rPr lang="en-ID" dirty="0"/>
              <a:t>Credentials are often sent in cleartext.</a:t>
            </a:r>
          </a:p>
          <a:p>
            <a:pPr>
              <a:buFont typeface="Arial" panose="020B0604020202020204" pitchFamily="34" charset="0"/>
              <a:buChar char="•"/>
            </a:pPr>
            <a:r>
              <a:rPr lang="en-ID" dirty="0"/>
              <a:t>Logs show filenames uploaded or downloaded.</a:t>
            </a:r>
          </a:p>
          <a:p>
            <a:r>
              <a:rPr lang="en-ID" b="1" dirty="0"/>
              <a:t>Attack evidence:</a:t>
            </a:r>
            <a:endParaRPr lang="en-ID" dirty="0"/>
          </a:p>
          <a:p>
            <a:pPr>
              <a:buFont typeface="Arial" panose="020B0604020202020204" pitchFamily="34" charset="0"/>
              <a:buChar char="•"/>
            </a:pPr>
            <a:r>
              <a:rPr lang="en-ID" dirty="0"/>
              <a:t>Attackers stealing data via FTP servers.</a:t>
            </a:r>
          </a:p>
          <a:p>
            <a:pPr>
              <a:buFont typeface="Arial" panose="020B0604020202020204" pitchFamily="34" charset="0"/>
              <a:buChar char="•"/>
            </a:pPr>
            <a:r>
              <a:rPr lang="en-ID" dirty="0"/>
              <a:t>Malicious uploads to compromised FTP accounts.</a:t>
            </a:r>
          </a:p>
          <a:p>
            <a:endParaRPr lang="en-US" dirty="0"/>
          </a:p>
        </p:txBody>
      </p:sp>
    </p:spTree>
    <p:extLst>
      <p:ext uri="{BB962C8B-B14F-4D97-AF65-F5344CB8AC3E}">
        <p14:creationId xmlns:p14="http://schemas.microsoft.com/office/powerpoint/2010/main" val="2611977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SSH is for secure remote login.</a:t>
            </a:r>
          </a:p>
          <a:p>
            <a:r>
              <a:rPr lang="en-ID" b="1" dirty="0"/>
              <a:t>Forensic value:</a:t>
            </a:r>
            <a:endParaRPr lang="en-ID" dirty="0"/>
          </a:p>
          <a:p>
            <a:pPr>
              <a:buFont typeface="Arial" panose="020B0604020202020204" pitchFamily="34" charset="0"/>
              <a:buChar char="•"/>
            </a:pPr>
            <a:r>
              <a:rPr lang="en-ID" dirty="0"/>
              <a:t>Logs record authentication attempts, both successful and failed.</a:t>
            </a:r>
          </a:p>
          <a:p>
            <a:pPr>
              <a:buFont typeface="Arial" panose="020B0604020202020204" pitchFamily="34" charset="0"/>
              <a:buChar char="•"/>
            </a:pPr>
            <a:r>
              <a:rPr lang="en-ID" dirty="0"/>
              <a:t>Metadata (IP, time, key type) is available even if the content is encrypted.</a:t>
            </a:r>
          </a:p>
          <a:p>
            <a:r>
              <a:rPr lang="en-ID" b="1" dirty="0"/>
              <a:t>Attack evidence:</a:t>
            </a:r>
            <a:endParaRPr lang="en-ID" dirty="0"/>
          </a:p>
          <a:p>
            <a:pPr>
              <a:buFont typeface="Arial" panose="020B0604020202020204" pitchFamily="34" charset="0"/>
              <a:buChar char="•"/>
            </a:pPr>
            <a:r>
              <a:rPr lang="en-ID" dirty="0"/>
              <a:t>Brute-force attempts against SSH services.</a:t>
            </a:r>
          </a:p>
          <a:p>
            <a:pPr>
              <a:buFont typeface="Arial" panose="020B0604020202020204" pitchFamily="34" charset="0"/>
              <a:buChar char="•"/>
            </a:pPr>
            <a:r>
              <a:rPr lang="en-ID" dirty="0" err="1"/>
              <a:t>Tunneling</a:t>
            </a:r>
            <a:r>
              <a:rPr lang="en-ID" dirty="0"/>
              <a:t> other traffic through SSH to bypass firewalls.</a:t>
            </a:r>
          </a:p>
          <a:p>
            <a:endParaRPr lang="en-US" dirty="0"/>
          </a:p>
        </p:txBody>
      </p:sp>
    </p:spTree>
    <p:extLst>
      <p:ext uri="{BB962C8B-B14F-4D97-AF65-F5344CB8AC3E}">
        <p14:creationId xmlns:p14="http://schemas.microsoft.com/office/powerpoint/2010/main" val="662849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Let’s see how multiple protocols matter.</a:t>
            </a:r>
          </a:p>
          <a:p>
            <a:r>
              <a:rPr lang="en-ID" dirty="0"/>
              <a:t>The </a:t>
            </a:r>
            <a:r>
              <a:rPr lang="en-ID" b="1" dirty="0"/>
              <a:t>Stuxnet worm</a:t>
            </a:r>
            <a:r>
              <a:rPr lang="en-ID" dirty="0"/>
              <a:t> in 2010 used:</a:t>
            </a:r>
          </a:p>
          <a:p>
            <a:pPr>
              <a:buFont typeface="Arial" panose="020B0604020202020204" pitchFamily="34" charset="0"/>
              <a:buChar char="•"/>
            </a:pPr>
            <a:r>
              <a:rPr lang="en-ID" b="1" dirty="0"/>
              <a:t>RPC (over TCP)</a:t>
            </a:r>
            <a:r>
              <a:rPr lang="en-ID" dirty="0"/>
              <a:t> to spread laterally.</a:t>
            </a:r>
          </a:p>
          <a:p>
            <a:pPr>
              <a:buFont typeface="Arial" panose="020B0604020202020204" pitchFamily="34" charset="0"/>
              <a:buChar char="•"/>
            </a:pPr>
            <a:r>
              <a:rPr lang="en-ID" b="1" dirty="0"/>
              <a:t>HTTP</a:t>
            </a:r>
            <a:r>
              <a:rPr lang="en-ID" dirty="0"/>
              <a:t> to download updates from command-and-control servers.</a:t>
            </a:r>
          </a:p>
          <a:p>
            <a:pPr>
              <a:buFont typeface="Arial" panose="020B0604020202020204" pitchFamily="34" charset="0"/>
              <a:buChar char="•"/>
            </a:pPr>
            <a:r>
              <a:rPr lang="en-ID" b="1" dirty="0"/>
              <a:t>DNS</a:t>
            </a:r>
            <a:r>
              <a:rPr lang="en-ID" dirty="0"/>
              <a:t> to resolve those C2 domains.</a:t>
            </a:r>
          </a:p>
          <a:p>
            <a:r>
              <a:rPr lang="en-ID" dirty="0"/>
              <a:t>Investigators only understood Stuxnet by correlating all these protocols together. If they had looked at just one, the full picture would be hidden.”</a:t>
            </a:r>
          </a:p>
          <a:p>
            <a:endParaRPr lang="en-US" dirty="0"/>
          </a:p>
        </p:txBody>
      </p:sp>
    </p:spTree>
    <p:extLst>
      <p:ext uri="{BB962C8B-B14F-4D97-AF65-F5344CB8AC3E}">
        <p14:creationId xmlns:p14="http://schemas.microsoft.com/office/powerpoint/2010/main" val="171284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Here’s a more general attack chain:</a:t>
            </a:r>
          </a:p>
          <a:p>
            <a:pPr>
              <a:buFont typeface="Arial" panose="020B0604020202020204" pitchFamily="34" charset="0"/>
              <a:buChar char="•"/>
            </a:pPr>
            <a:r>
              <a:rPr lang="en-ID" b="1" dirty="0"/>
              <a:t>SMTP</a:t>
            </a:r>
            <a:r>
              <a:rPr lang="en-ID" dirty="0"/>
              <a:t>: malware arrives as an email attachment.</a:t>
            </a:r>
          </a:p>
          <a:p>
            <a:pPr>
              <a:buFont typeface="Arial" panose="020B0604020202020204" pitchFamily="34" charset="0"/>
              <a:buChar char="•"/>
            </a:pPr>
            <a:r>
              <a:rPr lang="en-ID" b="1" dirty="0"/>
              <a:t>DNS</a:t>
            </a:r>
            <a:r>
              <a:rPr lang="en-ID" dirty="0"/>
              <a:t>: malware queries a command-and-control domain.</a:t>
            </a:r>
          </a:p>
          <a:p>
            <a:pPr>
              <a:buFont typeface="Arial" panose="020B0604020202020204" pitchFamily="34" charset="0"/>
              <a:buChar char="•"/>
            </a:pPr>
            <a:r>
              <a:rPr lang="en-ID" b="1" dirty="0"/>
              <a:t>HTTP</a:t>
            </a:r>
            <a:r>
              <a:rPr lang="en-ID" dirty="0"/>
              <a:t>: it downloads more payloads.</a:t>
            </a:r>
          </a:p>
          <a:p>
            <a:pPr>
              <a:buFont typeface="Arial" panose="020B0604020202020204" pitchFamily="34" charset="0"/>
              <a:buChar char="•"/>
            </a:pPr>
            <a:r>
              <a:rPr lang="en-ID" b="1" dirty="0"/>
              <a:t>TCP/UDP</a:t>
            </a:r>
            <a:r>
              <a:rPr lang="en-ID" dirty="0"/>
              <a:t>: it spreads internally.</a:t>
            </a:r>
          </a:p>
          <a:p>
            <a:r>
              <a:rPr lang="en-ID" dirty="0"/>
              <a:t>By correlating these protocols, we can tell the story of the attack, from delivery to spread.”</a:t>
            </a:r>
          </a:p>
          <a:p>
            <a:endParaRPr lang="en-US" dirty="0"/>
          </a:p>
        </p:txBody>
      </p:sp>
    </p:spTree>
    <p:extLst>
      <p:ext uri="{BB962C8B-B14F-4D97-AF65-F5344CB8AC3E}">
        <p14:creationId xmlns:p14="http://schemas.microsoft.com/office/powerpoint/2010/main" val="2514120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 summarize:</a:t>
            </a:r>
          </a:p>
          <a:p>
            <a:pPr>
              <a:buFont typeface="Arial" panose="020B0604020202020204" pitchFamily="34" charset="0"/>
              <a:buChar char="•"/>
            </a:pPr>
            <a:r>
              <a:rPr lang="en-ID" dirty="0"/>
              <a:t>Every protocol can provide forensic artifacts.</a:t>
            </a:r>
          </a:p>
          <a:p>
            <a:pPr>
              <a:buFont typeface="Arial" panose="020B0604020202020204" pitchFamily="34" charset="0"/>
              <a:buChar char="•"/>
            </a:pPr>
            <a:r>
              <a:rPr lang="en-ID" dirty="0"/>
              <a:t>TCP/UDP show transport details.</a:t>
            </a:r>
          </a:p>
          <a:p>
            <a:pPr>
              <a:buFont typeface="Arial" panose="020B0604020202020204" pitchFamily="34" charset="0"/>
              <a:buChar char="•"/>
            </a:pPr>
            <a:r>
              <a:rPr lang="en-ID" dirty="0"/>
              <a:t>ICMP/DNS can reveal reconnaissance and </a:t>
            </a:r>
            <a:r>
              <a:rPr lang="en-ID" dirty="0" err="1"/>
              <a:t>tunneling</a:t>
            </a:r>
            <a:r>
              <a:rPr lang="en-ID" dirty="0"/>
              <a:t>.</a:t>
            </a:r>
          </a:p>
          <a:p>
            <a:pPr>
              <a:buFont typeface="Arial" panose="020B0604020202020204" pitchFamily="34" charset="0"/>
              <a:buChar char="•"/>
            </a:pPr>
            <a:r>
              <a:rPr lang="en-ID" dirty="0"/>
              <a:t>HTTP/SMTP/FTP/SSH often carry the actual attacks.</a:t>
            </a:r>
          </a:p>
          <a:p>
            <a:pPr>
              <a:buFont typeface="Arial" panose="020B0604020202020204" pitchFamily="34" charset="0"/>
              <a:buChar char="•"/>
            </a:pPr>
            <a:r>
              <a:rPr lang="en-ID" dirty="0"/>
              <a:t>Correlation across protocols is key to building a timeline.”</a:t>
            </a:r>
          </a:p>
          <a:p>
            <a:endParaRPr lang="en-US" dirty="0"/>
          </a:p>
        </p:txBody>
      </p:sp>
    </p:spTree>
    <p:extLst>
      <p:ext uri="{BB962C8B-B14F-4D97-AF65-F5344CB8AC3E}">
        <p14:creationId xmlns:p14="http://schemas.microsoft.com/office/powerpoint/2010/main" val="3085455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Now let’s discuss:</a:t>
            </a:r>
            <a:br>
              <a:rPr lang="en-ID" dirty="0"/>
            </a:br>
            <a:r>
              <a:rPr lang="en-ID" i="1" dirty="0"/>
              <a:t>If you were investigating a malware infection, which protocol would you check first, and why?</a:t>
            </a:r>
            <a:endParaRPr lang="en-ID" dirty="0"/>
          </a:p>
          <a:p>
            <a:r>
              <a:rPr lang="en-ID" dirty="0"/>
              <a:t>Some students might say DNS, because it shows where malware connects. Others might say HTTP, to check for malicious downloads. Or SMTP, if the infection came via phishing.</a:t>
            </a:r>
          </a:p>
          <a:p>
            <a:r>
              <a:rPr lang="en-ID" dirty="0"/>
              <a:t>There’s no single answer — what matters is you understand how to prioritize based on the case.”</a:t>
            </a:r>
          </a:p>
          <a:p>
            <a:endParaRPr lang="en-US" dirty="0"/>
          </a:p>
        </p:txBody>
      </p:sp>
    </p:spTree>
    <p:extLst>
      <p:ext uri="{BB962C8B-B14F-4D97-AF65-F5344CB8AC3E}">
        <p14:creationId xmlns:p14="http://schemas.microsoft.com/office/powerpoint/2010/main" val="21197461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Aptos" panose="020B0004020202020204" pitchFamily="34"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Aptos" panose="020B0004020202020204" pitchFamily="34"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atin typeface="Aptos" panose="020B0004020202020204" pitchFamily="34" charset="0"/>
              </a:defRPr>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4000" b="0" i="0" u="none" strike="noStrike" cap="none"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004301" cy="3579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latin typeface="Aptos" panose="020B0004020202020204" pitchFamily="34" charset="0"/>
              </a:rPr>
              <a:t>SUBJECT MATTER EXPERT</a:t>
            </a:r>
            <a:endParaRPr sz="2800" b="1" dirty="0">
              <a:latin typeface="Aptos" panose="020B0004020202020204" pitchFamily="34" charset="0"/>
            </a:endParaRPr>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D645C5F-9B49-0817-CC1A-84282EE4AA25}"/>
              </a:ext>
            </a:extLst>
          </p:cNvPr>
          <p:cNvSpPr>
            <a:spLocks noGrp="1"/>
          </p:cNvSpPr>
          <p:nvPr>
            <p:ph type="title"/>
          </p:nvPr>
        </p:nvSpPr>
        <p:spPr>
          <a:xfrm>
            <a:off x="1206500" y="475488"/>
            <a:ext cx="19392118" cy="2037175"/>
          </a:xfrm>
        </p:spPr>
        <p:txBody>
          <a:bodyPr anchor="ctr"/>
          <a:lstStyle>
            <a:lvl1pPr>
              <a:lnSpc>
                <a:spcPct val="100000"/>
              </a:lnSpc>
              <a:defRPr b="0">
                <a:latin typeface="Aptos" panose="020B0004020202020204" pitchFamily="34" charset="0"/>
              </a:defRPr>
            </a:lvl1pPr>
          </a:lstStyle>
          <a:p>
            <a:r>
              <a:rPr lang="en-US" dirty="0"/>
              <a:t>Click to edit Master title style</a:t>
            </a:r>
          </a:p>
        </p:txBody>
      </p:sp>
      <p:sp>
        <p:nvSpPr>
          <p:cNvPr id="19" name="Content Placeholder 2">
            <a:extLst>
              <a:ext uri="{FF2B5EF4-FFF2-40B4-BE49-F238E27FC236}">
                <a16:creationId xmlns:a16="http://schemas.microsoft.com/office/drawing/2014/main" id="{40B82B85-5AAA-4DD4-23B6-327BBDEF4180}"/>
              </a:ext>
            </a:extLst>
          </p:cNvPr>
          <p:cNvSpPr>
            <a:spLocks noGrp="1"/>
          </p:cNvSpPr>
          <p:nvPr>
            <p:ph idx="1"/>
          </p:nvPr>
        </p:nvSpPr>
        <p:spPr>
          <a:xfrm>
            <a:off x="1206500" y="2779776"/>
            <a:ext cx="21971000" cy="10460736"/>
          </a:xfrm>
        </p:spPr>
        <p:txBody>
          <a:bodyPr/>
          <a:lstStyle>
            <a:lvl1pPr>
              <a:lnSpc>
                <a:spcPct val="150000"/>
              </a:lnSpc>
              <a:spcBef>
                <a:spcPts val="0"/>
              </a:spcBef>
              <a:defRPr>
                <a:latin typeface="Aptos" panose="020B0004020202020204" pitchFamily="34" charset="0"/>
              </a:defRPr>
            </a:lvl1pPr>
            <a:lvl2pPr>
              <a:lnSpc>
                <a:spcPct val="150000"/>
              </a:lnSpc>
              <a:spcBef>
                <a:spcPts val="0"/>
              </a:spcBef>
              <a:defRPr>
                <a:latin typeface="Aptos" panose="020B0004020202020204" pitchFamily="34" charset="0"/>
              </a:defRPr>
            </a:lvl2pPr>
            <a:lvl3pPr>
              <a:lnSpc>
                <a:spcPct val="150000"/>
              </a:lnSpc>
              <a:spcBef>
                <a:spcPts val="0"/>
              </a:spcBef>
              <a:defRPr>
                <a:latin typeface="Aptos" panose="020B0004020202020204" pitchFamily="34" charset="0"/>
              </a:defRPr>
            </a:lvl3pPr>
            <a:lvl4pPr>
              <a:lnSpc>
                <a:spcPct val="150000"/>
              </a:lnSpc>
              <a:spcBef>
                <a:spcPts val="0"/>
              </a:spcBef>
              <a:defRPr>
                <a:latin typeface="Aptos" panose="020B0004020202020204" pitchFamily="34" charset="0"/>
              </a:defRPr>
            </a:lvl4pPr>
            <a:lvl5pPr>
              <a:lnSpc>
                <a:spcPct val="150000"/>
              </a:lnSpc>
              <a:spcBef>
                <a:spcPts val="0"/>
              </a:spcBef>
              <a:defRPr>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AutoShape 2">
            <a:extLst>
              <a:ext uri="{FF2B5EF4-FFF2-40B4-BE49-F238E27FC236}">
                <a16:creationId xmlns:a16="http://schemas.microsoft.com/office/drawing/2014/main" id="{A79DAF52-7079-D27A-6999-F8755F55C307}"/>
              </a:ext>
            </a:extLst>
          </p:cNvPr>
          <p:cNvSpPr>
            <a:spLocks noChangeAspect="1" noChangeArrowheads="1"/>
          </p:cNvSpPr>
          <p:nvPr userDrawn="1"/>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B84D2750-83A7-0E8A-991D-531C92146EE0}"/>
              </a:ext>
            </a:extLst>
          </p:cNvPr>
          <p:cNvSpPr/>
          <p:nvPr userDrawn="1"/>
        </p:nvSpPr>
        <p:spPr>
          <a:xfrm>
            <a:off x="0" y="13386985"/>
            <a:ext cx="24384000" cy="326827"/>
          </a:xfrm>
          <a:prstGeom prst="rect">
            <a:avLst/>
          </a:prstGeom>
          <a:solidFill>
            <a:srgbClr val="2554A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4" name="Picture 13" descr="A black background with blue text&#10;&#10;Description automatically generated">
            <a:extLst>
              <a:ext uri="{FF2B5EF4-FFF2-40B4-BE49-F238E27FC236}">
                <a16:creationId xmlns:a16="http://schemas.microsoft.com/office/drawing/2014/main" id="{97484277-1919-EC7C-A06C-AB36A5E0C4C2}"/>
              </a:ext>
            </a:extLst>
          </p:cNvPr>
          <p:cNvPicPr>
            <a:picLocks noChangeAspect="1"/>
          </p:cNvPicPr>
          <p:nvPr userDrawn="1"/>
        </p:nvPicPr>
        <p:blipFill>
          <a:blip r:embed="rId2">
            <a:extLst>
              <a:ext uri="{28A0092B-C50C-407E-A947-70E740481C1C}">
                <a14:useLocalDpi xmlns:a14="http://schemas.microsoft.com/office/drawing/2010/main" val="0"/>
              </a:ext>
            </a:extLst>
          </a:blip>
          <a:srcRect r="67194"/>
          <a:stretch/>
        </p:blipFill>
        <p:spPr>
          <a:xfrm>
            <a:off x="21098107" y="676211"/>
            <a:ext cx="2079393" cy="1642606"/>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sz="5400" dirty="0"/>
              <a:t>COMP6348001</a:t>
            </a:r>
          </a:p>
          <a:p>
            <a:r>
              <a:rPr lang="en-US" sz="5400" dirty="0"/>
              <a:t>Network Forensics</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Autofit/>
          </a:bodyPr>
          <a:lstStyle/>
          <a:p>
            <a:pPr>
              <a:lnSpc>
                <a:spcPct val="100000"/>
              </a:lnSpc>
            </a:pPr>
            <a:r>
              <a:rPr lang="en-US" sz="11500" dirty="0"/>
              <a:t>Common Network Protocols in Network Forensics</a:t>
            </a:r>
            <a:endParaRPr lang="en-US" sz="34400"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Dr. Don</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BF5A-0B8E-0DB7-8E73-85F9B439EB55}"/>
              </a:ext>
            </a:extLst>
          </p:cNvPr>
          <p:cNvSpPr>
            <a:spLocks noGrp="1"/>
          </p:cNvSpPr>
          <p:nvPr>
            <p:ph type="title"/>
          </p:nvPr>
        </p:nvSpPr>
        <p:spPr/>
        <p:txBody>
          <a:bodyPr>
            <a:normAutofit/>
          </a:bodyPr>
          <a:lstStyle/>
          <a:p>
            <a:r>
              <a:rPr lang="en-ID" b="0" i="0" u="none" strike="noStrike" dirty="0">
                <a:solidFill>
                  <a:srgbClr val="000000"/>
                </a:solidFill>
                <a:effectLst/>
                <a:latin typeface="-webkit-standard"/>
              </a:rPr>
              <a:t>Learning Objectives</a:t>
            </a:r>
            <a:endParaRPr lang="en-US" dirty="0"/>
          </a:p>
        </p:txBody>
      </p:sp>
      <p:sp>
        <p:nvSpPr>
          <p:cNvPr id="3" name="Content Placeholder 2">
            <a:extLst>
              <a:ext uri="{FF2B5EF4-FFF2-40B4-BE49-F238E27FC236}">
                <a16:creationId xmlns:a16="http://schemas.microsoft.com/office/drawing/2014/main" id="{9EAABDB9-8181-FE10-C3FA-42BE1DE36948}"/>
              </a:ext>
            </a:extLst>
          </p:cNvPr>
          <p:cNvSpPr>
            <a:spLocks noGrp="1"/>
          </p:cNvSpPr>
          <p:nvPr>
            <p:ph idx="1"/>
          </p:nvPr>
        </p:nvSpPr>
        <p:spPr/>
        <p:txBody>
          <a:bodyPr>
            <a:normAutofit/>
          </a:bodyPr>
          <a:lstStyle/>
          <a:p>
            <a:pPr marL="0" indent="0">
              <a:buNone/>
            </a:pPr>
            <a:r>
              <a:rPr lang="en-ID" dirty="0"/>
              <a:t>By the end of this session, you will be able to:</a:t>
            </a:r>
          </a:p>
          <a:p>
            <a:r>
              <a:rPr lang="en-ID" dirty="0"/>
              <a:t>Recognize common network protocols (TCP, UDP, ICMP, DNS, HTTP, SMTP, FTP, SSH)</a:t>
            </a:r>
          </a:p>
          <a:p>
            <a:r>
              <a:rPr lang="en-ID" dirty="0"/>
              <a:t>Explain the forensic value of each protocol</a:t>
            </a:r>
          </a:p>
          <a:p>
            <a:r>
              <a:rPr lang="en-ID" dirty="0"/>
              <a:t>Identify protocol fields that help reconstruct attacker activity</a:t>
            </a:r>
          </a:p>
          <a:p>
            <a:r>
              <a:rPr lang="en-ID" dirty="0"/>
              <a:t>Connect protocol artifacts with real-world investigation scenarios</a:t>
            </a:r>
          </a:p>
        </p:txBody>
      </p:sp>
    </p:spTree>
    <p:extLst>
      <p:ext uri="{BB962C8B-B14F-4D97-AF65-F5344CB8AC3E}">
        <p14:creationId xmlns:p14="http://schemas.microsoft.com/office/powerpoint/2010/main" val="12101298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C7AE-DC07-5C5B-4671-89C2BE51572C}"/>
              </a:ext>
            </a:extLst>
          </p:cNvPr>
          <p:cNvSpPr>
            <a:spLocks noGrp="1"/>
          </p:cNvSpPr>
          <p:nvPr>
            <p:ph type="title"/>
          </p:nvPr>
        </p:nvSpPr>
        <p:spPr/>
        <p:txBody>
          <a:bodyPr/>
          <a:lstStyle/>
          <a:p>
            <a:r>
              <a:rPr lang="en-ID" dirty="0"/>
              <a:t>Why Protocols Matter in Forensics</a:t>
            </a:r>
            <a:endParaRPr lang="en-US" dirty="0"/>
          </a:p>
        </p:txBody>
      </p:sp>
      <p:sp>
        <p:nvSpPr>
          <p:cNvPr id="3" name="Content Placeholder 2">
            <a:extLst>
              <a:ext uri="{FF2B5EF4-FFF2-40B4-BE49-F238E27FC236}">
                <a16:creationId xmlns:a16="http://schemas.microsoft.com/office/drawing/2014/main" id="{6E3AECEF-AFFE-130B-C8C9-D77CAAB86FF6}"/>
              </a:ext>
            </a:extLst>
          </p:cNvPr>
          <p:cNvSpPr>
            <a:spLocks noGrp="1"/>
          </p:cNvSpPr>
          <p:nvPr>
            <p:ph idx="1"/>
          </p:nvPr>
        </p:nvSpPr>
        <p:spPr/>
        <p:txBody>
          <a:bodyPr/>
          <a:lstStyle/>
          <a:p>
            <a:r>
              <a:rPr lang="en-ID" dirty="0"/>
              <a:t>Network communication = evidence trail</a:t>
            </a:r>
          </a:p>
          <a:p>
            <a:r>
              <a:rPr lang="en-ID" dirty="0"/>
              <a:t>Protocols define how data is exchanged → each leaves fingerprints</a:t>
            </a:r>
          </a:p>
          <a:p>
            <a:r>
              <a:rPr lang="en-ID" dirty="0"/>
              <a:t>Investigators must know:</a:t>
            </a:r>
          </a:p>
          <a:p>
            <a:pPr lvl="1"/>
            <a:r>
              <a:rPr lang="en-ID" b="1" dirty="0"/>
              <a:t>What the protocol does</a:t>
            </a:r>
            <a:endParaRPr lang="en-ID" dirty="0"/>
          </a:p>
          <a:p>
            <a:pPr lvl="1"/>
            <a:r>
              <a:rPr lang="en-ID" b="1" dirty="0"/>
              <a:t>Which fields are useful in forensics</a:t>
            </a:r>
            <a:endParaRPr lang="en-ID" dirty="0"/>
          </a:p>
          <a:p>
            <a:pPr lvl="1"/>
            <a:r>
              <a:rPr lang="en-ID" b="1" dirty="0"/>
              <a:t>How attackers abuse it</a:t>
            </a:r>
            <a:endParaRPr lang="en-ID" dirty="0"/>
          </a:p>
          <a:p>
            <a:endParaRPr lang="en-US" dirty="0"/>
          </a:p>
        </p:txBody>
      </p:sp>
    </p:spTree>
    <p:extLst>
      <p:ext uri="{BB962C8B-B14F-4D97-AF65-F5344CB8AC3E}">
        <p14:creationId xmlns:p14="http://schemas.microsoft.com/office/powerpoint/2010/main" val="85572833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BEB1-C37D-17A8-EB4A-A4E013B35709}"/>
              </a:ext>
            </a:extLst>
          </p:cNvPr>
          <p:cNvSpPr>
            <a:spLocks noGrp="1"/>
          </p:cNvSpPr>
          <p:nvPr>
            <p:ph type="title"/>
          </p:nvPr>
        </p:nvSpPr>
        <p:spPr/>
        <p:txBody>
          <a:bodyPr/>
          <a:lstStyle/>
          <a:p>
            <a:r>
              <a:rPr lang="en-ID" dirty="0"/>
              <a:t>TCP/IP Model Refresher</a:t>
            </a:r>
            <a:endParaRPr lang="en-US" dirty="0"/>
          </a:p>
        </p:txBody>
      </p:sp>
      <p:sp>
        <p:nvSpPr>
          <p:cNvPr id="3" name="Content Placeholder 2">
            <a:extLst>
              <a:ext uri="{FF2B5EF4-FFF2-40B4-BE49-F238E27FC236}">
                <a16:creationId xmlns:a16="http://schemas.microsoft.com/office/drawing/2014/main" id="{B1B5E139-FD9E-FDB9-1EB1-2368504B07DA}"/>
              </a:ext>
            </a:extLst>
          </p:cNvPr>
          <p:cNvSpPr>
            <a:spLocks noGrp="1"/>
          </p:cNvSpPr>
          <p:nvPr>
            <p:ph idx="1"/>
          </p:nvPr>
        </p:nvSpPr>
        <p:spPr/>
        <p:txBody>
          <a:bodyPr/>
          <a:lstStyle/>
          <a:p>
            <a:r>
              <a:rPr lang="en-ID" b="1" dirty="0"/>
              <a:t>Application Layer:</a:t>
            </a:r>
            <a:r>
              <a:rPr lang="en-ID" dirty="0"/>
              <a:t> DNS, HTTP, SMTP, FTP, SSH</a:t>
            </a:r>
          </a:p>
          <a:p>
            <a:r>
              <a:rPr lang="en-ID" b="1" dirty="0"/>
              <a:t>Transport Layer:</a:t>
            </a:r>
            <a:r>
              <a:rPr lang="en-ID" dirty="0"/>
              <a:t> TCP, UDP</a:t>
            </a:r>
          </a:p>
          <a:p>
            <a:r>
              <a:rPr lang="en-ID" b="1" dirty="0"/>
              <a:t>Network Layer:</a:t>
            </a:r>
            <a:r>
              <a:rPr lang="en-ID" dirty="0"/>
              <a:t> IP, ICMP</a:t>
            </a:r>
          </a:p>
          <a:p>
            <a:r>
              <a:rPr lang="en-ID" dirty="0"/>
              <a:t>Forensics looks at </a:t>
            </a:r>
            <a:r>
              <a:rPr lang="en-ID" b="1" dirty="0"/>
              <a:t>all layers</a:t>
            </a:r>
            <a:r>
              <a:rPr lang="en-ID" dirty="0"/>
              <a:t> to trace attacker </a:t>
            </a:r>
            <a:r>
              <a:rPr lang="en-ID" dirty="0" err="1"/>
              <a:t>behavior</a:t>
            </a:r>
            <a:endParaRPr lang="en-ID" dirty="0"/>
          </a:p>
          <a:p>
            <a:endParaRPr lang="en-US" dirty="0"/>
          </a:p>
        </p:txBody>
      </p:sp>
    </p:spTree>
    <p:extLst>
      <p:ext uri="{BB962C8B-B14F-4D97-AF65-F5344CB8AC3E}">
        <p14:creationId xmlns:p14="http://schemas.microsoft.com/office/powerpoint/2010/main" val="366306521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7BE8-F352-C73B-69A7-1EB01B4249D7}"/>
              </a:ext>
            </a:extLst>
          </p:cNvPr>
          <p:cNvSpPr>
            <a:spLocks noGrp="1"/>
          </p:cNvSpPr>
          <p:nvPr>
            <p:ph type="title"/>
          </p:nvPr>
        </p:nvSpPr>
        <p:spPr/>
        <p:txBody>
          <a:bodyPr/>
          <a:lstStyle/>
          <a:p>
            <a:r>
              <a:rPr lang="en-ID" dirty="0"/>
              <a:t>TCP (Transmission Control Protocol)</a:t>
            </a:r>
            <a:endParaRPr lang="en-US" dirty="0"/>
          </a:p>
        </p:txBody>
      </p:sp>
      <p:sp>
        <p:nvSpPr>
          <p:cNvPr id="3" name="Content Placeholder 2">
            <a:extLst>
              <a:ext uri="{FF2B5EF4-FFF2-40B4-BE49-F238E27FC236}">
                <a16:creationId xmlns:a16="http://schemas.microsoft.com/office/drawing/2014/main" id="{403E5920-61FF-15C8-999E-D397A68D0196}"/>
              </a:ext>
            </a:extLst>
          </p:cNvPr>
          <p:cNvSpPr>
            <a:spLocks noGrp="1"/>
          </p:cNvSpPr>
          <p:nvPr>
            <p:ph idx="1"/>
          </p:nvPr>
        </p:nvSpPr>
        <p:spPr/>
        <p:txBody>
          <a:bodyPr/>
          <a:lstStyle/>
          <a:p>
            <a:r>
              <a:rPr lang="en-ID" b="1" dirty="0"/>
              <a:t>Purpose:</a:t>
            </a:r>
            <a:r>
              <a:rPr lang="en-ID" dirty="0"/>
              <a:t> Reliable, connection-oriented communication</a:t>
            </a:r>
          </a:p>
          <a:p>
            <a:r>
              <a:rPr lang="en-ID" b="1" dirty="0"/>
              <a:t>Forensic Value:</a:t>
            </a:r>
            <a:endParaRPr lang="en-ID" dirty="0"/>
          </a:p>
          <a:p>
            <a:pPr lvl="1"/>
            <a:r>
              <a:rPr lang="en-ID" dirty="0"/>
              <a:t>Sequence &amp; acknowledgment numbers → detect packet loss/replay</a:t>
            </a:r>
          </a:p>
          <a:p>
            <a:pPr lvl="1"/>
            <a:r>
              <a:rPr lang="en-ID" dirty="0"/>
              <a:t>Flags (SYN, ACK, FIN, RST) → session reconstruction</a:t>
            </a:r>
          </a:p>
          <a:p>
            <a:pPr lvl="1"/>
            <a:r>
              <a:rPr lang="en-ID" dirty="0"/>
              <a:t>Source/destination ports → identify services used</a:t>
            </a:r>
          </a:p>
          <a:p>
            <a:r>
              <a:rPr lang="en-ID" b="1" dirty="0"/>
              <a:t>Attack Evidence:</a:t>
            </a:r>
            <a:endParaRPr lang="en-ID" dirty="0"/>
          </a:p>
          <a:p>
            <a:pPr lvl="1"/>
            <a:r>
              <a:rPr lang="en-ID" dirty="0"/>
              <a:t>SYN flood (DoS)</a:t>
            </a:r>
          </a:p>
          <a:p>
            <a:pPr lvl="1"/>
            <a:r>
              <a:rPr lang="en-ID" dirty="0"/>
              <a:t>Abnormal resets → attacker covering tracks</a:t>
            </a:r>
          </a:p>
          <a:p>
            <a:endParaRPr lang="en-US" dirty="0"/>
          </a:p>
        </p:txBody>
      </p:sp>
    </p:spTree>
    <p:extLst>
      <p:ext uri="{BB962C8B-B14F-4D97-AF65-F5344CB8AC3E}">
        <p14:creationId xmlns:p14="http://schemas.microsoft.com/office/powerpoint/2010/main" val="14434478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0DFB-36A3-8243-486E-04E2B6856011}"/>
              </a:ext>
            </a:extLst>
          </p:cNvPr>
          <p:cNvSpPr>
            <a:spLocks noGrp="1"/>
          </p:cNvSpPr>
          <p:nvPr>
            <p:ph type="title"/>
          </p:nvPr>
        </p:nvSpPr>
        <p:spPr/>
        <p:txBody>
          <a:bodyPr/>
          <a:lstStyle/>
          <a:p>
            <a:r>
              <a:rPr lang="en-ID" dirty="0"/>
              <a:t>UDP (User Datagram Protocol)</a:t>
            </a:r>
            <a:endParaRPr lang="en-US" dirty="0"/>
          </a:p>
        </p:txBody>
      </p:sp>
      <p:sp>
        <p:nvSpPr>
          <p:cNvPr id="3" name="Content Placeholder 2">
            <a:extLst>
              <a:ext uri="{FF2B5EF4-FFF2-40B4-BE49-F238E27FC236}">
                <a16:creationId xmlns:a16="http://schemas.microsoft.com/office/drawing/2014/main" id="{2A5E65EC-4824-23CC-5D1A-7CF9871C3D40}"/>
              </a:ext>
            </a:extLst>
          </p:cNvPr>
          <p:cNvSpPr>
            <a:spLocks noGrp="1"/>
          </p:cNvSpPr>
          <p:nvPr>
            <p:ph idx="1"/>
          </p:nvPr>
        </p:nvSpPr>
        <p:spPr/>
        <p:txBody>
          <a:bodyPr/>
          <a:lstStyle/>
          <a:p>
            <a:r>
              <a:rPr lang="en-ID" b="1" dirty="0"/>
              <a:t>Purpose:</a:t>
            </a:r>
            <a:r>
              <a:rPr lang="en-ID" dirty="0"/>
              <a:t> Fast, connectionless communication</a:t>
            </a:r>
          </a:p>
          <a:p>
            <a:r>
              <a:rPr lang="en-ID" b="1" dirty="0"/>
              <a:t>Forensic Value:</a:t>
            </a:r>
            <a:endParaRPr lang="en-ID" dirty="0"/>
          </a:p>
          <a:p>
            <a:pPr lvl="1"/>
            <a:r>
              <a:rPr lang="en-ID" dirty="0"/>
              <a:t>No handshake, so easy to spoof</a:t>
            </a:r>
          </a:p>
          <a:p>
            <a:pPr lvl="1"/>
            <a:r>
              <a:rPr lang="en-ID" dirty="0"/>
              <a:t>Often used for streaming, DNS, VoIP</a:t>
            </a:r>
          </a:p>
          <a:p>
            <a:r>
              <a:rPr lang="en-ID" b="1" dirty="0"/>
              <a:t>Attack Evidence:</a:t>
            </a:r>
            <a:endParaRPr lang="en-ID" dirty="0"/>
          </a:p>
          <a:p>
            <a:pPr lvl="1"/>
            <a:r>
              <a:rPr lang="en-ID" dirty="0"/>
              <a:t>UDP flood attacks</a:t>
            </a:r>
          </a:p>
          <a:p>
            <a:pPr lvl="1"/>
            <a:r>
              <a:rPr lang="en-ID" dirty="0"/>
              <a:t>Malware using UDP for covert channels</a:t>
            </a:r>
          </a:p>
          <a:p>
            <a:endParaRPr lang="en-US" dirty="0"/>
          </a:p>
        </p:txBody>
      </p:sp>
    </p:spTree>
    <p:extLst>
      <p:ext uri="{BB962C8B-B14F-4D97-AF65-F5344CB8AC3E}">
        <p14:creationId xmlns:p14="http://schemas.microsoft.com/office/powerpoint/2010/main" val="284696649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3630B-C1C7-1582-2810-56CE21FF7C53}"/>
              </a:ext>
            </a:extLst>
          </p:cNvPr>
          <p:cNvSpPr>
            <a:spLocks noGrp="1"/>
          </p:cNvSpPr>
          <p:nvPr>
            <p:ph type="title"/>
          </p:nvPr>
        </p:nvSpPr>
        <p:spPr/>
        <p:txBody>
          <a:bodyPr/>
          <a:lstStyle/>
          <a:p>
            <a:r>
              <a:rPr lang="en-ID" dirty="0"/>
              <a:t>ICMP (Internet Control Message Protocol)</a:t>
            </a:r>
            <a:endParaRPr lang="en-US" dirty="0"/>
          </a:p>
        </p:txBody>
      </p:sp>
      <p:sp>
        <p:nvSpPr>
          <p:cNvPr id="3" name="Content Placeholder 2">
            <a:extLst>
              <a:ext uri="{FF2B5EF4-FFF2-40B4-BE49-F238E27FC236}">
                <a16:creationId xmlns:a16="http://schemas.microsoft.com/office/drawing/2014/main" id="{EE835233-F533-1CB3-C313-76C3F5977770}"/>
              </a:ext>
            </a:extLst>
          </p:cNvPr>
          <p:cNvSpPr>
            <a:spLocks noGrp="1"/>
          </p:cNvSpPr>
          <p:nvPr>
            <p:ph idx="1"/>
          </p:nvPr>
        </p:nvSpPr>
        <p:spPr/>
        <p:txBody>
          <a:bodyPr/>
          <a:lstStyle/>
          <a:p>
            <a:r>
              <a:rPr lang="en-ID" b="1" dirty="0"/>
              <a:t>Purpose:</a:t>
            </a:r>
            <a:r>
              <a:rPr lang="en-ID" dirty="0"/>
              <a:t> Diagnostics (ping, traceroute)</a:t>
            </a:r>
          </a:p>
          <a:p>
            <a:r>
              <a:rPr lang="en-ID" b="1" dirty="0"/>
              <a:t>Forensic Value:</a:t>
            </a:r>
            <a:endParaRPr lang="en-ID" dirty="0"/>
          </a:p>
          <a:p>
            <a:pPr lvl="1"/>
            <a:r>
              <a:rPr lang="en-ID" dirty="0"/>
              <a:t>ICMP Echo Request/Reply (ping sweeps)</a:t>
            </a:r>
          </a:p>
          <a:p>
            <a:pPr lvl="1"/>
            <a:r>
              <a:rPr lang="en-ID" dirty="0"/>
              <a:t>Destination Unreachable messages</a:t>
            </a:r>
          </a:p>
          <a:p>
            <a:r>
              <a:rPr lang="en-ID" b="1" dirty="0"/>
              <a:t>Attack Evidence:</a:t>
            </a:r>
            <a:endParaRPr lang="en-ID" dirty="0"/>
          </a:p>
          <a:p>
            <a:pPr lvl="1"/>
            <a:r>
              <a:rPr lang="en-ID" dirty="0"/>
              <a:t>ICMP </a:t>
            </a:r>
            <a:r>
              <a:rPr lang="en-ID" dirty="0" err="1"/>
              <a:t>tunneling</a:t>
            </a:r>
            <a:r>
              <a:rPr lang="en-ID" dirty="0"/>
              <a:t> (data exfiltration)</a:t>
            </a:r>
          </a:p>
          <a:p>
            <a:pPr lvl="1"/>
            <a:r>
              <a:rPr lang="en-ID" dirty="0"/>
              <a:t>Ping flood (DoS)</a:t>
            </a:r>
          </a:p>
          <a:p>
            <a:endParaRPr lang="en-US" dirty="0"/>
          </a:p>
        </p:txBody>
      </p:sp>
    </p:spTree>
    <p:extLst>
      <p:ext uri="{BB962C8B-B14F-4D97-AF65-F5344CB8AC3E}">
        <p14:creationId xmlns:p14="http://schemas.microsoft.com/office/powerpoint/2010/main" val="195397883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E0CC1-95D5-1A6A-914D-99747DFDFF5E}"/>
              </a:ext>
            </a:extLst>
          </p:cNvPr>
          <p:cNvSpPr>
            <a:spLocks noGrp="1"/>
          </p:cNvSpPr>
          <p:nvPr>
            <p:ph type="title"/>
          </p:nvPr>
        </p:nvSpPr>
        <p:spPr/>
        <p:txBody>
          <a:bodyPr/>
          <a:lstStyle/>
          <a:p>
            <a:r>
              <a:rPr lang="en-ID" dirty="0"/>
              <a:t>DNS (Domain Name System)</a:t>
            </a:r>
            <a:endParaRPr lang="en-US" dirty="0"/>
          </a:p>
        </p:txBody>
      </p:sp>
      <p:sp>
        <p:nvSpPr>
          <p:cNvPr id="3" name="Content Placeholder 2">
            <a:extLst>
              <a:ext uri="{FF2B5EF4-FFF2-40B4-BE49-F238E27FC236}">
                <a16:creationId xmlns:a16="http://schemas.microsoft.com/office/drawing/2014/main" id="{5549650B-92BF-2BCC-2C00-CA8088BDC0F8}"/>
              </a:ext>
            </a:extLst>
          </p:cNvPr>
          <p:cNvSpPr>
            <a:spLocks noGrp="1"/>
          </p:cNvSpPr>
          <p:nvPr>
            <p:ph idx="1"/>
          </p:nvPr>
        </p:nvSpPr>
        <p:spPr/>
        <p:txBody>
          <a:bodyPr/>
          <a:lstStyle/>
          <a:p>
            <a:r>
              <a:rPr lang="en-ID" b="1" dirty="0"/>
              <a:t>Purpose:</a:t>
            </a:r>
            <a:r>
              <a:rPr lang="en-ID" dirty="0"/>
              <a:t> Domain name → IP resolution</a:t>
            </a:r>
          </a:p>
          <a:p>
            <a:r>
              <a:rPr lang="en-ID" b="1" dirty="0"/>
              <a:t>Forensic Value:</a:t>
            </a:r>
            <a:endParaRPr lang="en-ID" dirty="0"/>
          </a:p>
          <a:p>
            <a:pPr lvl="1"/>
            <a:r>
              <a:rPr lang="en-ID" dirty="0"/>
              <a:t>Queries &amp; responses → reveal domains contacted</a:t>
            </a:r>
          </a:p>
          <a:p>
            <a:pPr lvl="1"/>
            <a:r>
              <a:rPr lang="en-ID" dirty="0"/>
              <a:t>NXDOMAIN errors → suspicious, often from malware DGA domains</a:t>
            </a:r>
          </a:p>
          <a:p>
            <a:pPr lvl="1"/>
            <a:r>
              <a:rPr lang="en-ID" dirty="0"/>
              <a:t>TXT records → sometimes abused by attackers</a:t>
            </a:r>
          </a:p>
          <a:p>
            <a:r>
              <a:rPr lang="en-ID" b="1" dirty="0"/>
              <a:t>Attack Evidence:</a:t>
            </a:r>
            <a:endParaRPr lang="en-ID" dirty="0"/>
          </a:p>
          <a:p>
            <a:pPr lvl="1"/>
            <a:r>
              <a:rPr lang="en-ID" dirty="0"/>
              <a:t>Fast-flux DNS (rotating IPs)</a:t>
            </a:r>
          </a:p>
          <a:p>
            <a:pPr lvl="1"/>
            <a:r>
              <a:rPr lang="en-ID" dirty="0"/>
              <a:t>DNS </a:t>
            </a:r>
            <a:r>
              <a:rPr lang="en-ID" dirty="0" err="1"/>
              <a:t>tunneling</a:t>
            </a:r>
            <a:r>
              <a:rPr lang="en-ID" dirty="0"/>
              <a:t> (covert C2 communication)</a:t>
            </a:r>
          </a:p>
          <a:p>
            <a:endParaRPr lang="en-US" dirty="0"/>
          </a:p>
        </p:txBody>
      </p:sp>
    </p:spTree>
    <p:extLst>
      <p:ext uri="{BB962C8B-B14F-4D97-AF65-F5344CB8AC3E}">
        <p14:creationId xmlns:p14="http://schemas.microsoft.com/office/powerpoint/2010/main" val="305595264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1088-4941-0C0D-9619-82C6FB1D6FE2}"/>
              </a:ext>
            </a:extLst>
          </p:cNvPr>
          <p:cNvSpPr>
            <a:spLocks noGrp="1"/>
          </p:cNvSpPr>
          <p:nvPr>
            <p:ph type="title"/>
          </p:nvPr>
        </p:nvSpPr>
        <p:spPr/>
        <p:txBody>
          <a:bodyPr/>
          <a:lstStyle/>
          <a:p>
            <a:r>
              <a:rPr lang="en-ID" dirty="0"/>
              <a:t>HTTP (Hypertext Transfer Protocol)</a:t>
            </a:r>
            <a:endParaRPr lang="en-US" dirty="0"/>
          </a:p>
        </p:txBody>
      </p:sp>
      <p:sp>
        <p:nvSpPr>
          <p:cNvPr id="3" name="Content Placeholder 2">
            <a:extLst>
              <a:ext uri="{FF2B5EF4-FFF2-40B4-BE49-F238E27FC236}">
                <a16:creationId xmlns:a16="http://schemas.microsoft.com/office/drawing/2014/main" id="{D897C37D-5C46-A619-CB54-10C931002867}"/>
              </a:ext>
            </a:extLst>
          </p:cNvPr>
          <p:cNvSpPr>
            <a:spLocks noGrp="1"/>
          </p:cNvSpPr>
          <p:nvPr>
            <p:ph idx="1"/>
          </p:nvPr>
        </p:nvSpPr>
        <p:spPr/>
        <p:txBody>
          <a:bodyPr/>
          <a:lstStyle/>
          <a:p>
            <a:r>
              <a:rPr lang="en-ID" b="1" dirty="0"/>
              <a:t>Purpose:</a:t>
            </a:r>
            <a:r>
              <a:rPr lang="en-ID" dirty="0"/>
              <a:t> Web traffic (port 80 / 443 for HTTPS)</a:t>
            </a:r>
          </a:p>
          <a:p>
            <a:r>
              <a:rPr lang="en-ID" b="1" dirty="0"/>
              <a:t>Forensic Value:</a:t>
            </a:r>
            <a:endParaRPr lang="en-ID" dirty="0"/>
          </a:p>
          <a:p>
            <a:pPr lvl="1"/>
            <a:r>
              <a:rPr lang="en-ID" dirty="0"/>
              <a:t>URLs visited, headers, cookies</a:t>
            </a:r>
          </a:p>
          <a:p>
            <a:pPr lvl="1"/>
            <a:r>
              <a:rPr lang="en-ID" dirty="0"/>
              <a:t>User-Agent strings → identify malware vs browsers</a:t>
            </a:r>
          </a:p>
          <a:p>
            <a:r>
              <a:rPr lang="en-ID" b="1" dirty="0"/>
              <a:t>Attack Evidence:</a:t>
            </a:r>
            <a:endParaRPr lang="en-ID" dirty="0"/>
          </a:p>
          <a:p>
            <a:pPr lvl="1"/>
            <a:r>
              <a:rPr lang="en-ID" dirty="0"/>
              <a:t>Phishing sites</a:t>
            </a:r>
          </a:p>
          <a:p>
            <a:pPr lvl="1"/>
            <a:r>
              <a:rPr lang="en-ID" dirty="0"/>
              <a:t>Command-and-control over HTTP/S</a:t>
            </a:r>
          </a:p>
          <a:p>
            <a:pPr lvl="1"/>
            <a:r>
              <a:rPr lang="en-ID" dirty="0"/>
              <a:t>SQL injection in HTTP requests</a:t>
            </a:r>
          </a:p>
          <a:p>
            <a:endParaRPr lang="en-US" dirty="0"/>
          </a:p>
        </p:txBody>
      </p:sp>
    </p:spTree>
    <p:extLst>
      <p:ext uri="{BB962C8B-B14F-4D97-AF65-F5344CB8AC3E}">
        <p14:creationId xmlns:p14="http://schemas.microsoft.com/office/powerpoint/2010/main" val="414929811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0457B-AE1E-3D52-3DA7-F60056C94790}"/>
              </a:ext>
            </a:extLst>
          </p:cNvPr>
          <p:cNvSpPr>
            <a:spLocks noGrp="1"/>
          </p:cNvSpPr>
          <p:nvPr>
            <p:ph type="title"/>
          </p:nvPr>
        </p:nvSpPr>
        <p:spPr/>
        <p:txBody>
          <a:bodyPr/>
          <a:lstStyle/>
          <a:p>
            <a:r>
              <a:rPr lang="en-ID" dirty="0"/>
              <a:t>SMTP (Simple Mail Transfer Protocol)</a:t>
            </a:r>
            <a:endParaRPr lang="en-US" dirty="0"/>
          </a:p>
        </p:txBody>
      </p:sp>
      <p:sp>
        <p:nvSpPr>
          <p:cNvPr id="3" name="Content Placeholder 2">
            <a:extLst>
              <a:ext uri="{FF2B5EF4-FFF2-40B4-BE49-F238E27FC236}">
                <a16:creationId xmlns:a16="http://schemas.microsoft.com/office/drawing/2014/main" id="{AB3B2186-B411-454F-D49B-A81CE66D591D}"/>
              </a:ext>
            </a:extLst>
          </p:cNvPr>
          <p:cNvSpPr>
            <a:spLocks noGrp="1"/>
          </p:cNvSpPr>
          <p:nvPr>
            <p:ph idx="1"/>
          </p:nvPr>
        </p:nvSpPr>
        <p:spPr/>
        <p:txBody>
          <a:bodyPr/>
          <a:lstStyle/>
          <a:p>
            <a:r>
              <a:rPr lang="en-ID" b="1" dirty="0"/>
              <a:t>Purpose:</a:t>
            </a:r>
            <a:r>
              <a:rPr lang="en-ID" dirty="0"/>
              <a:t> Sending email</a:t>
            </a:r>
          </a:p>
          <a:p>
            <a:r>
              <a:rPr lang="en-ID" b="1" dirty="0"/>
              <a:t>Forensic Value:</a:t>
            </a:r>
            <a:endParaRPr lang="en-ID" dirty="0"/>
          </a:p>
          <a:p>
            <a:pPr marL="1752600" lvl="2" indent="-685800"/>
            <a:r>
              <a:rPr lang="en-ID" dirty="0"/>
              <a:t>Header info → sender, receiver, relay servers</a:t>
            </a:r>
          </a:p>
          <a:p>
            <a:pPr marL="1752600" lvl="2" indent="-685800"/>
            <a:r>
              <a:rPr lang="en-ID" dirty="0"/>
              <a:t>Timestamps → email timeline</a:t>
            </a:r>
          </a:p>
          <a:p>
            <a:r>
              <a:rPr lang="en-ID" b="1" dirty="0"/>
              <a:t>Attack Evidence:</a:t>
            </a:r>
            <a:endParaRPr lang="en-ID" dirty="0"/>
          </a:p>
          <a:p>
            <a:pPr marL="1752600" lvl="2" indent="-685800"/>
            <a:r>
              <a:rPr lang="en-ID" dirty="0"/>
              <a:t>Phishing campaigns</a:t>
            </a:r>
          </a:p>
          <a:p>
            <a:pPr marL="1752600" lvl="2" indent="-685800"/>
            <a:r>
              <a:rPr lang="en-ID" dirty="0"/>
              <a:t>Spoofed sender addresses (check SPF/DKIM records)</a:t>
            </a:r>
          </a:p>
          <a:p>
            <a:endParaRPr lang="en-US" dirty="0"/>
          </a:p>
        </p:txBody>
      </p:sp>
    </p:spTree>
    <p:extLst>
      <p:ext uri="{BB962C8B-B14F-4D97-AF65-F5344CB8AC3E}">
        <p14:creationId xmlns:p14="http://schemas.microsoft.com/office/powerpoint/2010/main" val="2537827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41D11-9890-06D4-8FA6-606D02B90AB2}"/>
              </a:ext>
            </a:extLst>
          </p:cNvPr>
          <p:cNvSpPr>
            <a:spLocks noGrp="1"/>
          </p:cNvSpPr>
          <p:nvPr>
            <p:ph type="title"/>
          </p:nvPr>
        </p:nvSpPr>
        <p:spPr/>
        <p:txBody>
          <a:bodyPr/>
          <a:lstStyle/>
          <a:p>
            <a:r>
              <a:rPr lang="en-ID" dirty="0"/>
              <a:t>FTP (File Transfer Protocol)</a:t>
            </a:r>
            <a:endParaRPr lang="en-US" dirty="0"/>
          </a:p>
        </p:txBody>
      </p:sp>
      <p:sp>
        <p:nvSpPr>
          <p:cNvPr id="3" name="Content Placeholder 2">
            <a:extLst>
              <a:ext uri="{FF2B5EF4-FFF2-40B4-BE49-F238E27FC236}">
                <a16:creationId xmlns:a16="http://schemas.microsoft.com/office/drawing/2014/main" id="{F1D6B733-3E9A-9B48-DD7A-6E831C20DD7B}"/>
              </a:ext>
            </a:extLst>
          </p:cNvPr>
          <p:cNvSpPr>
            <a:spLocks noGrp="1"/>
          </p:cNvSpPr>
          <p:nvPr>
            <p:ph idx="1"/>
          </p:nvPr>
        </p:nvSpPr>
        <p:spPr/>
        <p:txBody>
          <a:bodyPr/>
          <a:lstStyle/>
          <a:p>
            <a:r>
              <a:rPr lang="en-ID" b="1" dirty="0"/>
              <a:t>Purpose:</a:t>
            </a:r>
            <a:r>
              <a:rPr lang="en-ID" dirty="0"/>
              <a:t> File transfer (port 21)</a:t>
            </a:r>
          </a:p>
          <a:p>
            <a:r>
              <a:rPr lang="en-ID" b="1" dirty="0"/>
              <a:t>Forensic Value:</a:t>
            </a:r>
            <a:endParaRPr lang="en-ID" dirty="0"/>
          </a:p>
          <a:p>
            <a:pPr marL="1752600" lvl="2" indent="-685800"/>
            <a:r>
              <a:rPr lang="en-ID" dirty="0"/>
              <a:t>Username/passwords (often in cleartext)</a:t>
            </a:r>
          </a:p>
          <a:p>
            <a:pPr marL="1752600" lvl="2" indent="-685800"/>
            <a:r>
              <a:rPr lang="en-ID" dirty="0"/>
              <a:t>File names transferred</a:t>
            </a:r>
          </a:p>
          <a:p>
            <a:r>
              <a:rPr lang="en-ID" b="1" dirty="0"/>
              <a:t>Attack Evidence:</a:t>
            </a:r>
            <a:endParaRPr lang="en-ID" dirty="0"/>
          </a:p>
          <a:p>
            <a:pPr marL="1752600" lvl="2" indent="-685800"/>
            <a:r>
              <a:rPr lang="en-ID" dirty="0"/>
              <a:t>Credential theft</a:t>
            </a:r>
          </a:p>
          <a:p>
            <a:pPr marL="1752600" lvl="2" indent="-685800"/>
            <a:r>
              <a:rPr lang="en-ID" dirty="0"/>
              <a:t>Data exfiltration via FTP servers</a:t>
            </a:r>
          </a:p>
          <a:p>
            <a:endParaRPr lang="en-US" dirty="0"/>
          </a:p>
        </p:txBody>
      </p:sp>
    </p:spTree>
    <p:extLst>
      <p:ext uri="{BB962C8B-B14F-4D97-AF65-F5344CB8AC3E}">
        <p14:creationId xmlns:p14="http://schemas.microsoft.com/office/powerpoint/2010/main" val="261347465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D03A9-51C1-B03E-2C0D-307535329D0A}"/>
              </a:ext>
            </a:extLst>
          </p:cNvPr>
          <p:cNvSpPr>
            <a:spLocks noGrp="1"/>
          </p:cNvSpPr>
          <p:nvPr>
            <p:ph type="title"/>
          </p:nvPr>
        </p:nvSpPr>
        <p:spPr/>
        <p:txBody>
          <a:bodyPr/>
          <a:lstStyle/>
          <a:p>
            <a:r>
              <a:rPr lang="en-ID" dirty="0"/>
              <a:t>SSH (Secure Shell)</a:t>
            </a:r>
            <a:endParaRPr lang="en-US" dirty="0"/>
          </a:p>
        </p:txBody>
      </p:sp>
      <p:sp>
        <p:nvSpPr>
          <p:cNvPr id="3" name="Content Placeholder 2">
            <a:extLst>
              <a:ext uri="{FF2B5EF4-FFF2-40B4-BE49-F238E27FC236}">
                <a16:creationId xmlns:a16="http://schemas.microsoft.com/office/drawing/2014/main" id="{9D551D19-BBAF-0664-8134-B300402232F6}"/>
              </a:ext>
            </a:extLst>
          </p:cNvPr>
          <p:cNvSpPr>
            <a:spLocks noGrp="1"/>
          </p:cNvSpPr>
          <p:nvPr>
            <p:ph idx="1"/>
          </p:nvPr>
        </p:nvSpPr>
        <p:spPr/>
        <p:txBody>
          <a:bodyPr/>
          <a:lstStyle/>
          <a:p>
            <a:r>
              <a:rPr lang="en-ID" b="1" dirty="0"/>
              <a:t>Purpose:</a:t>
            </a:r>
            <a:r>
              <a:rPr lang="en-ID" dirty="0"/>
              <a:t> Encrypted remote login</a:t>
            </a:r>
          </a:p>
          <a:p>
            <a:r>
              <a:rPr lang="en-ID" b="1" dirty="0"/>
              <a:t>Forensic Value:</a:t>
            </a:r>
            <a:endParaRPr lang="en-ID" dirty="0"/>
          </a:p>
          <a:p>
            <a:pPr lvl="1"/>
            <a:r>
              <a:rPr lang="en-ID" dirty="0"/>
              <a:t>Authentication attempts</a:t>
            </a:r>
          </a:p>
          <a:p>
            <a:pPr lvl="1"/>
            <a:r>
              <a:rPr lang="en-ID" dirty="0"/>
              <a:t>Connection metadata (IP, timestamps, key exchange)</a:t>
            </a:r>
          </a:p>
          <a:p>
            <a:r>
              <a:rPr lang="en-ID" b="1" dirty="0"/>
              <a:t>Attack Evidence:</a:t>
            </a:r>
            <a:endParaRPr lang="en-ID" dirty="0"/>
          </a:p>
          <a:p>
            <a:pPr lvl="1"/>
            <a:r>
              <a:rPr lang="en-ID" dirty="0"/>
              <a:t>Brute-force attacks on SSH</a:t>
            </a:r>
          </a:p>
          <a:p>
            <a:pPr lvl="1"/>
            <a:r>
              <a:rPr lang="en-ID" dirty="0" err="1"/>
              <a:t>Tunneling</a:t>
            </a:r>
            <a:r>
              <a:rPr lang="en-ID" dirty="0"/>
              <a:t> other traffic through SSH</a:t>
            </a:r>
          </a:p>
          <a:p>
            <a:endParaRPr lang="en-US" dirty="0"/>
          </a:p>
        </p:txBody>
      </p:sp>
    </p:spTree>
    <p:extLst>
      <p:ext uri="{BB962C8B-B14F-4D97-AF65-F5344CB8AC3E}">
        <p14:creationId xmlns:p14="http://schemas.microsoft.com/office/powerpoint/2010/main" val="137096464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D657-0355-9A22-EF69-9BB74AA17B62}"/>
              </a:ext>
            </a:extLst>
          </p:cNvPr>
          <p:cNvSpPr>
            <a:spLocks noGrp="1"/>
          </p:cNvSpPr>
          <p:nvPr>
            <p:ph type="title"/>
          </p:nvPr>
        </p:nvSpPr>
        <p:spPr/>
        <p:txBody>
          <a:bodyPr/>
          <a:lstStyle/>
          <a:p>
            <a:r>
              <a:rPr lang="en-ID" dirty="0"/>
              <a:t>Case Study: Protocols in Action</a:t>
            </a:r>
            <a:endParaRPr lang="en-US" dirty="0"/>
          </a:p>
        </p:txBody>
      </p:sp>
      <p:sp>
        <p:nvSpPr>
          <p:cNvPr id="3" name="Content Placeholder 2">
            <a:extLst>
              <a:ext uri="{FF2B5EF4-FFF2-40B4-BE49-F238E27FC236}">
                <a16:creationId xmlns:a16="http://schemas.microsoft.com/office/drawing/2014/main" id="{0F993084-2AD7-127C-F2B3-3E8E56CB860B}"/>
              </a:ext>
            </a:extLst>
          </p:cNvPr>
          <p:cNvSpPr>
            <a:spLocks noGrp="1"/>
          </p:cNvSpPr>
          <p:nvPr>
            <p:ph idx="1"/>
          </p:nvPr>
        </p:nvSpPr>
        <p:spPr/>
        <p:txBody>
          <a:bodyPr/>
          <a:lstStyle/>
          <a:p>
            <a:r>
              <a:rPr lang="en-ID" b="1" dirty="0"/>
              <a:t>Example – Stuxnet Worm (2010):</a:t>
            </a:r>
            <a:endParaRPr lang="en-ID" dirty="0"/>
          </a:p>
          <a:p>
            <a:r>
              <a:rPr lang="en-ID" dirty="0"/>
              <a:t>Used multiple protocols for different stages</a:t>
            </a:r>
          </a:p>
          <a:p>
            <a:pPr marL="1752600" lvl="2" indent="-685800"/>
            <a:r>
              <a:rPr lang="en-ID" b="1" dirty="0"/>
              <a:t>RPC (over TCP):</a:t>
            </a:r>
            <a:r>
              <a:rPr lang="en-ID" dirty="0"/>
              <a:t> Spread laterally</a:t>
            </a:r>
          </a:p>
          <a:p>
            <a:pPr marL="1752600" lvl="2" indent="-685800"/>
            <a:r>
              <a:rPr lang="en-ID" b="1" dirty="0"/>
              <a:t>HTTP:</a:t>
            </a:r>
            <a:r>
              <a:rPr lang="en-ID" dirty="0"/>
              <a:t> Download updates from C2 servers</a:t>
            </a:r>
          </a:p>
          <a:p>
            <a:pPr marL="1752600" lvl="2" indent="-685800"/>
            <a:r>
              <a:rPr lang="en-ID" b="1" dirty="0"/>
              <a:t>DNS:</a:t>
            </a:r>
            <a:r>
              <a:rPr lang="en-ID" dirty="0"/>
              <a:t> Resolved C2 domains</a:t>
            </a:r>
          </a:p>
          <a:p>
            <a:r>
              <a:rPr lang="en-ID" b="1" dirty="0"/>
              <a:t>Result:</a:t>
            </a:r>
            <a:r>
              <a:rPr lang="en-ID" dirty="0"/>
              <a:t> Forensic investigators pieced together worm </a:t>
            </a:r>
            <a:r>
              <a:rPr lang="en-ID" dirty="0" err="1"/>
              <a:t>behavior</a:t>
            </a:r>
            <a:r>
              <a:rPr lang="en-ID" dirty="0"/>
              <a:t> by correlating logs from these protocols</a:t>
            </a:r>
          </a:p>
          <a:p>
            <a:endParaRPr lang="en-US" dirty="0"/>
          </a:p>
        </p:txBody>
      </p:sp>
    </p:spTree>
    <p:extLst>
      <p:ext uri="{BB962C8B-B14F-4D97-AF65-F5344CB8AC3E}">
        <p14:creationId xmlns:p14="http://schemas.microsoft.com/office/powerpoint/2010/main" val="275776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A57A6-94F6-F1A0-2EA0-590C52751B9A}"/>
              </a:ext>
            </a:extLst>
          </p:cNvPr>
          <p:cNvSpPr>
            <a:spLocks noGrp="1"/>
          </p:cNvSpPr>
          <p:nvPr>
            <p:ph type="title"/>
          </p:nvPr>
        </p:nvSpPr>
        <p:spPr/>
        <p:txBody>
          <a:bodyPr/>
          <a:lstStyle/>
          <a:p>
            <a:r>
              <a:rPr lang="en-ID" dirty="0"/>
              <a:t>Correlation Across Protocols</a:t>
            </a:r>
            <a:endParaRPr lang="en-US" dirty="0"/>
          </a:p>
        </p:txBody>
      </p:sp>
      <p:sp>
        <p:nvSpPr>
          <p:cNvPr id="3" name="Content Placeholder 2">
            <a:extLst>
              <a:ext uri="{FF2B5EF4-FFF2-40B4-BE49-F238E27FC236}">
                <a16:creationId xmlns:a16="http://schemas.microsoft.com/office/drawing/2014/main" id="{86F9F6C7-D1F4-D98C-4913-1C81689D1300}"/>
              </a:ext>
            </a:extLst>
          </p:cNvPr>
          <p:cNvSpPr>
            <a:spLocks noGrp="1"/>
          </p:cNvSpPr>
          <p:nvPr>
            <p:ph idx="1"/>
          </p:nvPr>
        </p:nvSpPr>
        <p:spPr/>
        <p:txBody>
          <a:bodyPr/>
          <a:lstStyle/>
          <a:p>
            <a:r>
              <a:rPr lang="en-ID" dirty="0"/>
              <a:t>Single protocol rarely tells full story</a:t>
            </a:r>
          </a:p>
          <a:p>
            <a:r>
              <a:rPr lang="en-ID" dirty="0"/>
              <a:t>Example ransomware attack:</a:t>
            </a:r>
          </a:p>
          <a:p>
            <a:pPr lvl="1"/>
            <a:r>
              <a:rPr lang="en-ID" b="1" dirty="0"/>
              <a:t>SMTP:</a:t>
            </a:r>
            <a:r>
              <a:rPr lang="en-ID" dirty="0"/>
              <a:t> Delivery via phishing email</a:t>
            </a:r>
          </a:p>
          <a:p>
            <a:pPr lvl="1"/>
            <a:r>
              <a:rPr lang="en-ID" b="1" dirty="0"/>
              <a:t>DNS:</a:t>
            </a:r>
            <a:r>
              <a:rPr lang="en-ID" dirty="0"/>
              <a:t> Malware queries for C2 server</a:t>
            </a:r>
          </a:p>
          <a:p>
            <a:pPr lvl="1"/>
            <a:r>
              <a:rPr lang="en-ID" b="1" dirty="0"/>
              <a:t>HTTP:</a:t>
            </a:r>
            <a:r>
              <a:rPr lang="en-ID" dirty="0"/>
              <a:t> Download payload</a:t>
            </a:r>
          </a:p>
          <a:p>
            <a:pPr lvl="1"/>
            <a:r>
              <a:rPr lang="en-ID" b="1" dirty="0"/>
              <a:t>TCP/UDP:</a:t>
            </a:r>
            <a:r>
              <a:rPr lang="en-ID" dirty="0"/>
              <a:t> Spread laterally</a:t>
            </a:r>
          </a:p>
          <a:p>
            <a:pPr lvl="1"/>
            <a:r>
              <a:rPr lang="en-ID" b="1" dirty="0"/>
              <a:t>Forensic Value:</a:t>
            </a:r>
            <a:r>
              <a:rPr lang="en-ID" dirty="0"/>
              <a:t> Multiple protocols together reveal attack chain</a:t>
            </a:r>
          </a:p>
          <a:p>
            <a:endParaRPr lang="en-US" dirty="0"/>
          </a:p>
        </p:txBody>
      </p:sp>
    </p:spTree>
    <p:extLst>
      <p:ext uri="{BB962C8B-B14F-4D97-AF65-F5344CB8AC3E}">
        <p14:creationId xmlns:p14="http://schemas.microsoft.com/office/powerpoint/2010/main" val="198194129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B841-E8C2-B0A7-2375-7EB666B67F8F}"/>
              </a:ext>
            </a:extLst>
          </p:cNvPr>
          <p:cNvSpPr>
            <a:spLocks noGrp="1"/>
          </p:cNvSpPr>
          <p:nvPr>
            <p:ph type="title"/>
          </p:nvPr>
        </p:nvSpPr>
        <p:spPr/>
        <p:txBody>
          <a:bodyPr/>
          <a:lstStyle/>
          <a:p>
            <a:r>
              <a:rPr lang="en-ID" dirty="0"/>
              <a:t>Summary</a:t>
            </a:r>
            <a:endParaRPr lang="en-US" dirty="0"/>
          </a:p>
        </p:txBody>
      </p:sp>
      <p:sp>
        <p:nvSpPr>
          <p:cNvPr id="3" name="Content Placeholder 2">
            <a:extLst>
              <a:ext uri="{FF2B5EF4-FFF2-40B4-BE49-F238E27FC236}">
                <a16:creationId xmlns:a16="http://schemas.microsoft.com/office/drawing/2014/main" id="{022385F5-24F9-9097-7B47-937D169D8494}"/>
              </a:ext>
            </a:extLst>
          </p:cNvPr>
          <p:cNvSpPr>
            <a:spLocks noGrp="1"/>
          </p:cNvSpPr>
          <p:nvPr>
            <p:ph idx="1"/>
          </p:nvPr>
        </p:nvSpPr>
        <p:spPr/>
        <p:txBody>
          <a:bodyPr/>
          <a:lstStyle/>
          <a:p>
            <a:r>
              <a:rPr lang="en-ID" dirty="0"/>
              <a:t>Protocols are both </a:t>
            </a:r>
            <a:r>
              <a:rPr lang="en-ID" b="1" dirty="0"/>
              <a:t>tools</a:t>
            </a:r>
            <a:r>
              <a:rPr lang="en-ID" dirty="0"/>
              <a:t> and </a:t>
            </a:r>
            <a:r>
              <a:rPr lang="en-ID" b="1" dirty="0"/>
              <a:t>evidence sources</a:t>
            </a:r>
            <a:endParaRPr lang="en-ID" dirty="0"/>
          </a:p>
          <a:p>
            <a:r>
              <a:rPr lang="en-ID" dirty="0"/>
              <a:t>TCP/UDP → transport patterns</a:t>
            </a:r>
          </a:p>
          <a:p>
            <a:r>
              <a:rPr lang="en-ID" dirty="0"/>
              <a:t>ICMP/DNS → reconnaissance &amp; </a:t>
            </a:r>
            <a:r>
              <a:rPr lang="en-ID" dirty="0" err="1"/>
              <a:t>tunneling</a:t>
            </a:r>
            <a:endParaRPr lang="en-ID" dirty="0"/>
          </a:p>
          <a:p>
            <a:r>
              <a:rPr lang="en-ID" dirty="0"/>
              <a:t>HTTP/SMTP/FTP → common attack vectors</a:t>
            </a:r>
          </a:p>
          <a:p>
            <a:r>
              <a:rPr lang="en-ID" dirty="0"/>
              <a:t>SSH → secure but often targeted</a:t>
            </a:r>
          </a:p>
          <a:p>
            <a:r>
              <a:rPr lang="en-ID" dirty="0"/>
              <a:t>Always correlate multiple protocols for a full picture</a:t>
            </a:r>
          </a:p>
        </p:txBody>
      </p:sp>
    </p:spTree>
    <p:extLst>
      <p:ext uri="{BB962C8B-B14F-4D97-AF65-F5344CB8AC3E}">
        <p14:creationId xmlns:p14="http://schemas.microsoft.com/office/powerpoint/2010/main" val="164579772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556B4-C497-E305-CAE2-8CA037C0E479}"/>
              </a:ext>
            </a:extLst>
          </p:cNvPr>
          <p:cNvSpPr>
            <a:spLocks noGrp="1"/>
          </p:cNvSpPr>
          <p:nvPr>
            <p:ph type="title"/>
          </p:nvPr>
        </p:nvSpPr>
        <p:spPr/>
        <p:txBody>
          <a:bodyPr/>
          <a:lstStyle/>
          <a:p>
            <a:r>
              <a:rPr lang="en-ID" dirty="0"/>
              <a:t>Reflection Question</a:t>
            </a:r>
            <a:endParaRPr lang="en-US" dirty="0"/>
          </a:p>
        </p:txBody>
      </p:sp>
      <p:sp>
        <p:nvSpPr>
          <p:cNvPr id="3" name="Content Placeholder 2">
            <a:extLst>
              <a:ext uri="{FF2B5EF4-FFF2-40B4-BE49-F238E27FC236}">
                <a16:creationId xmlns:a16="http://schemas.microsoft.com/office/drawing/2014/main" id="{0D64F112-C599-53C1-4FBA-52BBA522BC41}"/>
              </a:ext>
            </a:extLst>
          </p:cNvPr>
          <p:cNvSpPr>
            <a:spLocks noGrp="1"/>
          </p:cNvSpPr>
          <p:nvPr>
            <p:ph idx="1"/>
          </p:nvPr>
        </p:nvSpPr>
        <p:spPr/>
        <p:txBody>
          <a:bodyPr/>
          <a:lstStyle/>
          <a:p>
            <a:pPr marL="0" indent="0">
              <a:buNone/>
            </a:pPr>
            <a:r>
              <a:rPr lang="en-ID" b="1" dirty="0">
                <a:solidFill>
                  <a:srgbClr val="0070C0"/>
                </a:solidFill>
              </a:rPr>
              <a:t>If you were investigating a malware infection, which protocol would you examine first, and why?</a:t>
            </a:r>
          </a:p>
          <a:p>
            <a:pPr marL="0" indent="0">
              <a:buNone/>
            </a:pPr>
            <a:endParaRPr lang="en-ID" b="1" dirty="0">
              <a:solidFill>
                <a:srgbClr val="0070C0"/>
              </a:solidFill>
            </a:endParaRPr>
          </a:p>
          <a:p>
            <a:pPr marL="0" indent="0">
              <a:buNone/>
            </a:pPr>
            <a:r>
              <a:rPr lang="en-ID" b="1" dirty="0"/>
              <a:t>Sample Answers:</a:t>
            </a:r>
            <a:endParaRPr lang="en-ID" dirty="0"/>
          </a:p>
          <a:p>
            <a:r>
              <a:rPr lang="en-ID" dirty="0"/>
              <a:t>DNS → to see if malware contacted suspicious domains</a:t>
            </a:r>
          </a:p>
          <a:p>
            <a:r>
              <a:rPr lang="en-ID" dirty="0"/>
              <a:t>HTTP → to check for malicious downloads</a:t>
            </a:r>
          </a:p>
          <a:p>
            <a:r>
              <a:rPr lang="en-ID" dirty="0"/>
              <a:t>SMTP → if the entry point was phishing</a:t>
            </a:r>
          </a:p>
          <a:p>
            <a:pPr marL="0" indent="0">
              <a:buNone/>
            </a:pPr>
            <a:endParaRPr lang="en-US" b="1" dirty="0">
              <a:solidFill>
                <a:srgbClr val="0070C0"/>
              </a:solidFill>
            </a:endParaRPr>
          </a:p>
        </p:txBody>
      </p:sp>
    </p:spTree>
    <p:extLst>
      <p:ext uri="{BB962C8B-B14F-4D97-AF65-F5344CB8AC3E}">
        <p14:creationId xmlns:p14="http://schemas.microsoft.com/office/powerpoint/2010/main" val="277939820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757E-F9FF-7A17-9D52-119CA04DE6A5}"/>
              </a:ext>
            </a:extLst>
          </p:cNvPr>
          <p:cNvSpPr>
            <a:spLocks noGrp="1"/>
          </p:cNvSpPr>
          <p:nvPr>
            <p:ph type="title"/>
          </p:nvPr>
        </p:nvSpPr>
        <p:spPr/>
        <p:txBody>
          <a:bodyPr/>
          <a:lstStyle/>
          <a:p>
            <a:r>
              <a:rPr lang="en-US" dirty="0"/>
              <a:t>Lab</a:t>
            </a:r>
          </a:p>
        </p:txBody>
      </p:sp>
      <p:sp>
        <p:nvSpPr>
          <p:cNvPr id="3" name="Content Placeholder 2">
            <a:extLst>
              <a:ext uri="{FF2B5EF4-FFF2-40B4-BE49-F238E27FC236}">
                <a16:creationId xmlns:a16="http://schemas.microsoft.com/office/drawing/2014/main" id="{872E88D0-A763-62EE-519F-B9E516AFD870}"/>
              </a:ext>
            </a:extLst>
          </p:cNvPr>
          <p:cNvSpPr>
            <a:spLocks noGrp="1"/>
          </p:cNvSpPr>
          <p:nvPr>
            <p:ph idx="1"/>
          </p:nvPr>
        </p:nvSpPr>
        <p:spPr/>
        <p:txBody>
          <a:bodyPr>
            <a:normAutofit/>
          </a:bodyPr>
          <a:lstStyle/>
          <a:p>
            <a:pPr marL="914400" indent="-914400">
              <a:buFont typeface="+mj-lt"/>
              <a:buAutoNum type="arabicPeriod"/>
            </a:pPr>
            <a:r>
              <a:rPr lang="en-US" dirty="0"/>
              <a:t>Start capturing your own traffic</a:t>
            </a:r>
          </a:p>
          <a:p>
            <a:pPr marL="914400" indent="-914400">
              <a:buFont typeface="+mj-lt"/>
              <a:buAutoNum type="arabicPeriod"/>
            </a:pPr>
            <a:r>
              <a:rPr lang="en-US" dirty="0"/>
              <a:t>Browse a random website</a:t>
            </a:r>
          </a:p>
          <a:p>
            <a:pPr marL="914400" indent="-914400">
              <a:buFont typeface="+mj-lt"/>
              <a:buAutoNum type="arabicPeriod"/>
            </a:pPr>
            <a:r>
              <a:rPr lang="en-US" dirty="0"/>
              <a:t>When you collect enough traffic, stop the capture and look at the IP conversations</a:t>
            </a:r>
          </a:p>
          <a:p>
            <a:pPr marL="914400" indent="-914400">
              <a:buFont typeface="+mj-lt"/>
              <a:buAutoNum type="arabicPeriod"/>
            </a:pPr>
            <a:r>
              <a:rPr lang="en-US" dirty="0"/>
              <a:t>How many conversations did you have?</a:t>
            </a:r>
          </a:p>
          <a:p>
            <a:pPr marL="914400" indent="-914400">
              <a:buFont typeface="+mj-lt"/>
              <a:buAutoNum type="arabicPeriod"/>
            </a:pPr>
            <a:r>
              <a:rPr lang="en-US" dirty="0"/>
              <a:t>How many broadcast and multicast packets?</a:t>
            </a:r>
          </a:p>
          <a:p>
            <a:pPr marL="914400" indent="-914400">
              <a:buFont typeface="+mj-lt"/>
              <a:buAutoNum type="arabicPeriod"/>
            </a:pPr>
            <a:r>
              <a:rPr lang="en-US" dirty="0"/>
              <a:t>How many IP addresses have you contacted while browsing the website?</a:t>
            </a:r>
          </a:p>
          <a:p>
            <a:pPr marL="914400" indent="-914400">
              <a:buFont typeface="+mj-lt"/>
              <a:buAutoNum type="arabicPeriod"/>
            </a:pPr>
            <a:r>
              <a:rPr lang="en-US" dirty="0"/>
              <a:t>How many IP addresses are local in your trace file, and how many are external?</a:t>
            </a:r>
          </a:p>
        </p:txBody>
      </p:sp>
    </p:spTree>
    <p:extLst>
      <p:ext uri="{BB962C8B-B14F-4D97-AF65-F5344CB8AC3E}">
        <p14:creationId xmlns:p14="http://schemas.microsoft.com/office/powerpoint/2010/main" val="380295783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29185-DEBA-2653-928F-12E0AF1EE5B8}"/>
              </a:ext>
            </a:extLst>
          </p:cNvPr>
          <p:cNvSpPr>
            <a:spLocks noGrp="1"/>
          </p:cNvSpPr>
          <p:nvPr>
            <p:ph type="title"/>
          </p:nvPr>
        </p:nvSpPr>
        <p:spPr/>
        <p:txBody>
          <a:bodyPr/>
          <a:lstStyle/>
          <a:p>
            <a:r>
              <a:rPr lang="en-US" dirty="0"/>
              <a:t>See you next week!</a:t>
            </a:r>
          </a:p>
        </p:txBody>
      </p:sp>
    </p:spTree>
    <p:extLst>
      <p:ext uri="{BB962C8B-B14F-4D97-AF65-F5344CB8AC3E}">
        <p14:creationId xmlns:p14="http://schemas.microsoft.com/office/powerpoint/2010/main" val="25367731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1452</TotalTime>
  <Words>1909</Words>
  <Application>Microsoft Macintosh PowerPoint</Application>
  <PresentationFormat>Custom</PresentationFormat>
  <Paragraphs>229</Paragraphs>
  <Slides>18</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-webkit-standard</vt:lpstr>
      <vt:lpstr>Aptos</vt:lpstr>
      <vt:lpstr>Arial</vt:lpstr>
      <vt:lpstr>Helvetica Neue Medium</vt:lpstr>
      <vt:lpstr>OCRB</vt:lpstr>
      <vt:lpstr>Open Sans ExtraBold</vt:lpstr>
      <vt:lpstr>Open Sans Light</vt:lpstr>
      <vt:lpstr>Open Sans Semibold</vt:lpstr>
      <vt:lpstr>21_BasicWhite</vt:lpstr>
      <vt:lpstr>Common Network Protocols in Network Forensics</vt:lpstr>
      <vt:lpstr>Learning Objectives</vt:lpstr>
      <vt:lpstr>Why Protocols Matter in Forensics</vt:lpstr>
      <vt:lpstr>TCP/IP Model Refresher</vt:lpstr>
      <vt:lpstr>TCP (Transmission Control Protocol)</vt:lpstr>
      <vt:lpstr>UDP (User Datagram Protocol)</vt:lpstr>
      <vt:lpstr>ICMP (Internet Control Message Protocol)</vt:lpstr>
      <vt:lpstr>DNS (Domain Name System)</vt:lpstr>
      <vt:lpstr>HTTP (Hypertext Transfer Protocol)</vt:lpstr>
      <vt:lpstr>SMTP (Simple Mail Transfer Protocol)</vt:lpstr>
      <vt:lpstr>FTP (File Transfer Protocol)</vt:lpstr>
      <vt:lpstr>SSH (Secure Shell)</vt:lpstr>
      <vt:lpstr>Case Study: Protocols in Action</vt:lpstr>
      <vt:lpstr>Correlation Across Protocols</vt:lpstr>
      <vt:lpstr>Summary</vt:lpstr>
      <vt:lpstr>Reflection Question</vt:lpstr>
      <vt:lpstr>Lab</vt:lpstr>
      <vt:lpstr>See you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Satrio Pradono, S.Kom., M.T.I.</dc:creator>
  <cp:lastModifiedBy>Satrio Pradono, S.Kom., M.T.I.</cp:lastModifiedBy>
  <cp:revision>10</cp:revision>
  <dcterms:created xsi:type="dcterms:W3CDTF">2024-08-21T04:45:24Z</dcterms:created>
  <dcterms:modified xsi:type="dcterms:W3CDTF">2025-09-24T14:05:07Z</dcterms:modified>
</cp:coreProperties>
</file>
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93" r:id="rId3"/>
    <p:sldId id="316" r:id="rId4"/>
    <p:sldId id="317" r:id="rId5"/>
    <p:sldId id="318" r:id="rId6"/>
    <p:sldId id="319" r:id="rId7"/>
    <p:sldId id="320" r:id="rId8"/>
    <p:sldId id="321" r:id="rId9"/>
    <p:sldId id="322" r:id="rId10"/>
    <p:sldId id="323" r:id="rId11"/>
    <p:sldId id="327" r:id="rId12"/>
    <p:sldId id="328" r:id="rId13"/>
    <p:sldId id="329" r:id="rId14"/>
    <p:sldId id="330" r:id="rId15"/>
    <p:sldId id="324" r:id="rId16"/>
    <p:sldId id="325" r:id="rId17"/>
    <p:sldId id="326" r:id="rId18"/>
    <p:sldId id="315"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FDCF6184-A2D9-AB41-A157-73E9C07C27FC}">
          <p14:sldIdLst>
            <p14:sldId id="256"/>
            <p14:sldId id="293"/>
            <p14:sldId id="316"/>
            <p14:sldId id="317"/>
            <p14:sldId id="318"/>
            <p14:sldId id="319"/>
            <p14:sldId id="320"/>
            <p14:sldId id="321"/>
            <p14:sldId id="322"/>
            <p14:sldId id="323"/>
            <p14:sldId id="327"/>
            <p14:sldId id="328"/>
            <p14:sldId id="329"/>
            <p14:sldId id="330"/>
            <p14:sldId id="324"/>
            <p14:sldId id="325"/>
            <p14:sldId id="326"/>
            <p14:sldId id="315"/>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54A4"/>
    <a:srgbClr val="1C8ED3"/>
    <a:srgbClr val="23A1E1"/>
    <a:srgbClr val="F724FF"/>
    <a:srgbClr val="45FFFF"/>
    <a:srgbClr val="4AFD00"/>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36" autoAdjust="0"/>
    <p:restoredTop sz="82247"/>
  </p:normalViewPr>
  <p:slideViewPr>
    <p:cSldViewPr snapToGrid="0" snapToObjects="1">
      <p:cViewPr varScale="1">
        <p:scale>
          <a:sx n="61" d="100"/>
          <a:sy n="61" d="100"/>
        </p:scale>
        <p:origin x="2464" y="25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Today we’re focusing on how intruders are tracked through network </a:t>
            </a:r>
            <a:r>
              <a:rPr lang="en-ID" dirty="0" err="1"/>
              <a:t>behavior</a:t>
            </a:r>
            <a:r>
              <a:rPr lang="en-ID" dirty="0"/>
              <a:t>, and how IDS and IPS help us detect attacks. We’ll stay theoretical and use a real-world case as an example.</a:t>
            </a:r>
          </a:p>
        </p:txBody>
      </p:sp>
    </p:spTree>
    <p:extLst>
      <p:ext uri="{BB962C8B-B14F-4D97-AF65-F5344CB8AC3E}">
        <p14:creationId xmlns:p14="http://schemas.microsoft.com/office/powerpoint/2010/main" val="2827974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By the end of this session, you should be able to explain how intruders leave network traces, understand how IDS and IPS function, and </a:t>
            </a:r>
            <a:r>
              <a:rPr lang="en-ID" dirty="0" err="1"/>
              <a:t>analyze</a:t>
            </a:r>
            <a:r>
              <a:rPr lang="en-ID" dirty="0"/>
              <a:t> intrusion evidence using a real case. You don’t need tools; we just focus on how to think like a forensic analyst.</a:t>
            </a:r>
          </a:p>
        </p:txBody>
      </p:sp>
    </p:spTree>
    <p:extLst>
      <p:ext uri="{BB962C8B-B14F-4D97-AF65-F5344CB8AC3E}">
        <p14:creationId xmlns:p14="http://schemas.microsoft.com/office/powerpoint/2010/main" val="695212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Tracking doesn’t mean knowing who the hacker is. It means reconstructing what the attacker did on the network. We look at how they entered, what they accessed, how they moved around, and what evidence their traffic left behind. Network forensics follows actions, not people.</a:t>
            </a:r>
            <a:endParaRPr lang="en-US" dirty="0"/>
          </a:p>
        </p:txBody>
      </p:sp>
    </p:spTree>
    <p:extLst>
      <p:ext uri="{BB962C8B-B14F-4D97-AF65-F5344CB8AC3E}">
        <p14:creationId xmlns:p14="http://schemas.microsoft.com/office/powerpoint/2010/main" val="526027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When suspicious activity happens, we rarely first see the attacker. We only see unusual traffic. Things like strange ports that shouldn’t be active, sudden bandwidth spikes, repetitive requests, or failed logins that happen hundreds of times. These patterns are what help us trace an attack.</a:t>
            </a:r>
            <a:endParaRPr lang="en-US" dirty="0"/>
          </a:p>
        </p:txBody>
      </p:sp>
    </p:spTree>
    <p:extLst>
      <p:ext uri="{BB962C8B-B14F-4D97-AF65-F5344CB8AC3E}">
        <p14:creationId xmlns:p14="http://schemas.microsoft.com/office/powerpoint/2010/main" val="4145845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An IDS watches traffic. It does not block anything. Because it doesn’t interfere with traffic, it records more logs, and that makes it very valuable for forensics. IDS helps us prove an attack happened, how it happened, and what traffic caused it.</a:t>
            </a:r>
            <a:endParaRPr lang="en-US" dirty="0"/>
          </a:p>
        </p:txBody>
      </p:sp>
    </p:spTree>
    <p:extLst>
      <p:ext uri="{BB962C8B-B14F-4D97-AF65-F5344CB8AC3E}">
        <p14:creationId xmlns:p14="http://schemas.microsoft.com/office/powerpoint/2010/main" val="880812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IPS is like a security guard that blocks someone at the door. IDS is like a CCTV camera that records everything. IPS focuses on prevention, IDS focuses on detection, and that makes IDS better when we need digital evidence. IPS is good for protection, but it stores fewer details.</a:t>
            </a:r>
            <a:endParaRPr lang="en-US" dirty="0"/>
          </a:p>
        </p:txBody>
      </p:sp>
    </p:spTree>
    <p:extLst>
      <p:ext uri="{BB962C8B-B14F-4D97-AF65-F5344CB8AC3E}">
        <p14:creationId xmlns:p14="http://schemas.microsoft.com/office/powerpoint/2010/main" val="987400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Signature detection is like virus definitions. It only works if the attack is already known. If someone uses a famous malware tool, IDS can match the pattern and identify it. The strength is accuracy. The weakness is it’s blind to new attacks.</a:t>
            </a:r>
            <a:endParaRPr lang="en-US" dirty="0"/>
          </a:p>
        </p:txBody>
      </p:sp>
    </p:spTree>
    <p:extLst>
      <p:ext uri="{BB962C8B-B14F-4D97-AF65-F5344CB8AC3E}">
        <p14:creationId xmlns:p14="http://schemas.microsoft.com/office/powerpoint/2010/main" val="800720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Anomaly detection compares traffic to what’s normal. If suddenly traffic spikes 100 times, or thousands of identical requests appear, the IDS knows something’s wrong even if there’s no known signature. This is powerful for zero-day attacks and DDoS attacks.</a:t>
            </a:r>
            <a:endParaRPr lang="en-US" dirty="0"/>
          </a:p>
        </p:txBody>
      </p:sp>
    </p:spTree>
    <p:extLst>
      <p:ext uri="{BB962C8B-B14F-4D97-AF65-F5344CB8AC3E}">
        <p14:creationId xmlns:p14="http://schemas.microsoft.com/office/powerpoint/2010/main" val="266174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Let’s look at a case where anomaly detection mattered. Cloudflare saw massive bot attacks worldwide. At the same time, Indonesian platforms like Tokopedia and </a:t>
            </a:r>
            <a:r>
              <a:rPr lang="en-ID" dirty="0" err="1"/>
              <a:t>Bukalapak</a:t>
            </a:r>
            <a:r>
              <a:rPr lang="en-ID" dirty="0"/>
              <a:t> were hit with massive traffic spikes. It wasn’t a hack stealing data—it was DDoS. And the proof came only from patterns, not payloads.</a:t>
            </a:r>
          </a:p>
          <a:p>
            <a:endParaRPr lang="en-ID" dirty="0"/>
          </a:p>
          <a:p>
            <a:r>
              <a:rPr lang="en-ID" dirty="0"/>
              <a:t>Cloudflare and local logs showed the same things: identical GET requests repeated thousands of times, the same fake browser signature used by thousands of IPs, and sudden traffic from IoT devices. These patterns confirmed it was automated botnet traffic. No need to open packets. The </a:t>
            </a:r>
            <a:r>
              <a:rPr lang="en-ID" dirty="0" err="1"/>
              <a:t>behavior</a:t>
            </a:r>
            <a:r>
              <a:rPr lang="en-ID" dirty="0"/>
              <a:t> alone was enough.</a:t>
            </a:r>
            <a:endParaRPr lang="en-US" dirty="0"/>
          </a:p>
        </p:txBody>
      </p:sp>
    </p:spTree>
    <p:extLst>
      <p:ext uri="{BB962C8B-B14F-4D97-AF65-F5344CB8AC3E}">
        <p14:creationId xmlns:p14="http://schemas.microsoft.com/office/powerpoint/2010/main" val="4206881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This case shows that network forensics doesn’t always need decrypted data. Sometimes you just need patterns: timestamps, traffic volume, repeated requests. IDS logs alone can prove an attack, even if the content is encrypted or unknown.</a:t>
            </a:r>
            <a:endParaRPr lang="en-US" dirty="0"/>
          </a:p>
        </p:txBody>
      </p:sp>
    </p:spTree>
    <p:extLst>
      <p:ext uri="{BB962C8B-B14F-4D97-AF65-F5344CB8AC3E}">
        <p14:creationId xmlns:p14="http://schemas.microsoft.com/office/powerpoint/2010/main" val="1277113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This was a nation-state attack on the Ukraine electricity grid. The attackers didn’t use typical hacking tricks. They controlled power systems remotely. IDS didn’t detect malware; it detected unusual industrial commands being sent at midnight. Tracking wasn’t about malware signatures, it was about abnormal network </a:t>
            </a:r>
            <a:r>
              <a:rPr lang="en-ID" dirty="0" err="1"/>
              <a:t>behavior</a:t>
            </a:r>
            <a:r>
              <a:rPr lang="en-ID" dirty="0"/>
              <a:t> in control systems.</a:t>
            </a:r>
          </a:p>
          <a:p>
            <a:endParaRPr lang="en-ID" dirty="0"/>
          </a:p>
          <a:p>
            <a:r>
              <a:rPr lang="en-ID" dirty="0"/>
              <a:t>This teaches us that tracking intruders can mean tracking unusual protocol usage. We don’t always follow malware. Sometimes we follow suspicious commands that shouldn’t be executed at that time or from that location.</a:t>
            </a:r>
            <a:endParaRPr lang="en-US" dirty="0"/>
          </a:p>
        </p:txBody>
      </p:sp>
    </p:spTree>
    <p:extLst>
      <p:ext uri="{BB962C8B-B14F-4D97-AF65-F5344CB8AC3E}">
        <p14:creationId xmlns:p14="http://schemas.microsoft.com/office/powerpoint/2010/main" val="3905805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In the SolarWinds breach, thousands of companies installed a compromised update. The malware looked normal to signature systems. It blended in. What revealed the attack were small, repetitive API connections going out at unusual times. Anomaly detection flagged the strange traffic </a:t>
            </a:r>
            <a:r>
              <a:rPr lang="en-ID" dirty="0" err="1"/>
              <a:t>behavior</a:t>
            </a:r>
            <a:r>
              <a:rPr lang="en-ID" dirty="0"/>
              <a:t>.</a:t>
            </a:r>
          </a:p>
          <a:p>
            <a:endParaRPr lang="en-ID" dirty="0"/>
          </a:p>
          <a:p>
            <a:r>
              <a:rPr lang="en-ID" dirty="0"/>
              <a:t>This case shows that some intrusions look ordinary. They hide inside normal </a:t>
            </a:r>
            <a:r>
              <a:rPr lang="en-ID" dirty="0" err="1"/>
              <a:t>behavior</a:t>
            </a:r>
            <a:r>
              <a:rPr lang="en-ID" dirty="0"/>
              <a:t>. The only way to detect them is to monitor what’s normal and alert when it changes in a subtle way.</a:t>
            </a:r>
            <a:endParaRPr lang="en-US" dirty="0"/>
          </a:p>
        </p:txBody>
      </p:sp>
    </p:spTree>
    <p:extLst>
      <p:ext uri="{BB962C8B-B14F-4D97-AF65-F5344CB8AC3E}">
        <p14:creationId xmlns:p14="http://schemas.microsoft.com/office/powerpoint/2010/main" val="2261880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Tokopedia lost user data not through system hacking, but through misuse of valid logins. IDS logs flagged abnormal login attempts from foreign IPs, many failed attempts, and then unusual data exports. The attacker didn’t break the system; they abused access.</a:t>
            </a:r>
          </a:p>
          <a:p>
            <a:endParaRPr lang="en-ID" dirty="0"/>
          </a:p>
          <a:p>
            <a:r>
              <a:rPr lang="en-ID" dirty="0"/>
              <a:t>This case teaches us that intrusions don’t always involve exploits or malware. Sometimes legitimate features are misused in abnormal ways. IDS logs become forensic proof even if nothing was technically hacked.</a:t>
            </a:r>
          </a:p>
          <a:p>
            <a:endParaRPr lang="en-ID" dirty="0"/>
          </a:p>
          <a:p>
            <a:endParaRPr lang="en-US" dirty="0"/>
          </a:p>
        </p:txBody>
      </p:sp>
    </p:spTree>
    <p:extLst>
      <p:ext uri="{BB962C8B-B14F-4D97-AF65-F5344CB8AC3E}">
        <p14:creationId xmlns:p14="http://schemas.microsoft.com/office/powerpoint/2010/main" val="75262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You now understand how tracking works and how IDS helps. Work with your group and answer the four questions. Be direct and short. Use logic, not assumptions. Think like forensic analysts, not programmers.</a:t>
            </a:r>
          </a:p>
          <a:p>
            <a:endParaRPr lang="en-ID" dirty="0"/>
          </a:p>
          <a:p>
            <a:r>
              <a:rPr lang="en-ID" dirty="0"/>
              <a:t>The important idea is that </a:t>
            </a:r>
            <a:r>
              <a:rPr lang="en-ID" dirty="0" err="1"/>
              <a:t>behavior</a:t>
            </a:r>
            <a:r>
              <a:rPr lang="en-ID" dirty="0"/>
              <a:t> proves attacks. IDS shows actions, not identities. IPS is useful for blocking, but IDS is more valuable when collecting evidence.</a:t>
            </a:r>
          </a:p>
          <a:p>
            <a:endParaRPr lang="en-ID" dirty="0"/>
          </a:p>
          <a:p>
            <a:endParaRPr lang="en-US" dirty="0"/>
          </a:p>
        </p:txBody>
      </p:sp>
    </p:spTree>
    <p:extLst>
      <p:ext uri="{BB962C8B-B14F-4D97-AF65-F5344CB8AC3E}">
        <p14:creationId xmlns:p14="http://schemas.microsoft.com/office/powerpoint/2010/main" val="3122814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 close: We track </a:t>
            </a:r>
            <a:r>
              <a:rPr lang="en-ID" dirty="0" err="1"/>
              <a:t>behavior</a:t>
            </a:r>
            <a:r>
              <a:rPr lang="en-ID" dirty="0"/>
              <a:t>, not people. IDS gives evidence, IPS prevents but records less. Signatures are good for known attacks; anomalies catch the new ones. Sometimes, like in DDoS cases, </a:t>
            </a:r>
            <a:r>
              <a:rPr lang="en-ID" dirty="0" err="1"/>
              <a:t>behavior</a:t>
            </a:r>
            <a:r>
              <a:rPr lang="en-ID" dirty="0"/>
              <a:t> alone proves the crime. That’s the core of network intrusion forensics.</a:t>
            </a:r>
            <a:endParaRPr lang="en-US" dirty="0"/>
          </a:p>
        </p:txBody>
      </p:sp>
    </p:spTree>
    <p:extLst>
      <p:ext uri="{BB962C8B-B14F-4D97-AF65-F5344CB8AC3E}">
        <p14:creationId xmlns:p14="http://schemas.microsoft.com/office/powerpoint/2010/main" val="26927339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Aptos" panose="020B0004020202020204" pitchFamily="34"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Aptos" panose="020B0004020202020204" pitchFamily="34"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atin typeface="Aptos" panose="020B0004020202020204" pitchFamily="34" charset="0"/>
              </a:defRPr>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4000" b="0" i="0" u="none" strike="noStrike" cap="none"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004301" cy="3579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latin typeface="Aptos" panose="020B0004020202020204" pitchFamily="34" charset="0"/>
              </a:rPr>
              <a:t>SUBJECT MATTER EXPERT</a:t>
            </a:r>
            <a:endParaRPr sz="2800" b="1" dirty="0">
              <a:latin typeface="Aptos" panose="020B0004020202020204" pitchFamily="34" charset="0"/>
            </a:endParaRPr>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D645C5F-9B49-0817-CC1A-84282EE4AA25}"/>
              </a:ext>
            </a:extLst>
          </p:cNvPr>
          <p:cNvSpPr>
            <a:spLocks noGrp="1"/>
          </p:cNvSpPr>
          <p:nvPr>
            <p:ph type="title"/>
          </p:nvPr>
        </p:nvSpPr>
        <p:spPr>
          <a:xfrm>
            <a:off x="1206500" y="475488"/>
            <a:ext cx="19392118" cy="2037175"/>
          </a:xfrm>
        </p:spPr>
        <p:txBody>
          <a:bodyPr anchor="ctr"/>
          <a:lstStyle>
            <a:lvl1pPr>
              <a:lnSpc>
                <a:spcPct val="100000"/>
              </a:lnSpc>
              <a:defRPr b="0">
                <a:latin typeface="Aptos" panose="020B0004020202020204" pitchFamily="34" charset="0"/>
              </a:defRPr>
            </a:lvl1pPr>
          </a:lstStyle>
          <a:p>
            <a:r>
              <a:rPr lang="en-US" dirty="0"/>
              <a:t>Click to edit Master title style</a:t>
            </a:r>
          </a:p>
        </p:txBody>
      </p:sp>
      <p:sp>
        <p:nvSpPr>
          <p:cNvPr id="19" name="Content Placeholder 2">
            <a:extLst>
              <a:ext uri="{FF2B5EF4-FFF2-40B4-BE49-F238E27FC236}">
                <a16:creationId xmlns:a16="http://schemas.microsoft.com/office/drawing/2014/main" id="{40B82B85-5AAA-4DD4-23B6-327BBDEF4180}"/>
              </a:ext>
            </a:extLst>
          </p:cNvPr>
          <p:cNvSpPr>
            <a:spLocks noGrp="1"/>
          </p:cNvSpPr>
          <p:nvPr>
            <p:ph idx="1"/>
          </p:nvPr>
        </p:nvSpPr>
        <p:spPr>
          <a:xfrm>
            <a:off x="1206500" y="2779776"/>
            <a:ext cx="21971000" cy="10460736"/>
          </a:xfrm>
        </p:spPr>
        <p:txBody>
          <a:bodyPr/>
          <a:lstStyle>
            <a:lvl1pPr>
              <a:lnSpc>
                <a:spcPct val="150000"/>
              </a:lnSpc>
              <a:spcBef>
                <a:spcPts val="0"/>
              </a:spcBef>
              <a:defRPr>
                <a:latin typeface="Aptos" panose="020B0004020202020204" pitchFamily="34" charset="0"/>
              </a:defRPr>
            </a:lvl1pPr>
            <a:lvl2pPr>
              <a:lnSpc>
                <a:spcPct val="150000"/>
              </a:lnSpc>
              <a:spcBef>
                <a:spcPts val="0"/>
              </a:spcBef>
              <a:defRPr>
                <a:latin typeface="Aptos" panose="020B0004020202020204" pitchFamily="34" charset="0"/>
              </a:defRPr>
            </a:lvl2pPr>
            <a:lvl3pPr>
              <a:lnSpc>
                <a:spcPct val="150000"/>
              </a:lnSpc>
              <a:spcBef>
                <a:spcPts val="0"/>
              </a:spcBef>
              <a:defRPr>
                <a:latin typeface="Aptos" panose="020B0004020202020204" pitchFamily="34" charset="0"/>
              </a:defRPr>
            </a:lvl3pPr>
            <a:lvl4pPr>
              <a:lnSpc>
                <a:spcPct val="150000"/>
              </a:lnSpc>
              <a:spcBef>
                <a:spcPts val="0"/>
              </a:spcBef>
              <a:defRPr>
                <a:latin typeface="Aptos" panose="020B0004020202020204" pitchFamily="34" charset="0"/>
              </a:defRPr>
            </a:lvl4pPr>
            <a:lvl5pPr>
              <a:lnSpc>
                <a:spcPct val="150000"/>
              </a:lnSpc>
              <a:spcBef>
                <a:spcPts val="0"/>
              </a:spcBef>
              <a:defRPr>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AutoShape 2">
            <a:extLst>
              <a:ext uri="{FF2B5EF4-FFF2-40B4-BE49-F238E27FC236}">
                <a16:creationId xmlns:a16="http://schemas.microsoft.com/office/drawing/2014/main" id="{A79DAF52-7079-D27A-6999-F8755F55C307}"/>
              </a:ext>
            </a:extLst>
          </p:cNvPr>
          <p:cNvSpPr>
            <a:spLocks noChangeAspect="1" noChangeArrowheads="1"/>
          </p:cNvSpPr>
          <p:nvPr userDrawn="1"/>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B84D2750-83A7-0E8A-991D-531C92146EE0}"/>
              </a:ext>
            </a:extLst>
          </p:cNvPr>
          <p:cNvSpPr/>
          <p:nvPr userDrawn="1"/>
        </p:nvSpPr>
        <p:spPr>
          <a:xfrm>
            <a:off x="0" y="13386985"/>
            <a:ext cx="24384000" cy="326827"/>
          </a:xfrm>
          <a:prstGeom prst="rect">
            <a:avLst/>
          </a:prstGeom>
          <a:solidFill>
            <a:srgbClr val="2554A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4" name="Picture 13" descr="A black background with blue text&#10;&#10;Description automatically generated">
            <a:extLst>
              <a:ext uri="{FF2B5EF4-FFF2-40B4-BE49-F238E27FC236}">
                <a16:creationId xmlns:a16="http://schemas.microsoft.com/office/drawing/2014/main" id="{97484277-1919-EC7C-A06C-AB36A5E0C4C2}"/>
              </a:ext>
            </a:extLst>
          </p:cNvPr>
          <p:cNvPicPr>
            <a:picLocks noChangeAspect="1"/>
          </p:cNvPicPr>
          <p:nvPr userDrawn="1"/>
        </p:nvPicPr>
        <p:blipFill>
          <a:blip r:embed="rId2">
            <a:extLst>
              <a:ext uri="{28A0092B-C50C-407E-A947-70E740481C1C}">
                <a14:useLocalDpi xmlns:a14="http://schemas.microsoft.com/office/drawing/2010/main" val="0"/>
              </a:ext>
            </a:extLst>
          </a:blip>
          <a:srcRect r="67194"/>
          <a:stretch/>
        </p:blipFill>
        <p:spPr>
          <a:xfrm>
            <a:off x="21098107" y="676211"/>
            <a:ext cx="2079393" cy="1642606"/>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sz="5400" dirty="0"/>
              <a:t>COMP6348001</a:t>
            </a:r>
          </a:p>
          <a:p>
            <a:r>
              <a:rPr lang="en-US" sz="5400" dirty="0"/>
              <a:t>Network Forensics</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Autofit/>
          </a:bodyPr>
          <a:lstStyle/>
          <a:p>
            <a:pPr>
              <a:lnSpc>
                <a:spcPct val="100000"/>
              </a:lnSpc>
            </a:pPr>
            <a:r>
              <a:rPr lang="en-US" sz="11500" dirty="0"/>
              <a:t>Tracking Intruders &amp; Understanding IDS/IPS</a:t>
            </a:r>
            <a:endParaRPr lang="en-US" sz="34400"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Dr. Don</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BF5A-0B8E-0DB7-8E73-85F9B439EB55}"/>
              </a:ext>
            </a:extLst>
          </p:cNvPr>
          <p:cNvSpPr>
            <a:spLocks noGrp="1"/>
          </p:cNvSpPr>
          <p:nvPr>
            <p:ph type="title"/>
          </p:nvPr>
        </p:nvSpPr>
        <p:spPr/>
        <p:txBody>
          <a:bodyPr>
            <a:normAutofit/>
          </a:bodyPr>
          <a:lstStyle/>
          <a:p>
            <a:r>
              <a:rPr lang="en-ID" dirty="0"/>
              <a:t>Learning Objectives</a:t>
            </a:r>
            <a:endParaRPr lang="en-US" dirty="0"/>
          </a:p>
        </p:txBody>
      </p:sp>
      <p:sp>
        <p:nvSpPr>
          <p:cNvPr id="3" name="Content Placeholder 2">
            <a:extLst>
              <a:ext uri="{FF2B5EF4-FFF2-40B4-BE49-F238E27FC236}">
                <a16:creationId xmlns:a16="http://schemas.microsoft.com/office/drawing/2014/main" id="{9EAABDB9-8181-FE10-C3FA-42BE1DE36948}"/>
              </a:ext>
            </a:extLst>
          </p:cNvPr>
          <p:cNvSpPr>
            <a:spLocks noGrp="1"/>
          </p:cNvSpPr>
          <p:nvPr>
            <p:ph idx="1"/>
          </p:nvPr>
        </p:nvSpPr>
        <p:spPr/>
        <p:txBody>
          <a:bodyPr>
            <a:normAutofit/>
          </a:bodyPr>
          <a:lstStyle/>
          <a:p>
            <a:r>
              <a:rPr lang="en-ID" dirty="0"/>
              <a:t>After this session, students will be able to:</a:t>
            </a:r>
          </a:p>
          <a:p>
            <a:pPr>
              <a:buFont typeface="Arial" panose="020B0604020202020204" pitchFamily="34" charset="0"/>
              <a:buChar char="•"/>
            </a:pPr>
            <a:r>
              <a:rPr lang="en-ID" dirty="0"/>
              <a:t>Explain how intruders can be traced using network forensic footprints.</a:t>
            </a:r>
          </a:p>
          <a:p>
            <a:pPr>
              <a:buFont typeface="Arial" panose="020B0604020202020204" pitchFamily="34" charset="0"/>
              <a:buChar char="•"/>
            </a:pPr>
            <a:r>
              <a:rPr lang="en-ID" dirty="0"/>
              <a:t>Understand IDS/IPS roles in network intrusion detection.</a:t>
            </a:r>
          </a:p>
          <a:p>
            <a:pPr>
              <a:buFont typeface="Arial" panose="020B0604020202020204" pitchFamily="34" charset="0"/>
              <a:buChar char="•"/>
            </a:pPr>
            <a:r>
              <a:rPr lang="en-ID" dirty="0"/>
              <a:t>Differentiate signature-based and anomaly-based detection.</a:t>
            </a:r>
          </a:p>
          <a:p>
            <a:pPr>
              <a:buFont typeface="Arial" panose="020B0604020202020204" pitchFamily="34" charset="0"/>
              <a:buChar char="•"/>
            </a:pPr>
            <a:r>
              <a:rPr lang="en-ID" dirty="0"/>
              <a:t>Evaluate real intrusion cases using IDS-based forensic evidence.</a:t>
            </a:r>
          </a:p>
        </p:txBody>
      </p:sp>
    </p:spTree>
    <p:extLst>
      <p:ext uri="{BB962C8B-B14F-4D97-AF65-F5344CB8AC3E}">
        <p14:creationId xmlns:p14="http://schemas.microsoft.com/office/powerpoint/2010/main" val="12101298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BB23-AD61-8F2C-17CF-A0247C8C717E}"/>
              </a:ext>
            </a:extLst>
          </p:cNvPr>
          <p:cNvSpPr>
            <a:spLocks noGrp="1"/>
          </p:cNvSpPr>
          <p:nvPr>
            <p:ph type="title"/>
          </p:nvPr>
        </p:nvSpPr>
        <p:spPr/>
        <p:txBody>
          <a:bodyPr/>
          <a:lstStyle/>
          <a:p>
            <a:r>
              <a:rPr lang="en-ID" dirty="0"/>
              <a:t>Tracking Intruders: What Does It Mean?</a:t>
            </a:r>
            <a:endParaRPr lang="en-US" dirty="0"/>
          </a:p>
        </p:txBody>
      </p:sp>
      <p:sp>
        <p:nvSpPr>
          <p:cNvPr id="6" name="Content Placeholder 5">
            <a:extLst>
              <a:ext uri="{FF2B5EF4-FFF2-40B4-BE49-F238E27FC236}">
                <a16:creationId xmlns:a16="http://schemas.microsoft.com/office/drawing/2014/main" id="{7BAADC39-1346-73AE-C634-35475B8E0915}"/>
              </a:ext>
            </a:extLst>
          </p:cNvPr>
          <p:cNvSpPr>
            <a:spLocks noGrp="1"/>
          </p:cNvSpPr>
          <p:nvPr>
            <p:ph idx="1"/>
          </p:nvPr>
        </p:nvSpPr>
        <p:spPr/>
        <p:txBody>
          <a:bodyPr/>
          <a:lstStyle/>
          <a:p>
            <a:pPr marL="0" indent="0">
              <a:buNone/>
            </a:pPr>
            <a:r>
              <a:rPr lang="en-ID" dirty="0"/>
              <a:t>Tracking = understanding the attacker’s </a:t>
            </a:r>
            <a:r>
              <a:rPr lang="en-ID" b="1" dirty="0"/>
              <a:t>network </a:t>
            </a:r>
            <a:r>
              <a:rPr lang="en-ID" b="1" dirty="0" err="1"/>
              <a:t>behavior</a:t>
            </a:r>
            <a:r>
              <a:rPr lang="en-ID" dirty="0"/>
              <a:t>, not identity.</a:t>
            </a:r>
            <a:br>
              <a:rPr lang="en-ID" dirty="0"/>
            </a:br>
            <a:r>
              <a:rPr lang="en-ID" dirty="0"/>
              <a:t>Focus on:</a:t>
            </a:r>
          </a:p>
          <a:p>
            <a:pPr>
              <a:buFont typeface="Arial" panose="020B0604020202020204" pitchFamily="34" charset="0"/>
              <a:buChar char="•"/>
            </a:pPr>
            <a:r>
              <a:rPr lang="en-ID" dirty="0"/>
              <a:t>Entry point</a:t>
            </a:r>
          </a:p>
          <a:p>
            <a:pPr>
              <a:buFont typeface="Arial" panose="020B0604020202020204" pitchFamily="34" charset="0"/>
              <a:buChar char="•"/>
            </a:pPr>
            <a:r>
              <a:rPr lang="en-ID" dirty="0"/>
              <a:t>Activities performed</a:t>
            </a:r>
          </a:p>
          <a:p>
            <a:pPr>
              <a:buFont typeface="Arial" panose="020B0604020202020204" pitchFamily="34" charset="0"/>
              <a:buChar char="•"/>
            </a:pPr>
            <a:r>
              <a:rPr lang="en-ID" dirty="0"/>
              <a:t>Movement across systems</a:t>
            </a:r>
          </a:p>
          <a:p>
            <a:pPr>
              <a:buFont typeface="Arial" panose="020B0604020202020204" pitchFamily="34" charset="0"/>
              <a:buChar char="•"/>
            </a:pPr>
            <a:r>
              <a:rPr lang="en-ID" dirty="0"/>
              <a:t>Evidence left behind</a:t>
            </a:r>
          </a:p>
          <a:p>
            <a:pPr>
              <a:buFont typeface="Arial" panose="020B0604020202020204" pitchFamily="34" charset="0"/>
              <a:buChar char="•"/>
            </a:pPr>
            <a:r>
              <a:rPr lang="en-ID" dirty="0"/>
              <a:t>Network impact (data, service disruption)</a:t>
            </a:r>
          </a:p>
          <a:p>
            <a:pPr marL="0" indent="0" algn="ctr">
              <a:buNone/>
            </a:pPr>
            <a:endParaRPr lang="en-ID" b="1" dirty="0"/>
          </a:p>
          <a:p>
            <a:pPr marL="0" indent="0" algn="ctr">
              <a:buNone/>
            </a:pPr>
            <a:r>
              <a:rPr lang="en-ID" b="1" dirty="0"/>
              <a:t>We track actions, not the hacker’s real name.</a:t>
            </a:r>
            <a:endParaRPr lang="en-ID" dirty="0"/>
          </a:p>
          <a:p>
            <a:endParaRPr lang="en-US" dirty="0"/>
          </a:p>
        </p:txBody>
      </p:sp>
    </p:spTree>
    <p:extLst>
      <p:ext uri="{BB962C8B-B14F-4D97-AF65-F5344CB8AC3E}">
        <p14:creationId xmlns:p14="http://schemas.microsoft.com/office/powerpoint/2010/main" val="32730490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BCBC3-A993-5013-4DF2-1C3120296BFA}"/>
              </a:ext>
            </a:extLst>
          </p:cNvPr>
          <p:cNvSpPr>
            <a:spLocks noGrp="1"/>
          </p:cNvSpPr>
          <p:nvPr>
            <p:ph type="title"/>
          </p:nvPr>
        </p:nvSpPr>
        <p:spPr/>
        <p:txBody>
          <a:bodyPr/>
          <a:lstStyle/>
          <a:p>
            <a:r>
              <a:rPr lang="en-ID" dirty="0"/>
              <a:t>Common Forensic Indicators of Intruders</a:t>
            </a:r>
            <a:endParaRPr lang="en-US" dirty="0"/>
          </a:p>
        </p:txBody>
      </p:sp>
      <p:sp>
        <p:nvSpPr>
          <p:cNvPr id="3" name="Content Placeholder 2">
            <a:extLst>
              <a:ext uri="{FF2B5EF4-FFF2-40B4-BE49-F238E27FC236}">
                <a16:creationId xmlns:a16="http://schemas.microsoft.com/office/drawing/2014/main" id="{A5858997-2C04-8636-2EC4-D0FFB803884D}"/>
              </a:ext>
            </a:extLst>
          </p:cNvPr>
          <p:cNvSpPr>
            <a:spLocks noGrp="1"/>
          </p:cNvSpPr>
          <p:nvPr>
            <p:ph idx="1"/>
          </p:nvPr>
        </p:nvSpPr>
        <p:spPr/>
        <p:txBody>
          <a:bodyPr/>
          <a:lstStyle/>
          <a:p>
            <a:pPr>
              <a:buFont typeface="Arial" panose="020B0604020202020204" pitchFamily="34" charset="0"/>
              <a:buChar char="•"/>
            </a:pPr>
            <a:r>
              <a:rPr lang="en-ID" dirty="0"/>
              <a:t>Unusual or unused ports</a:t>
            </a:r>
          </a:p>
          <a:p>
            <a:pPr>
              <a:buFont typeface="Arial" panose="020B0604020202020204" pitchFamily="34" charset="0"/>
              <a:buChar char="•"/>
            </a:pPr>
            <a:r>
              <a:rPr lang="en-ID" dirty="0"/>
              <a:t>Suspicious external IP origin</a:t>
            </a:r>
          </a:p>
          <a:p>
            <a:pPr>
              <a:buFont typeface="Arial" panose="020B0604020202020204" pitchFamily="34" charset="0"/>
              <a:buChar char="•"/>
            </a:pPr>
            <a:r>
              <a:rPr lang="en-ID" dirty="0"/>
              <a:t>Sudden bandwidth spike</a:t>
            </a:r>
          </a:p>
          <a:p>
            <a:pPr>
              <a:buFont typeface="Arial" panose="020B0604020202020204" pitchFamily="34" charset="0"/>
              <a:buChar char="•"/>
            </a:pPr>
            <a:r>
              <a:rPr lang="en-ID" dirty="0"/>
              <a:t>Frequent failed logins</a:t>
            </a:r>
          </a:p>
          <a:p>
            <a:pPr>
              <a:buFont typeface="Arial" panose="020B0604020202020204" pitchFamily="34" charset="0"/>
              <a:buChar char="•"/>
            </a:pPr>
            <a:r>
              <a:rPr lang="en-ID" dirty="0"/>
              <a:t>Protocol misuse (DNS </a:t>
            </a:r>
            <a:r>
              <a:rPr lang="en-ID" dirty="0" err="1"/>
              <a:t>tunneling</a:t>
            </a:r>
            <a:r>
              <a:rPr lang="en-ID" dirty="0"/>
              <a:t>, FTP misuse)</a:t>
            </a:r>
          </a:p>
          <a:p>
            <a:pPr>
              <a:buFont typeface="Arial" panose="020B0604020202020204" pitchFamily="34" charset="0"/>
              <a:buChar char="•"/>
            </a:pPr>
            <a:r>
              <a:rPr lang="en-ID" dirty="0"/>
              <a:t>Repeated identical connections (bot traffic)</a:t>
            </a:r>
          </a:p>
          <a:p>
            <a:pPr>
              <a:buFont typeface="Arial" panose="020B0604020202020204" pitchFamily="34" charset="0"/>
              <a:buChar char="•"/>
            </a:pPr>
            <a:r>
              <a:rPr lang="en-ID" dirty="0"/>
              <a:t>Irregular session duration or frequency</a:t>
            </a:r>
          </a:p>
          <a:p>
            <a:pPr marL="0" indent="0">
              <a:buNone/>
            </a:pPr>
            <a:endParaRPr lang="en-ID" i="1" dirty="0"/>
          </a:p>
          <a:p>
            <a:pPr marL="0" indent="0" algn="ctr">
              <a:buNone/>
            </a:pPr>
            <a:r>
              <a:rPr lang="en-ID" b="1" i="1" dirty="0"/>
              <a:t>We “follow patterns,” not people.</a:t>
            </a:r>
            <a:endParaRPr lang="en-ID" b="1" dirty="0"/>
          </a:p>
          <a:p>
            <a:endParaRPr lang="en-US" dirty="0"/>
          </a:p>
        </p:txBody>
      </p:sp>
    </p:spTree>
    <p:extLst>
      <p:ext uri="{BB962C8B-B14F-4D97-AF65-F5344CB8AC3E}">
        <p14:creationId xmlns:p14="http://schemas.microsoft.com/office/powerpoint/2010/main" val="24046557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E917-85A3-70E2-B5D4-7609919C671C}"/>
              </a:ext>
            </a:extLst>
          </p:cNvPr>
          <p:cNvSpPr>
            <a:spLocks noGrp="1"/>
          </p:cNvSpPr>
          <p:nvPr>
            <p:ph type="title"/>
          </p:nvPr>
        </p:nvSpPr>
        <p:spPr/>
        <p:txBody>
          <a:bodyPr>
            <a:normAutofit fontScale="90000"/>
          </a:bodyPr>
          <a:lstStyle/>
          <a:p>
            <a:r>
              <a:rPr lang="en-ID" dirty="0"/>
              <a:t>Network Intrusion Detection Systems (NIDS)</a:t>
            </a:r>
            <a:endParaRPr lang="en-US" dirty="0"/>
          </a:p>
        </p:txBody>
      </p:sp>
      <p:sp>
        <p:nvSpPr>
          <p:cNvPr id="3" name="Content Placeholder 2">
            <a:extLst>
              <a:ext uri="{FF2B5EF4-FFF2-40B4-BE49-F238E27FC236}">
                <a16:creationId xmlns:a16="http://schemas.microsoft.com/office/drawing/2014/main" id="{3F0333ED-F12E-45F4-16F4-9B579097289C}"/>
              </a:ext>
            </a:extLst>
          </p:cNvPr>
          <p:cNvSpPr>
            <a:spLocks noGrp="1"/>
          </p:cNvSpPr>
          <p:nvPr>
            <p:ph idx="1"/>
          </p:nvPr>
        </p:nvSpPr>
        <p:spPr/>
        <p:txBody>
          <a:bodyPr/>
          <a:lstStyle/>
          <a:p>
            <a:r>
              <a:rPr lang="en-ID" dirty="0"/>
              <a:t>Monitors network traffic </a:t>
            </a:r>
            <a:r>
              <a:rPr lang="en-ID" b="1" dirty="0"/>
              <a:t>passively</a:t>
            </a:r>
            <a:r>
              <a:rPr lang="en-ID" dirty="0"/>
              <a:t>.</a:t>
            </a:r>
          </a:p>
          <a:p>
            <a:r>
              <a:rPr lang="en-ID" dirty="0"/>
              <a:t>Provides </a:t>
            </a:r>
            <a:r>
              <a:rPr lang="en-ID" b="1" dirty="0"/>
              <a:t>forensic logs, alerts &amp; patterns.</a:t>
            </a:r>
            <a:endParaRPr lang="en-ID" dirty="0"/>
          </a:p>
          <a:p>
            <a:r>
              <a:rPr lang="en-ID" b="1" dirty="0"/>
              <a:t>Uses:</a:t>
            </a:r>
            <a:endParaRPr lang="en-ID" dirty="0"/>
          </a:p>
          <a:p>
            <a:pPr lvl="1">
              <a:buFont typeface="Arial" panose="020B0604020202020204" pitchFamily="34" charset="0"/>
              <a:buChar char="•"/>
            </a:pPr>
            <a:r>
              <a:rPr lang="en-ID" dirty="0"/>
              <a:t>Record attack attempts</a:t>
            </a:r>
          </a:p>
          <a:p>
            <a:pPr lvl="1">
              <a:buFont typeface="Arial" panose="020B0604020202020204" pitchFamily="34" charset="0"/>
              <a:buChar char="•"/>
            </a:pPr>
            <a:r>
              <a:rPr lang="en-ID" dirty="0"/>
              <a:t>Detect abnormal traffic </a:t>
            </a:r>
            <a:r>
              <a:rPr lang="en-ID" dirty="0" err="1"/>
              <a:t>behavior</a:t>
            </a:r>
            <a:endParaRPr lang="en-ID" dirty="0"/>
          </a:p>
          <a:p>
            <a:pPr lvl="1">
              <a:buFont typeface="Arial" panose="020B0604020202020204" pitchFamily="34" charset="0"/>
              <a:buChar char="•"/>
            </a:pPr>
            <a:r>
              <a:rPr lang="en-ID" dirty="0"/>
              <a:t>Provide forensic evidence of compromise</a:t>
            </a:r>
          </a:p>
          <a:p>
            <a:endParaRPr lang="en-US" dirty="0"/>
          </a:p>
        </p:txBody>
      </p:sp>
    </p:spTree>
    <p:extLst>
      <p:ext uri="{BB962C8B-B14F-4D97-AF65-F5344CB8AC3E}">
        <p14:creationId xmlns:p14="http://schemas.microsoft.com/office/powerpoint/2010/main" val="9079857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0975-A807-F96E-A43E-3AB3F7AFD6E1}"/>
              </a:ext>
            </a:extLst>
          </p:cNvPr>
          <p:cNvSpPr>
            <a:spLocks noGrp="1"/>
          </p:cNvSpPr>
          <p:nvPr>
            <p:ph type="title"/>
          </p:nvPr>
        </p:nvSpPr>
        <p:spPr/>
        <p:txBody>
          <a:bodyPr>
            <a:normAutofit fontScale="90000"/>
          </a:bodyPr>
          <a:lstStyle/>
          <a:p>
            <a:r>
              <a:rPr lang="en-ID" dirty="0"/>
              <a:t>Network Intrusion Prevention Systems (NIPS)</a:t>
            </a:r>
            <a:endParaRPr lang="en-US" dirty="0"/>
          </a:p>
        </p:txBody>
      </p:sp>
      <p:graphicFrame>
        <p:nvGraphicFramePr>
          <p:cNvPr id="4" name="Content Placeholder 3">
            <a:extLst>
              <a:ext uri="{FF2B5EF4-FFF2-40B4-BE49-F238E27FC236}">
                <a16:creationId xmlns:a16="http://schemas.microsoft.com/office/drawing/2014/main" id="{3040321B-CFE8-08C9-B9E7-E90462028105}"/>
              </a:ext>
            </a:extLst>
          </p:cNvPr>
          <p:cNvGraphicFramePr>
            <a:graphicFrameLocks noGrp="1"/>
          </p:cNvGraphicFramePr>
          <p:nvPr>
            <p:ph idx="1"/>
            <p:extLst>
              <p:ext uri="{D42A27DB-BD31-4B8C-83A1-F6EECF244321}">
                <p14:modId xmlns:p14="http://schemas.microsoft.com/office/powerpoint/2010/main" val="3344592742"/>
              </p:ext>
            </p:extLst>
          </p:nvPr>
        </p:nvGraphicFramePr>
        <p:xfrm>
          <a:off x="3980859" y="5577840"/>
          <a:ext cx="16422281" cy="2736000"/>
        </p:xfrm>
        <a:graphic>
          <a:graphicData uri="http://schemas.openxmlformats.org/drawingml/2006/table">
            <a:tbl>
              <a:tblPr>
                <a:tableStyleId>{4C3C2611-4C71-4FC5-86AE-919BDF0F9419}</a:tableStyleId>
              </a:tblPr>
              <a:tblGrid>
                <a:gridCol w="4513816">
                  <a:extLst>
                    <a:ext uri="{9D8B030D-6E8A-4147-A177-3AD203B41FA5}">
                      <a16:colId xmlns:a16="http://schemas.microsoft.com/office/drawing/2014/main" val="3008337183"/>
                    </a:ext>
                  </a:extLst>
                </a:gridCol>
                <a:gridCol w="4614531">
                  <a:extLst>
                    <a:ext uri="{9D8B030D-6E8A-4147-A177-3AD203B41FA5}">
                      <a16:colId xmlns:a16="http://schemas.microsoft.com/office/drawing/2014/main" val="1685301238"/>
                    </a:ext>
                  </a:extLst>
                </a:gridCol>
                <a:gridCol w="7293934">
                  <a:extLst>
                    <a:ext uri="{9D8B030D-6E8A-4147-A177-3AD203B41FA5}">
                      <a16:colId xmlns:a16="http://schemas.microsoft.com/office/drawing/2014/main" val="3426667861"/>
                    </a:ext>
                  </a:extLst>
                </a:gridCol>
              </a:tblGrid>
              <a:tr h="684000">
                <a:tc>
                  <a:txBody>
                    <a:bodyPr/>
                    <a:lstStyle/>
                    <a:p>
                      <a:r>
                        <a:rPr lang="en-ID" sz="2800" b="1" dirty="0"/>
                        <a:t>Feature</a:t>
                      </a:r>
                    </a:p>
                  </a:txBody>
                  <a:tcPr anchor="ctr"/>
                </a:tc>
                <a:tc>
                  <a:txBody>
                    <a:bodyPr/>
                    <a:lstStyle/>
                    <a:p>
                      <a:r>
                        <a:rPr lang="en-ID" sz="2800" b="1" dirty="0"/>
                        <a:t>IDS</a:t>
                      </a:r>
                    </a:p>
                  </a:txBody>
                  <a:tcPr anchor="ctr"/>
                </a:tc>
                <a:tc>
                  <a:txBody>
                    <a:bodyPr/>
                    <a:lstStyle/>
                    <a:p>
                      <a:r>
                        <a:rPr lang="en-ID" sz="2800" b="1" dirty="0"/>
                        <a:t>IPS</a:t>
                      </a:r>
                    </a:p>
                  </a:txBody>
                  <a:tcPr anchor="ctr"/>
                </a:tc>
                <a:extLst>
                  <a:ext uri="{0D108BD9-81ED-4DB2-BD59-A6C34878D82A}">
                    <a16:rowId xmlns:a16="http://schemas.microsoft.com/office/drawing/2014/main" val="2191780380"/>
                  </a:ext>
                </a:extLst>
              </a:tr>
              <a:tr h="684000">
                <a:tc>
                  <a:txBody>
                    <a:bodyPr/>
                    <a:lstStyle/>
                    <a:p>
                      <a:pPr algn="l"/>
                      <a:r>
                        <a:rPr lang="en-ID" sz="2400" dirty="0"/>
                        <a:t>Function</a:t>
                      </a:r>
                    </a:p>
                  </a:txBody>
                  <a:tcPr anchor="ctr"/>
                </a:tc>
                <a:tc>
                  <a:txBody>
                    <a:bodyPr/>
                    <a:lstStyle/>
                    <a:p>
                      <a:pPr algn="l"/>
                      <a:r>
                        <a:rPr lang="en-ID" sz="2400" dirty="0"/>
                        <a:t>Detect</a:t>
                      </a:r>
                    </a:p>
                  </a:txBody>
                  <a:tcPr anchor="ctr"/>
                </a:tc>
                <a:tc>
                  <a:txBody>
                    <a:bodyPr/>
                    <a:lstStyle/>
                    <a:p>
                      <a:pPr algn="l"/>
                      <a:r>
                        <a:rPr lang="en-ID" sz="2400" dirty="0"/>
                        <a:t>Detect + Block</a:t>
                      </a:r>
                    </a:p>
                  </a:txBody>
                  <a:tcPr anchor="ctr"/>
                </a:tc>
                <a:extLst>
                  <a:ext uri="{0D108BD9-81ED-4DB2-BD59-A6C34878D82A}">
                    <a16:rowId xmlns:a16="http://schemas.microsoft.com/office/drawing/2014/main" val="1381111860"/>
                  </a:ext>
                </a:extLst>
              </a:tr>
              <a:tr h="684000">
                <a:tc>
                  <a:txBody>
                    <a:bodyPr/>
                    <a:lstStyle/>
                    <a:p>
                      <a:pPr algn="l"/>
                      <a:r>
                        <a:rPr lang="en-ID" sz="2400" dirty="0"/>
                        <a:t>Placement</a:t>
                      </a:r>
                    </a:p>
                  </a:txBody>
                  <a:tcPr anchor="ctr"/>
                </a:tc>
                <a:tc>
                  <a:txBody>
                    <a:bodyPr/>
                    <a:lstStyle/>
                    <a:p>
                      <a:pPr algn="l"/>
                      <a:r>
                        <a:rPr lang="en-ID" sz="2400"/>
                        <a:t>Passive</a:t>
                      </a:r>
                    </a:p>
                  </a:txBody>
                  <a:tcPr anchor="ctr"/>
                </a:tc>
                <a:tc>
                  <a:txBody>
                    <a:bodyPr/>
                    <a:lstStyle/>
                    <a:p>
                      <a:pPr algn="l"/>
                      <a:r>
                        <a:rPr lang="en-ID" sz="2400" dirty="0"/>
                        <a:t>Inline</a:t>
                      </a:r>
                    </a:p>
                  </a:txBody>
                  <a:tcPr anchor="ctr"/>
                </a:tc>
                <a:extLst>
                  <a:ext uri="{0D108BD9-81ED-4DB2-BD59-A6C34878D82A}">
                    <a16:rowId xmlns:a16="http://schemas.microsoft.com/office/drawing/2014/main" val="2933498422"/>
                  </a:ext>
                </a:extLst>
              </a:tr>
              <a:tr h="684000">
                <a:tc>
                  <a:txBody>
                    <a:bodyPr/>
                    <a:lstStyle/>
                    <a:p>
                      <a:pPr algn="l"/>
                      <a:r>
                        <a:rPr lang="en-ID" sz="2400" dirty="0"/>
                        <a:t>Forensic Value</a:t>
                      </a:r>
                    </a:p>
                  </a:txBody>
                  <a:tcPr anchor="ctr"/>
                </a:tc>
                <a:tc>
                  <a:txBody>
                    <a:bodyPr/>
                    <a:lstStyle/>
                    <a:p>
                      <a:pPr algn="l"/>
                      <a:r>
                        <a:rPr lang="en-ID" sz="2400" dirty="0"/>
                        <a:t>High</a:t>
                      </a:r>
                    </a:p>
                  </a:txBody>
                  <a:tcPr anchor="ctr"/>
                </a:tc>
                <a:tc>
                  <a:txBody>
                    <a:bodyPr/>
                    <a:lstStyle/>
                    <a:p>
                      <a:pPr algn="l"/>
                      <a:r>
                        <a:rPr lang="en-ID" sz="2400" dirty="0"/>
                        <a:t>Medium (focuses on blocking)</a:t>
                      </a:r>
                    </a:p>
                  </a:txBody>
                  <a:tcPr anchor="ctr"/>
                </a:tc>
                <a:extLst>
                  <a:ext uri="{0D108BD9-81ED-4DB2-BD59-A6C34878D82A}">
                    <a16:rowId xmlns:a16="http://schemas.microsoft.com/office/drawing/2014/main" val="4225953349"/>
                  </a:ext>
                </a:extLst>
              </a:tr>
            </a:tbl>
          </a:graphicData>
        </a:graphic>
      </p:graphicFrame>
      <p:sp>
        <p:nvSpPr>
          <p:cNvPr id="6" name="TextBox 5">
            <a:extLst>
              <a:ext uri="{FF2B5EF4-FFF2-40B4-BE49-F238E27FC236}">
                <a16:creationId xmlns:a16="http://schemas.microsoft.com/office/drawing/2014/main" id="{34B7179E-3A95-A156-2647-279BE44493D6}"/>
              </a:ext>
            </a:extLst>
          </p:cNvPr>
          <p:cNvSpPr txBox="1"/>
          <p:nvPr/>
        </p:nvSpPr>
        <p:spPr>
          <a:xfrm>
            <a:off x="6094227" y="10220973"/>
            <a:ext cx="1219554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D" sz="3600" b="1" dirty="0">
                <a:solidFill>
                  <a:srgbClr val="000000"/>
                </a:solidFill>
              </a:rPr>
              <a:t>Prevention helps, but detection gives evidence.</a:t>
            </a:r>
            <a:endParaRPr lang="en-US" sz="3600" b="1" dirty="0">
              <a:solidFill>
                <a:srgbClr val="000000"/>
              </a:solidFill>
            </a:endParaRPr>
          </a:p>
        </p:txBody>
      </p:sp>
    </p:spTree>
    <p:extLst>
      <p:ext uri="{BB962C8B-B14F-4D97-AF65-F5344CB8AC3E}">
        <p14:creationId xmlns:p14="http://schemas.microsoft.com/office/powerpoint/2010/main" val="2959125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A1417-4D65-A695-B6B1-EEE0144895EB}"/>
              </a:ext>
            </a:extLst>
          </p:cNvPr>
          <p:cNvSpPr>
            <a:spLocks noGrp="1"/>
          </p:cNvSpPr>
          <p:nvPr>
            <p:ph type="title"/>
          </p:nvPr>
        </p:nvSpPr>
        <p:spPr/>
        <p:txBody>
          <a:bodyPr/>
          <a:lstStyle/>
          <a:p>
            <a:r>
              <a:rPr lang="en-ID" dirty="0"/>
              <a:t>Signature-Based Detection</a:t>
            </a:r>
            <a:endParaRPr lang="en-US" dirty="0"/>
          </a:p>
        </p:txBody>
      </p:sp>
      <p:sp>
        <p:nvSpPr>
          <p:cNvPr id="3" name="Content Placeholder 2">
            <a:extLst>
              <a:ext uri="{FF2B5EF4-FFF2-40B4-BE49-F238E27FC236}">
                <a16:creationId xmlns:a16="http://schemas.microsoft.com/office/drawing/2014/main" id="{413DC66B-B844-BD05-C87E-2F37D38A68E4}"/>
              </a:ext>
            </a:extLst>
          </p:cNvPr>
          <p:cNvSpPr>
            <a:spLocks noGrp="1"/>
          </p:cNvSpPr>
          <p:nvPr>
            <p:ph idx="1"/>
          </p:nvPr>
        </p:nvSpPr>
        <p:spPr/>
        <p:txBody>
          <a:bodyPr/>
          <a:lstStyle/>
          <a:p>
            <a:r>
              <a:rPr lang="en-ID" dirty="0"/>
              <a:t>Detects known attack patterns.</a:t>
            </a:r>
          </a:p>
          <a:p>
            <a:pPr lvl="1"/>
            <a:r>
              <a:rPr lang="en-ID" dirty="0"/>
              <a:t>Exact matches</a:t>
            </a:r>
          </a:p>
          <a:p>
            <a:pPr lvl="1"/>
            <a:r>
              <a:rPr lang="en-ID" dirty="0"/>
              <a:t>Low false alarms</a:t>
            </a:r>
          </a:p>
          <a:p>
            <a:pPr lvl="1"/>
            <a:r>
              <a:rPr lang="en-ID" dirty="0"/>
              <a:t>Cannot see new/unknown attacks</a:t>
            </a:r>
          </a:p>
          <a:p>
            <a:r>
              <a:rPr lang="en-ID" dirty="0"/>
              <a:t>Example:</a:t>
            </a:r>
          </a:p>
          <a:p>
            <a:pPr>
              <a:buFont typeface="Arial" panose="020B0604020202020204" pitchFamily="34" charset="0"/>
              <a:buChar char="•"/>
            </a:pPr>
            <a:r>
              <a:rPr lang="en-ID" dirty="0"/>
              <a:t>“This traffic matches DDoS tool XYZ.”</a:t>
            </a:r>
          </a:p>
          <a:p>
            <a:endParaRPr lang="en-US" dirty="0"/>
          </a:p>
        </p:txBody>
      </p:sp>
    </p:spTree>
    <p:extLst>
      <p:ext uri="{BB962C8B-B14F-4D97-AF65-F5344CB8AC3E}">
        <p14:creationId xmlns:p14="http://schemas.microsoft.com/office/powerpoint/2010/main" val="3365396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8A11-2278-10E9-A45B-DE00C695EF46}"/>
              </a:ext>
            </a:extLst>
          </p:cNvPr>
          <p:cNvSpPr>
            <a:spLocks noGrp="1"/>
          </p:cNvSpPr>
          <p:nvPr>
            <p:ph type="title"/>
          </p:nvPr>
        </p:nvSpPr>
        <p:spPr/>
        <p:txBody>
          <a:bodyPr/>
          <a:lstStyle/>
          <a:p>
            <a:r>
              <a:rPr lang="en-ID" dirty="0"/>
              <a:t>Anomaly-Based Detection</a:t>
            </a:r>
            <a:endParaRPr lang="en-US" dirty="0"/>
          </a:p>
        </p:txBody>
      </p:sp>
      <p:sp>
        <p:nvSpPr>
          <p:cNvPr id="3" name="Content Placeholder 2">
            <a:extLst>
              <a:ext uri="{FF2B5EF4-FFF2-40B4-BE49-F238E27FC236}">
                <a16:creationId xmlns:a16="http://schemas.microsoft.com/office/drawing/2014/main" id="{D60E5FC5-C7A2-E972-0FD6-927DA8B9E027}"/>
              </a:ext>
            </a:extLst>
          </p:cNvPr>
          <p:cNvSpPr>
            <a:spLocks noGrp="1"/>
          </p:cNvSpPr>
          <p:nvPr>
            <p:ph idx="1"/>
          </p:nvPr>
        </p:nvSpPr>
        <p:spPr/>
        <p:txBody>
          <a:bodyPr/>
          <a:lstStyle/>
          <a:p>
            <a:r>
              <a:rPr lang="en-ID" dirty="0"/>
              <a:t>Detects unusual </a:t>
            </a:r>
            <a:r>
              <a:rPr lang="en-ID" dirty="0" err="1"/>
              <a:t>behaviors</a:t>
            </a:r>
            <a:r>
              <a:rPr lang="en-ID" dirty="0"/>
              <a:t> vs normal baseline.</a:t>
            </a:r>
          </a:p>
          <a:p>
            <a:pPr lvl="1"/>
            <a:r>
              <a:rPr lang="en-ID" dirty="0"/>
              <a:t>Can detect zero-day attacks</a:t>
            </a:r>
          </a:p>
          <a:p>
            <a:pPr lvl="1"/>
            <a:r>
              <a:rPr lang="en-ID" dirty="0"/>
              <a:t>Good for large unknown attacks</a:t>
            </a:r>
          </a:p>
          <a:p>
            <a:pPr lvl="1"/>
            <a:r>
              <a:rPr lang="en-ID" dirty="0"/>
              <a:t>Higher false positives</a:t>
            </a:r>
          </a:p>
          <a:p>
            <a:pPr marL="0" indent="0">
              <a:buNone/>
            </a:pPr>
            <a:r>
              <a:rPr lang="en-ID" dirty="0"/>
              <a:t>Example:</a:t>
            </a:r>
          </a:p>
          <a:p>
            <a:pPr marL="0" indent="0" algn="ctr">
              <a:buNone/>
            </a:pPr>
            <a:r>
              <a:rPr lang="en-ID" dirty="0"/>
              <a:t>Why are there 100,000 GET requests to the homepage in 5 seconds?”</a:t>
            </a:r>
          </a:p>
          <a:p>
            <a:endParaRPr lang="en-US" dirty="0"/>
          </a:p>
        </p:txBody>
      </p:sp>
    </p:spTree>
    <p:extLst>
      <p:ext uri="{BB962C8B-B14F-4D97-AF65-F5344CB8AC3E}">
        <p14:creationId xmlns:p14="http://schemas.microsoft.com/office/powerpoint/2010/main" val="145307934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CCD4B-F18B-2DB8-58EC-F92CED25B091}"/>
              </a:ext>
            </a:extLst>
          </p:cNvPr>
          <p:cNvSpPr>
            <a:spLocks noGrp="1"/>
          </p:cNvSpPr>
          <p:nvPr>
            <p:ph type="title"/>
          </p:nvPr>
        </p:nvSpPr>
        <p:spPr/>
        <p:txBody>
          <a:bodyPr>
            <a:normAutofit fontScale="90000"/>
          </a:bodyPr>
          <a:lstStyle/>
          <a:p>
            <a:r>
              <a:rPr lang="en-ID" dirty="0"/>
              <a:t>Real Case: Cloudflare vs. Global Botnet DDoS (Linked to Indonesia)</a:t>
            </a:r>
            <a:endParaRPr lang="en-US" dirty="0"/>
          </a:p>
        </p:txBody>
      </p:sp>
      <p:sp>
        <p:nvSpPr>
          <p:cNvPr id="3" name="Content Placeholder 2">
            <a:extLst>
              <a:ext uri="{FF2B5EF4-FFF2-40B4-BE49-F238E27FC236}">
                <a16:creationId xmlns:a16="http://schemas.microsoft.com/office/drawing/2014/main" id="{A9AA88B0-B6A4-7770-F4B9-C45369C38D52}"/>
              </a:ext>
            </a:extLst>
          </p:cNvPr>
          <p:cNvSpPr>
            <a:spLocks noGrp="1"/>
          </p:cNvSpPr>
          <p:nvPr>
            <p:ph idx="1"/>
          </p:nvPr>
        </p:nvSpPr>
        <p:spPr/>
        <p:txBody>
          <a:bodyPr/>
          <a:lstStyle/>
          <a:p>
            <a:pPr marL="0" indent="0">
              <a:buNone/>
            </a:pPr>
            <a:r>
              <a:rPr lang="en-ID" b="1" dirty="0"/>
              <a:t>Event</a:t>
            </a:r>
          </a:p>
          <a:p>
            <a:pPr>
              <a:buFont typeface="Arial" panose="020B0604020202020204" pitchFamily="34" charset="0"/>
              <a:buChar char="•"/>
            </a:pPr>
            <a:r>
              <a:rPr lang="en-ID" dirty="0"/>
              <a:t>Cloudflare detected large HTTP flood attacks targeting global platforms.</a:t>
            </a:r>
          </a:p>
          <a:p>
            <a:pPr>
              <a:buFont typeface="Arial" panose="020B0604020202020204" pitchFamily="34" charset="0"/>
              <a:buChar char="•"/>
            </a:pPr>
            <a:r>
              <a:rPr lang="en-ID" dirty="0"/>
              <a:t>Several Indonesian sites (Tokopedia, </a:t>
            </a:r>
            <a:r>
              <a:rPr lang="en-ID" dirty="0" err="1"/>
              <a:t>Bukalapak</a:t>
            </a:r>
            <a:r>
              <a:rPr lang="en-ID" dirty="0"/>
              <a:t>) experienced similar traffic surges.</a:t>
            </a:r>
          </a:p>
          <a:p>
            <a:pPr marL="0" indent="0">
              <a:buNone/>
            </a:pPr>
            <a:r>
              <a:rPr lang="en-ID" b="1" dirty="0"/>
              <a:t>Forensic Clues Observed</a:t>
            </a:r>
          </a:p>
          <a:p>
            <a:pPr>
              <a:buFont typeface="Arial" panose="020B0604020202020204" pitchFamily="34" charset="0"/>
              <a:buChar char="•"/>
            </a:pPr>
            <a:endParaRPr lang="en-ID" dirty="0"/>
          </a:p>
          <a:p>
            <a:pPr>
              <a:buFont typeface="Arial" panose="020B0604020202020204" pitchFamily="34" charset="0"/>
              <a:buChar char="•"/>
            </a:pPr>
            <a:endParaRPr lang="en-ID" dirty="0"/>
          </a:p>
          <a:p>
            <a:pPr>
              <a:buFont typeface="Arial" panose="020B0604020202020204" pitchFamily="34" charset="0"/>
              <a:buChar char="•"/>
            </a:pPr>
            <a:endParaRPr lang="en-ID" dirty="0"/>
          </a:p>
          <a:p>
            <a:pPr marL="0" indent="0" algn="ctr">
              <a:buNone/>
            </a:pPr>
            <a:r>
              <a:rPr lang="en-ID" b="1" dirty="0"/>
              <a:t>Pattern alone proved the attack — payload inspection not required.</a:t>
            </a:r>
          </a:p>
          <a:p>
            <a:endParaRPr lang="en-US" dirty="0"/>
          </a:p>
        </p:txBody>
      </p:sp>
      <p:graphicFrame>
        <p:nvGraphicFramePr>
          <p:cNvPr id="6" name="Table 5">
            <a:extLst>
              <a:ext uri="{FF2B5EF4-FFF2-40B4-BE49-F238E27FC236}">
                <a16:creationId xmlns:a16="http://schemas.microsoft.com/office/drawing/2014/main" id="{1798BCC7-83A6-9879-D54B-C3BD382B5441}"/>
              </a:ext>
            </a:extLst>
          </p:cNvPr>
          <p:cNvGraphicFramePr>
            <a:graphicFrameLocks noGrp="1"/>
          </p:cNvGraphicFramePr>
          <p:nvPr>
            <p:extLst>
              <p:ext uri="{D42A27DB-BD31-4B8C-83A1-F6EECF244321}">
                <p14:modId xmlns:p14="http://schemas.microsoft.com/office/powerpoint/2010/main" val="1966196991"/>
              </p:ext>
            </p:extLst>
          </p:nvPr>
        </p:nvGraphicFramePr>
        <p:xfrm>
          <a:off x="1206500" y="8482769"/>
          <a:ext cx="21971000" cy="2895600"/>
        </p:xfrm>
        <a:graphic>
          <a:graphicData uri="http://schemas.openxmlformats.org/drawingml/2006/table">
            <a:tbl>
              <a:tblPr>
                <a:tableStyleId>{4C3C2611-4C71-4FC5-86AE-919BDF0F9419}</a:tableStyleId>
              </a:tblPr>
              <a:tblGrid>
                <a:gridCol w="10985500">
                  <a:extLst>
                    <a:ext uri="{9D8B030D-6E8A-4147-A177-3AD203B41FA5}">
                      <a16:colId xmlns:a16="http://schemas.microsoft.com/office/drawing/2014/main" val="2762306216"/>
                    </a:ext>
                  </a:extLst>
                </a:gridCol>
                <a:gridCol w="10985500">
                  <a:extLst>
                    <a:ext uri="{9D8B030D-6E8A-4147-A177-3AD203B41FA5}">
                      <a16:colId xmlns:a16="http://schemas.microsoft.com/office/drawing/2014/main" val="1984640358"/>
                    </a:ext>
                  </a:extLst>
                </a:gridCol>
              </a:tblGrid>
              <a:tr h="0">
                <a:tc>
                  <a:txBody>
                    <a:bodyPr/>
                    <a:lstStyle/>
                    <a:p>
                      <a:r>
                        <a:rPr lang="en-ID" sz="3200" b="1" dirty="0">
                          <a:solidFill>
                            <a:srgbClr val="000000"/>
                          </a:solidFill>
                        </a:rPr>
                        <a:t>Evidence</a:t>
                      </a:r>
                    </a:p>
                  </a:txBody>
                  <a:tcPr anchor="ctr"/>
                </a:tc>
                <a:tc>
                  <a:txBody>
                    <a:bodyPr/>
                    <a:lstStyle/>
                    <a:p>
                      <a:r>
                        <a:rPr lang="en-ID" sz="3200" b="1" dirty="0">
                          <a:solidFill>
                            <a:srgbClr val="000000"/>
                          </a:solidFill>
                        </a:rPr>
                        <a:t>Meaning</a:t>
                      </a:r>
                    </a:p>
                  </a:txBody>
                  <a:tcPr anchor="ctr"/>
                </a:tc>
                <a:extLst>
                  <a:ext uri="{0D108BD9-81ED-4DB2-BD59-A6C34878D82A}">
                    <a16:rowId xmlns:a16="http://schemas.microsoft.com/office/drawing/2014/main" val="3196888082"/>
                  </a:ext>
                </a:extLst>
              </a:tr>
              <a:tr h="0">
                <a:tc>
                  <a:txBody>
                    <a:bodyPr/>
                    <a:lstStyle/>
                    <a:p>
                      <a:r>
                        <a:rPr lang="en-ID" sz="3200">
                          <a:solidFill>
                            <a:srgbClr val="000000"/>
                          </a:solidFill>
                        </a:rPr>
                        <a:t>Repeated identical GET/POST requests</a:t>
                      </a:r>
                    </a:p>
                  </a:txBody>
                  <a:tcPr anchor="ctr"/>
                </a:tc>
                <a:tc>
                  <a:txBody>
                    <a:bodyPr/>
                    <a:lstStyle/>
                    <a:p>
                      <a:r>
                        <a:rPr lang="en-ID" sz="3200">
                          <a:solidFill>
                            <a:srgbClr val="000000"/>
                          </a:solidFill>
                        </a:rPr>
                        <a:t>Automated bot traffic</a:t>
                      </a:r>
                    </a:p>
                  </a:txBody>
                  <a:tcPr anchor="ctr"/>
                </a:tc>
                <a:extLst>
                  <a:ext uri="{0D108BD9-81ED-4DB2-BD59-A6C34878D82A}">
                    <a16:rowId xmlns:a16="http://schemas.microsoft.com/office/drawing/2014/main" val="1595427457"/>
                  </a:ext>
                </a:extLst>
              </a:tr>
              <a:tr h="0">
                <a:tc>
                  <a:txBody>
                    <a:bodyPr/>
                    <a:lstStyle/>
                    <a:p>
                      <a:r>
                        <a:rPr lang="en-ID" sz="3200">
                          <a:solidFill>
                            <a:srgbClr val="000000"/>
                          </a:solidFill>
                        </a:rPr>
                        <a:t>Same user-agent across thousands of IPs</a:t>
                      </a:r>
                    </a:p>
                  </a:txBody>
                  <a:tcPr anchor="ctr"/>
                </a:tc>
                <a:tc>
                  <a:txBody>
                    <a:bodyPr/>
                    <a:lstStyle/>
                    <a:p>
                      <a:r>
                        <a:rPr lang="en-ID" sz="3200">
                          <a:solidFill>
                            <a:srgbClr val="000000"/>
                          </a:solidFill>
                        </a:rPr>
                        <a:t>Fake browser signatures</a:t>
                      </a:r>
                    </a:p>
                  </a:txBody>
                  <a:tcPr anchor="ctr"/>
                </a:tc>
                <a:extLst>
                  <a:ext uri="{0D108BD9-81ED-4DB2-BD59-A6C34878D82A}">
                    <a16:rowId xmlns:a16="http://schemas.microsoft.com/office/drawing/2014/main" val="1154862411"/>
                  </a:ext>
                </a:extLst>
              </a:tr>
              <a:tr h="0">
                <a:tc>
                  <a:txBody>
                    <a:bodyPr/>
                    <a:lstStyle/>
                    <a:p>
                      <a:r>
                        <a:rPr lang="en-ID" sz="3200">
                          <a:solidFill>
                            <a:srgbClr val="000000"/>
                          </a:solidFill>
                        </a:rPr>
                        <a:t>Incoming traffic from IoT devices</a:t>
                      </a:r>
                    </a:p>
                  </a:txBody>
                  <a:tcPr anchor="ctr"/>
                </a:tc>
                <a:tc>
                  <a:txBody>
                    <a:bodyPr/>
                    <a:lstStyle/>
                    <a:p>
                      <a:r>
                        <a:rPr lang="en-ID" sz="3200">
                          <a:solidFill>
                            <a:srgbClr val="000000"/>
                          </a:solidFill>
                        </a:rPr>
                        <a:t>Botnet source</a:t>
                      </a:r>
                    </a:p>
                  </a:txBody>
                  <a:tcPr anchor="ctr"/>
                </a:tc>
                <a:extLst>
                  <a:ext uri="{0D108BD9-81ED-4DB2-BD59-A6C34878D82A}">
                    <a16:rowId xmlns:a16="http://schemas.microsoft.com/office/drawing/2014/main" val="4108186865"/>
                  </a:ext>
                </a:extLst>
              </a:tr>
              <a:tr h="0">
                <a:tc>
                  <a:txBody>
                    <a:bodyPr/>
                    <a:lstStyle/>
                    <a:p>
                      <a:r>
                        <a:rPr lang="en-ID" sz="3200">
                          <a:solidFill>
                            <a:srgbClr val="000000"/>
                          </a:solidFill>
                        </a:rPr>
                        <a:t>Sudden 100× traffic spike</a:t>
                      </a:r>
                    </a:p>
                  </a:txBody>
                  <a:tcPr anchor="ctr"/>
                </a:tc>
                <a:tc>
                  <a:txBody>
                    <a:bodyPr/>
                    <a:lstStyle/>
                    <a:p>
                      <a:r>
                        <a:rPr lang="en-ID" sz="3200" dirty="0">
                          <a:solidFill>
                            <a:srgbClr val="000000"/>
                          </a:solidFill>
                        </a:rPr>
                        <a:t>DDoS </a:t>
                      </a:r>
                      <a:r>
                        <a:rPr lang="en-ID" sz="3200" dirty="0" err="1">
                          <a:solidFill>
                            <a:srgbClr val="000000"/>
                          </a:solidFill>
                        </a:rPr>
                        <a:t>behavior</a:t>
                      </a:r>
                      <a:r>
                        <a:rPr lang="en-ID" sz="3200" dirty="0">
                          <a:solidFill>
                            <a:srgbClr val="000000"/>
                          </a:solidFill>
                        </a:rPr>
                        <a:t>, not users</a:t>
                      </a:r>
                    </a:p>
                  </a:txBody>
                  <a:tcPr anchor="ctr"/>
                </a:tc>
                <a:extLst>
                  <a:ext uri="{0D108BD9-81ED-4DB2-BD59-A6C34878D82A}">
                    <a16:rowId xmlns:a16="http://schemas.microsoft.com/office/drawing/2014/main" val="2927343701"/>
                  </a:ext>
                </a:extLst>
              </a:tr>
            </a:tbl>
          </a:graphicData>
        </a:graphic>
      </p:graphicFrame>
    </p:spTree>
    <p:extLst>
      <p:ext uri="{BB962C8B-B14F-4D97-AF65-F5344CB8AC3E}">
        <p14:creationId xmlns:p14="http://schemas.microsoft.com/office/powerpoint/2010/main" val="42621482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FDCB-5B2E-D86E-E134-C41C9484FE8F}"/>
              </a:ext>
            </a:extLst>
          </p:cNvPr>
          <p:cNvSpPr>
            <a:spLocks noGrp="1"/>
          </p:cNvSpPr>
          <p:nvPr>
            <p:ph type="title"/>
          </p:nvPr>
        </p:nvSpPr>
        <p:spPr/>
        <p:txBody>
          <a:bodyPr/>
          <a:lstStyle/>
          <a:p>
            <a:r>
              <a:rPr lang="en-ID" dirty="0"/>
              <a:t>Why This Case Matters for Forensics</a:t>
            </a:r>
            <a:endParaRPr lang="en-US" dirty="0"/>
          </a:p>
        </p:txBody>
      </p:sp>
      <p:sp>
        <p:nvSpPr>
          <p:cNvPr id="3" name="Content Placeholder 2">
            <a:extLst>
              <a:ext uri="{FF2B5EF4-FFF2-40B4-BE49-F238E27FC236}">
                <a16:creationId xmlns:a16="http://schemas.microsoft.com/office/drawing/2014/main" id="{69E94415-0A40-EC3E-313A-10274A53107B}"/>
              </a:ext>
            </a:extLst>
          </p:cNvPr>
          <p:cNvSpPr>
            <a:spLocks noGrp="1"/>
          </p:cNvSpPr>
          <p:nvPr>
            <p:ph idx="1"/>
          </p:nvPr>
        </p:nvSpPr>
        <p:spPr/>
        <p:txBody>
          <a:bodyPr/>
          <a:lstStyle/>
          <a:p>
            <a:pPr>
              <a:buFont typeface="Arial" panose="020B0604020202020204" pitchFamily="34" charset="0"/>
              <a:buChar char="•"/>
            </a:pPr>
            <a:r>
              <a:rPr lang="en-ID" dirty="0"/>
              <a:t>Attack proven without decrypting traffic.</a:t>
            </a:r>
          </a:p>
          <a:p>
            <a:pPr>
              <a:buFont typeface="Arial" panose="020B0604020202020204" pitchFamily="34" charset="0"/>
              <a:buChar char="•"/>
            </a:pPr>
            <a:r>
              <a:rPr lang="en-ID" dirty="0"/>
              <a:t>IDS logs alone were sufficient evidence.</a:t>
            </a:r>
          </a:p>
          <a:p>
            <a:pPr>
              <a:buFont typeface="Arial" panose="020B0604020202020204" pitchFamily="34" charset="0"/>
              <a:buChar char="•"/>
            </a:pPr>
            <a:r>
              <a:rPr lang="en-ID" dirty="0"/>
              <a:t>Anomaly detection was more valuable than signatures.</a:t>
            </a:r>
          </a:p>
          <a:p>
            <a:pPr marL="0" indent="0">
              <a:buNone/>
            </a:pPr>
            <a:endParaRPr lang="en-ID" b="1" dirty="0"/>
          </a:p>
          <a:p>
            <a:pPr marL="0" indent="0" algn="ctr">
              <a:buNone/>
            </a:pPr>
            <a:r>
              <a:rPr lang="en-ID" b="1" dirty="0"/>
              <a:t>An attacker’s traffic </a:t>
            </a:r>
            <a:r>
              <a:rPr lang="en-ID" b="1" dirty="0" err="1"/>
              <a:t>behavior</a:t>
            </a:r>
            <a:r>
              <a:rPr lang="en-ID" b="1" dirty="0"/>
              <a:t> itself becomes evidence.</a:t>
            </a:r>
            <a:endParaRPr lang="en-ID" dirty="0"/>
          </a:p>
          <a:p>
            <a:endParaRPr lang="en-US" dirty="0"/>
          </a:p>
        </p:txBody>
      </p:sp>
    </p:spTree>
    <p:extLst>
      <p:ext uri="{BB962C8B-B14F-4D97-AF65-F5344CB8AC3E}">
        <p14:creationId xmlns:p14="http://schemas.microsoft.com/office/powerpoint/2010/main" val="25839700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3E59-D27A-667E-15CB-E8F675722236}"/>
              </a:ext>
            </a:extLst>
          </p:cNvPr>
          <p:cNvSpPr>
            <a:spLocks noGrp="1"/>
          </p:cNvSpPr>
          <p:nvPr>
            <p:ph type="title"/>
          </p:nvPr>
        </p:nvSpPr>
        <p:spPr/>
        <p:txBody>
          <a:bodyPr/>
          <a:lstStyle/>
          <a:p>
            <a:r>
              <a:rPr lang="en-ID" dirty="0"/>
              <a:t>APT Attack on Ukraine Power Grid (2015)</a:t>
            </a:r>
            <a:endParaRPr lang="en-US" dirty="0"/>
          </a:p>
        </p:txBody>
      </p:sp>
      <p:sp>
        <p:nvSpPr>
          <p:cNvPr id="3" name="Content Placeholder 2">
            <a:extLst>
              <a:ext uri="{FF2B5EF4-FFF2-40B4-BE49-F238E27FC236}">
                <a16:creationId xmlns:a16="http://schemas.microsoft.com/office/drawing/2014/main" id="{51E8C09B-33E6-8462-90FF-A4AC6210F07D}"/>
              </a:ext>
            </a:extLst>
          </p:cNvPr>
          <p:cNvSpPr>
            <a:spLocks noGrp="1"/>
          </p:cNvSpPr>
          <p:nvPr>
            <p:ph idx="1"/>
          </p:nvPr>
        </p:nvSpPr>
        <p:spPr/>
        <p:txBody>
          <a:bodyPr>
            <a:normAutofit fontScale="85000" lnSpcReduction="20000"/>
          </a:bodyPr>
          <a:lstStyle/>
          <a:p>
            <a:r>
              <a:rPr lang="en-ID" b="1" dirty="0"/>
              <a:t>Intrusion Type:</a:t>
            </a:r>
            <a:r>
              <a:rPr lang="en-ID" dirty="0"/>
              <a:t> Nation-state malware invasion</a:t>
            </a:r>
            <a:br>
              <a:rPr lang="en-ID" dirty="0"/>
            </a:br>
            <a:r>
              <a:rPr lang="en-ID" b="1" dirty="0"/>
              <a:t>Detection:</a:t>
            </a:r>
            <a:r>
              <a:rPr lang="en-ID" dirty="0"/>
              <a:t> </a:t>
            </a:r>
            <a:r>
              <a:rPr lang="en-ID" dirty="0" err="1"/>
              <a:t>Behavioral</a:t>
            </a:r>
            <a:r>
              <a:rPr lang="en-ID" dirty="0"/>
              <a:t> + IDS alerts</a:t>
            </a:r>
            <a:br>
              <a:rPr lang="en-ID" dirty="0"/>
            </a:br>
            <a:r>
              <a:rPr lang="en-ID" b="1" dirty="0"/>
              <a:t>Forensic Indicators:</a:t>
            </a:r>
            <a:endParaRPr lang="en-ID" dirty="0"/>
          </a:p>
          <a:p>
            <a:pPr lvl="1">
              <a:buFont typeface="Arial" panose="020B0604020202020204" pitchFamily="34" charset="0"/>
              <a:buChar char="•"/>
            </a:pPr>
            <a:r>
              <a:rPr lang="en-ID" dirty="0"/>
              <a:t>Unusual remote desktop sessions at midnight</a:t>
            </a:r>
          </a:p>
          <a:p>
            <a:pPr lvl="1">
              <a:buFont typeface="Arial" panose="020B0604020202020204" pitchFamily="34" charset="0"/>
              <a:buChar char="•"/>
            </a:pPr>
            <a:r>
              <a:rPr lang="en-ID" dirty="0"/>
              <a:t>SSH brute-force from external IPs</a:t>
            </a:r>
          </a:p>
          <a:p>
            <a:pPr lvl="1">
              <a:buFont typeface="Arial" panose="020B0604020202020204" pitchFamily="34" charset="0"/>
              <a:buChar char="•"/>
            </a:pPr>
            <a:r>
              <a:rPr lang="en-ID" dirty="0"/>
              <a:t>Anomaly-based IDS flagged abnormal MODBUS commands (used in power systems)</a:t>
            </a:r>
          </a:p>
          <a:p>
            <a:pPr lvl="1">
              <a:buFont typeface="Arial" panose="020B0604020202020204" pitchFamily="34" charset="0"/>
              <a:buChar char="•"/>
            </a:pPr>
            <a:r>
              <a:rPr lang="en-ID" dirty="0"/>
              <a:t>Traffic to unknown servers in Russia</a:t>
            </a:r>
          </a:p>
          <a:p>
            <a:r>
              <a:rPr lang="en-ID" b="1" dirty="0"/>
              <a:t>Why It Matters to Forensics:</a:t>
            </a:r>
            <a:br>
              <a:rPr lang="en-ID" dirty="0"/>
            </a:br>
            <a:r>
              <a:rPr lang="en-ID" dirty="0"/>
              <a:t>The IDS logs helped reconstruct the attacker’s movement across the network, proving lateral movement and remote sabotage even before malware samples were </a:t>
            </a:r>
            <a:r>
              <a:rPr lang="en-ID" dirty="0" err="1"/>
              <a:t>analyzed</a:t>
            </a:r>
            <a:r>
              <a:rPr lang="en-ID" dirty="0"/>
              <a:t>.</a:t>
            </a:r>
          </a:p>
          <a:p>
            <a:pPr marL="0" indent="0">
              <a:buNone/>
            </a:pPr>
            <a:endParaRPr lang="en-ID" b="1" dirty="0"/>
          </a:p>
          <a:p>
            <a:pPr marL="0" indent="0">
              <a:buNone/>
            </a:pPr>
            <a:r>
              <a:rPr lang="en-ID" b="1" dirty="0"/>
              <a:t>Key Lesson:</a:t>
            </a:r>
            <a:r>
              <a:rPr lang="en-ID" dirty="0"/>
              <a:t> Tracking = watching </a:t>
            </a:r>
            <a:r>
              <a:rPr lang="en-ID" i="1" dirty="0"/>
              <a:t>abnormal network control commands,</a:t>
            </a:r>
            <a:r>
              <a:rPr lang="en-ID" dirty="0"/>
              <a:t> not hacking techniques.</a:t>
            </a:r>
          </a:p>
        </p:txBody>
      </p:sp>
    </p:spTree>
    <p:extLst>
      <p:ext uri="{BB962C8B-B14F-4D97-AF65-F5344CB8AC3E}">
        <p14:creationId xmlns:p14="http://schemas.microsoft.com/office/powerpoint/2010/main" val="35913556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7C79-ADD5-39CE-2851-11D43178E3F3}"/>
              </a:ext>
            </a:extLst>
          </p:cNvPr>
          <p:cNvSpPr>
            <a:spLocks noGrp="1"/>
          </p:cNvSpPr>
          <p:nvPr>
            <p:ph type="title"/>
          </p:nvPr>
        </p:nvSpPr>
        <p:spPr/>
        <p:txBody>
          <a:bodyPr/>
          <a:lstStyle/>
          <a:p>
            <a:r>
              <a:rPr lang="en-ID" dirty="0"/>
              <a:t>SolarWinds Supply Chain Attack (2020)</a:t>
            </a:r>
            <a:endParaRPr lang="en-US" dirty="0"/>
          </a:p>
        </p:txBody>
      </p:sp>
      <p:sp>
        <p:nvSpPr>
          <p:cNvPr id="3" name="Content Placeholder 2">
            <a:extLst>
              <a:ext uri="{FF2B5EF4-FFF2-40B4-BE49-F238E27FC236}">
                <a16:creationId xmlns:a16="http://schemas.microsoft.com/office/drawing/2014/main" id="{CA916DE4-615F-E840-16CA-5F3073C283A6}"/>
              </a:ext>
            </a:extLst>
          </p:cNvPr>
          <p:cNvSpPr>
            <a:spLocks noGrp="1"/>
          </p:cNvSpPr>
          <p:nvPr>
            <p:ph idx="1"/>
          </p:nvPr>
        </p:nvSpPr>
        <p:spPr/>
        <p:txBody>
          <a:bodyPr>
            <a:normAutofit fontScale="85000" lnSpcReduction="20000"/>
          </a:bodyPr>
          <a:lstStyle/>
          <a:p>
            <a:r>
              <a:rPr lang="en-ID" b="1" dirty="0"/>
              <a:t>Intrusion Type:</a:t>
            </a:r>
            <a:r>
              <a:rPr lang="en-ID" dirty="0"/>
              <a:t> Hidden malware updates distributed globally</a:t>
            </a:r>
            <a:br>
              <a:rPr lang="en-ID" dirty="0"/>
            </a:br>
            <a:r>
              <a:rPr lang="en-ID" b="1" dirty="0"/>
              <a:t>Detection:</a:t>
            </a:r>
            <a:r>
              <a:rPr lang="en-ID" dirty="0"/>
              <a:t> Not detected by signature tools; flagged later by anomaly traffic analysis.</a:t>
            </a:r>
          </a:p>
          <a:p>
            <a:r>
              <a:rPr lang="en-ID" b="1" dirty="0"/>
              <a:t>Forensic Indicators:</a:t>
            </a:r>
            <a:endParaRPr lang="en-ID" dirty="0"/>
          </a:p>
          <a:p>
            <a:pPr lvl="1">
              <a:buFont typeface="Arial" panose="020B0604020202020204" pitchFamily="34" charset="0"/>
              <a:buChar char="•"/>
            </a:pPr>
            <a:r>
              <a:rPr lang="en-ID" dirty="0"/>
              <a:t>Unusual API calls to </a:t>
            </a:r>
            <a:r>
              <a:rPr lang="en-ID" dirty="0" err="1"/>
              <a:t>api.solarwinds.com</a:t>
            </a:r>
            <a:endParaRPr lang="en-ID" dirty="0"/>
          </a:p>
          <a:p>
            <a:pPr lvl="1">
              <a:buFont typeface="Arial" panose="020B0604020202020204" pitchFamily="34" charset="0"/>
              <a:buChar char="•"/>
            </a:pPr>
            <a:r>
              <a:rPr lang="en-ID" dirty="0"/>
              <a:t>High-volume outbound encrypted traffic at odd hours</a:t>
            </a:r>
          </a:p>
          <a:p>
            <a:pPr lvl="1">
              <a:buFont typeface="Arial" panose="020B0604020202020204" pitchFamily="34" charset="0"/>
              <a:buChar char="•"/>
            </a:pPr>
            <a:r>
              <a:rPr lang="en-ID" dirty="0"/>
              <a:t>Small but repetitive data transfers resembling beaconing</a:t>
            </a:r>
          </a:p>
          <a:p>
            <a:pPr lvl="1">
              <a:buFont typeface="Arial" panose="020B0604020202020204" pitchFamily="34" charset="0"/>
              <a:buChar char="•"/>
            </a:pPr>
            <a:r>
              <a:rPr lang="en-ID" dirty="0"/>
              <a:t>Lateral movement logs across internal systems</a:t>
            </a:r>
          </a:p>
          <a:p>
            <a:r>
              <a:rPr lang="en-ID" b="1" dirty="0"/>
              <a:t>Why It Matters to IDS:</a:t>
            </a:r>
          </a:p>
          <a:p>
            <a:pPr lvl="1"/>
            <a:r>
              <a:rPr lang="en-ID" dirty="0"/>
              <a:t>Signature-based IDS didn’t detect it because it looked “normal.”</a:t>
            </a:r>
            <a:br>
              <a:rPr lang="en-ID" dirty="0"/>
            </a:br>
            <a:r>
              <a:rPr lang="en-ID" dirty="0"/>
              <a:t>Only </a:t>
            </a:r>
            <a:r>
              <a:rPr lang="en-ID" b="1" dirty="0" err="1"/>
              <a:t>behavior</a:t>
            </a:r>
            <a:r>
              <a:rPr lang="en-ID" b="1" dirty="0"/>
              <a:t> anomalies</a:t>
            </a:r>
            <a:r>
              <a:rPr lang="en-ID" dirty="0"/>
              <a:t> revealed hidden persistence.</a:t>
            </a:r>
          </a:p>
          <a:p>
            <a:pPr marL="609600" lvl="1" indent="0">
              <a:buNone/>
            </a:pPr>
            <a:endParaRPr lang="en-ID" b="1" dirty="0"/>
          </a:p>
          <a:p>
            <a:pPr marL="609600" lvl="1" indent="0" algn="ctr">
              <a:buNone/>
            </a:pPr>
            <a:r>
              <a:rPr lang="en-ID" b="1" dirty="0"/>
              <a:t>Key Lesson:</a:t>
            </a:r>
            <a:r>
              <a:rPr lang="en-ID" dirty="0"/>
              <a:t> Unknown attacks look “ordinary” until network </a:t>
            </a:r>
            <a:r>
              <a:rPr lang="en-ID" dirty="0" err="1"/>
              <a:t>behavior</a:t>
            </a:r>
            <a:r>
              <a:rPr lang="en-ID" dirty="0"/>
              <a:t> is </a:t>
            </a:r>
            <a:r>
              <a:rPr lang="en-ID" dirty="0" err="1"/>
              <a:t>analyzed</a:t>
            </a:r>
            <a:r>
              <a:rPr lang="en-ID" dirty="0"/>
              <a:t>.</a:t>
            </a:r>
          </a:p>
          <a:p>
            <a:endParaRPr lang="en-US" dirty="0"/>
          </a:p>
        </p:txBody>
      </p:sp>
    </p:spTree>
    <p:extLst>
      <p:ext uri="{BB962C8B-B14F-4D97-AF65-F5344CB8AC3E}">
        <p14:creationId xmlns:p14="http://schemas.microsoft.com/office/powerpoint/2010/main" val="241224454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DB708-A359-4CBE-CB60-98C9C59DED4D}"/>
              </a:ext>
            </a:extLst>
          </p:cNvPr>
          <p:cNvSpPr>
            <a:spLocks noGrp="1"/>
          </p:cNvSpPr>
          <p:nvPr>
            <p:ph type="title"/>
          </p:nvPr>
        </p:nvSpPr>
        <p:spPr/>
        <p:txBody>
          <a:bodyPr>
            <a:normAutofit fontScale="90000"/>
          </a:bodyPr>
          <a:lstStyle/>
          <a:p>
            <a:r>
              <a:rPr lang="en-ID" dirty="0"/>
              <a:t>Tokopedia User Data Breach (Indonesia, 2020)</a:t>
            </a:r>
            <a:endParaRPr lang="en-US" dirty="0"/>
          </a:p>
        </p:txBody>
      </p:sp>
      <p:sp>
        <p:nvSpPr>
          <p:cNvPr id="3" name="Content Placeholder 2">
            <a:extLst>
              <a:ext uri="{FF2B5EF4-FFF2-40B4-BE49-F238E27FC236}">
                <a16:creationId xmlns:a16="http://schemas.microsoft.com/office/drawing/2014/main" id="{227CF125-DAD3-C1BB-C611-981DA0452B61}"/>
              </a:ext>
            </a:extLst>
          </p:cNvPr>
          <p:cNvSpPr>
            <a:spLocks noGrp="1"/>
          </p:cNvSpPr>
          <p:nvPr>
            <p:ph idx="1"/>
          </p:nvPr>
        </p:nvSpPr>
        <p:spPr/>
        <p:txBody>
          <a:bodyPr>
            <a:normAutofit fontScale="85000" lnSpcReduction="20000"/>
          </a:bodyPr>
          <a:lstStyle/>
          <a:p>
            <a:r>
              <a:rPr lang="en-ID" b="1" dirty="0"/>
              <a:t>Intrusion Type:</a:t>
            </a:r>
            <a:r>
              <a:rPr lang="en-ID" dirty="0"/>
              <a:t> Credential harvesting + dark web sale</a:t>
            </a:r>
            <a:br>
              <a:rPr lang="en-ID" dirty="0"/>
            </a:br>
            <a:r>
              <a:rPr lang="en-ID" b="1" dirty="0"/>
              <a:t>Detection:</a:t>
            </a:r>
            <a:r>
              <a:rPr lang="en-ID" dirty="0"/>
              <a:t> Post-breach forensic reconstruction using IDS + access logs</a:t>
            </a:r>
          </a:p>
          <a:p>
            <a:r>
              <a:rPr lang="en-ID" b="1" dirty="0"/>
              <a:t>Forensic Indicators:</a:t>
            </a:r>
            <a:endParaRPr lang="en-ID" dirty="0"/>
          </a:p>
          <a:p>
            <a:pPr lvl="1">
              <a:buFont typeface="Arial" panose="020B0604020202020204" pitchFamily="34" charset="0"/>
              <a:buChar char="•"/>
            </a:pPr>
            <a:r>
              <a:rPr lang="en-ID" dirty="0"/>
              <a:t>Multiple login attempts from foreign IPs (Russia, USA, Pakistan)</a:t>
            </a:r>
          </a:p>
          <a:p>
            <a:pPr lvl="1">
              <a:buFont typeface="Arial" panose="020B0604020202020204" pitchFamily="34" charset="0"/>
              <a:buChar char="•"/>
            </a:pPr>
            <a:r>
              <a:rPr lang="en-ID" dirty="0"/>
              <a:t>Sudden spike in failed login attempts (brute-force pattern)</a:t>
            </a:r>
          </a:p>
          <a:p>
            <a:pPr lvl="1">
              <a:buFont typeface="Arial" panose="020B0604020202020204" pitchFamily="34" charset="0"/>
              <a:buChar char="•"/>
            </a:pPr>
            <a:r>
              <a:rPr lang="en-ID" dirty="0"/>
              <a:t>Large unusual data query via account export feature</a:t>
            </a:r>
          </a:p>
          <a:p>
            <a:pPr lvl="1">
              <a:buFont typeface="Arial" panose="020B0604020202020204" pitchFamily="34" charset="0"/>
              <a:buChar char="•"/>
            </a:pPr>
            <a:r>
              <a:rPr lang="en-ID" dirty="0"/>
              <a:t>High outbound data transfers after login</a:t>
            </a:r>
          </a:p>
          <a:p>
            <a:r>
              <a:rPr lang="en-ID" b="1" dirty="0"/>
              <a:t>Why It Matters:</a:t>
            </a:r>
            <a:br>
              <a:rPr lang="en-ID" dirty="0"/>
            </a:br>
            <a:r>
              <a:rPr lang="en-ID" dirty="0"/>
              <a:t>Attackers never exploited system code. They misused valid credentials and abused features. IDS detected </a:t>
            </a:r>
            <a:r>
              <a:rPr lang="en-ID" b="1" dirty="0"/>
              <a:t>abnormal login and data export </a:t>
            </a:r>
            <a:r>
              <a:rPr lang="en-ID" b="1" dirty="0" err="1"/>
              <a:t>behavior</a:t>
            </a:r>
            <a:r>
              <a:rPr lang="en-ID" dirty="0"/>
              <a:t>.</a:t>
            </a:r>
          </a:p>
          <a:p>
            <a:pPr marL="0" indent="0">
              <a:buNone/>
            </a:pPr>
            <a:endParaRPr lang="en-ID" b="1" dirty="0"/>
          </a:p>
          <a:p>
            <a:pPr marL="0" indent="0" algn="ctr">
              <a:buNone/>
            </a:pPr>
            <a:r>
              <a:rPr lang="en-ID" b="1" dirty="0"/>
              <a:t>Key Lesson:</a:t>
            </a:r>
            <a:r>
              <a:rPr lang="en-ID" dirty="0"/>
              <a:t> Not all intrusions are “hacks”—some misuse legitimate features.</a:t>
            </a:r>
          </a:p>
          <a:p>
            <a:endParaRPr lang="en-US" dirty="0"/>
          </a:p>
        </p:txBody>
      </p:sp>
    </p:spTree>
    <p:extLst>
      <p:ext uri="{BB962C8B-B14F-4D97-AF65-F5344CB8AC3E}">
        <p14:creationId xmlns:p14="http://schemas.microsoft.com/office/powerpoint/2010/main" val="29490061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82FF-0FD0-8C1A-97CB-21AB10CF1D1F}"/>
              </a:ext>
            </a:extLst>
          </p:cNvPr>
          <p:cNvSpPr>
            <a:spLocks noGrp="1"/>
          </p:cNvSpPr>
          <p:nvPr>
            <p:ph type="title"/>
          </p:nvPr>
        </p:nvSpPr>
        <p:spPr/>
        <p:txBody>
          <a:bodyPr/>
          <a:lstStyle/>
          <a:p>
            <a:r>
              <a:rPr lang="en-ID" dirty="0"/>
              <a:t>Case Comparison Table</a:t>
            </a:r>
            <a:endParaRPr lang="en-US" dirty="0"/>
          </a:p>
        </p:txBody>
      </p:sp>
      <p:graphicFrame>
        <p:nvGraphicFramePr>
          <p:cNvPr id="4" name="Content Placeholder 3">
            <a:extLst>
              <a:ext uri="{FF2B5EF4-FFF2-40B4-BE49-F238E27FC236}">
                <a16:creationId xmlns:a16="http://schemas.microsoft.com/office/drawing/2014/main" id="{542EA462-6176-8B55-ADAE-07C3AC1F22AD}"/>
              </a:ext>
            </a:extLst>
          </p:cNvPr>
          <p:cNvGraphicFramePr>
            <a:graphicFrameLocks noGrp="1"/>
          </p:cNvGraphicFramePr>
          <p:nvPr>
            <p:ph idx="1"/>
            <p:extLst>
              <p:ext uri="{D42A27DB-BD31-4B8C-83A1-F6EECF244321}">
                <p14:modId xmlns:p14="http://schemas.microsoft.com/office/powerpoint/2010/main" val="3568870105"/>
              </p:ext>
            </p:extLst>
          </p:nvPr>
        </p:nvGraphicFramePr>
        <p:xfrm>
          <a:off x="1206500" y="5274000"/>
          <a:ext cx="21971000" cy="3168000"/>
        </p:xfrm>
        <a:graphic>
          <a:graphicData uri="http://schemas.openxmlformats.org/drawingml/2006/table">
            <a:tbl>
              <a:tblPr>
                <a:tableStyleId>{4C3C2611-4C71-4FC5-86AE-919BDF0F9419}</a:tableStyleId>
              </a:tblPr>
              <a:tblGrid>
                <a:gridCol w="5492750">
                  <a:extLst>
                    <a:ext uri="{9D8B030D-6E8A-4147-A177-3AD203B41FA5}">
                      <a16:colId xmlns:a16="http://schemas.microsoft.com/office/drawing/2014/main" val="2836224564"/>
                    </a:ext>
                  </a:extLst>
                </a:gridCol>
                <a:gridCol w="5492750">
                  <a:extLst>
                    <a:ext uri="{9D8B030D-6E8A-4147-A177-3AD203B41FA5}">
                      <a16:colId xmlns:a16="http://schemas.microsoft.com/office/drawing/2014/main" val="1176659556"/>
                    </a:ext>
                  </a:extLst>
                </a:gridCol>
                <a:gridCol w="5492750">
                  <a:extLst>
                    <a:ext uri="{9D8B030D-6E8A-4147-A177-3AD203B41FA5}">
                      <a16:colId xmlns:a16="http://schemas.microsoft.com/office/drawing/2014/main" val="895837822"/>
                    </a:ext>
                  </a:extLst>
                </a:gridCol>
                <a:gridCol w="5492750">
                  <a:extLst>
                    <a:ext uri="{9D8B030D-6E8A-4147-A177-3AD203B41FA5}">
                      <a16:colId xmlns:a16="http://schemas.microsoft.com/office/drawing/2014/main" val="2541326552"/>
                    </a:ext>
                  </a:extLst>
                </a:gridCol>
              </a:tblGrid>
              <a:tr h="792000">
                <a:tc>
                  <a:txBody>
                    <a:bodyPr/>
                    <a:lstStyle/>
                    <a:p>
                      <a:r>
                        <a:rPr lang="en-ID" sz="2800" b="1" dirty="0">
                          <a:solidFill>
                            <a:srgbClr val="000000"/>
                          </a:solidFill>
                        </a:rPr>
                        <a:t>Case</a:t>
                      </a:r>
                    </a:p>
                  </a:txBody>
                  <a:tcPr anchor="ctr"/>
                </a:tc>
                <a:tc>
                  <a:txBody>
                    <a:bodyPr/>
                    <a:lstStyle/>
                    <a:p>
                      <a:r>
                        <a:rPr lang="en-ID" sz="2800" b="1" dirty="0">
                          <a:solidFill>
                            <a:srgbClr val="000000"/>
                          </a:solidFill>
                        </a:rPr>
                        <a:t>Attack Type</a:t>
                      </a:r>
                    </a:p>
                  </a:txBody>
                  <a:tcPr anchor="ctr"/>
                </a:tc>
                <a:tc>
                  <a:txBody>
                    <a:bodyPr/>
                    <a:lstStyle/>
                    <a:p>
                      <a:r>
                        <a:rPr lang="en-ID" sz="2800" b="1" dirty="0">
                          <a:solidFill>
                            <a:srgbClr val="000000"/>
                          </a:solidFill>
                        </a:rPr>
                        <a:t>Detection Type</a:t>
                      </a:r>
                    </a:p>
                  </a:txBody>
                  <a:tcPr anchor="ctr"/>
                </a:tc>
                <a:tc>
                  <a:txBody>
                    <a:bodyPr/>
                    <a:lstStyle/>
                    <a:p>
                      <a:r>
                        <a:rPr lang="en-ID" sz="2800" b="1" dirty="0">
                          <a:solidFill>
                            <a:srgbClr val="000000"/>
                          </a:solidFill>
                        </a:rPr>
                        <a:t>Why IDS mattered</a:t>
                      </a:r>
                    </a:p>
                  </a:txBody>
                  <a:tcPr anchor="ctr"/>
                </a:tc>
                <a:extLst>
                  <a:ext uri="{0D108BD9-81ED-4DB2-BD59-A6C34878D82A}">
                    <a16:rowId xmlns:a16="http://schemas.microsoft.com/office/drawing/2014/main" val="622790361"/>
                  </a:ext>
                </a:extLst>
              </a:tr>
              <a:tr h="792000">
                <a:tc>
                  <a:txBody>
                    <a:bodyPr/>
                    <a:lstStyle/>
                    <a:p>
                      <a:r>
                        <a:rPr lang="en-ID" sz="2400" dirty="0">
                          <a:solidFill>
                            <a:srgbClr val="000000"/>
                          </a:solidFill>
                        </a:rPr>
                        <a:t>Ukraine Power Grid</a:t>
                      </a:r>
                    </a:p>
                  </a:txBody>
                  <a:tcPr anchor="ctr"/>
                </a:tc>
                <a:tc>
                  <a:txBody>
                    <a:bodyPr/>
                    <a:lstStyle/>
                    <a:p>
                      <a:r>
                        <a:rPr lang="en-ID" sz="2400" dirty="0">
                          <a:solidFill>
                            <a:srgbClr val="000000"/>
                          </a:solidFill>
                        </a:rPr>
                        <a:t>APT</a:t>
                      </a:r>
                    </a:p>
                  </a:txBody>
                  <a:tcPr anchor="ctr"/>
                </a:tc>
                <a:tc>
                  <a:txBody>
                    <a:bodyPr/>
                    <a:lstStyle/>
                    <a:p>
                      <a:r>
                        <a:rPr lang="en-ID" sz="2400" dirty="0">
                          <a:solidFill>
                            <a:srgbClr val="000000"/>
                          </a:solidFill>
                        </a:rPr>
                        <a:t>Anomaly + logs</a:t>
                      </a:r>
                    </a:p>
                  </a:txBody>
                  <a:tcPr anchor="ctr"/>
                </a:tc>
                <a:tc>
                  <a:txBody>
                    <a:bodyPr/>
                    <a:lstStyle/>
                    <a:p>
                      <a:r>
                        <a:rPr lang="en-ID" sz="2400" dirty="0">
                          <a:solidFill>
                            <a:srgbClr val="000000"/>
                          </a:solidFill>
                        </a:rPr>
                        <a:t>Industrial command misuse</a:t>
                      </a:r>
                    </a:p>
                  </a:txBody>
                  <a:tcPr anchor="ctr"/>
                </a:tc>
                <a:extLst>
                  <a:ext uri="{0D108BD9-81ED-4DB2-BD59-A6C34878D82A}">
                    <a16:rowId xmlns:a16="http://schemas.microsoft.com/office/drawing/2014/main" val="1209516891"/>
                  </a:ext>
                </a:extLst>
              </a:tr>
              <a:tr h="792000">
                <a:tc>
                  <a:txBody>
                    <a:bodyPr/>
                    <a:lstStyle/>
                    <a:p>
                      <a:r>
                        <a:rPr lang="en-ID" sz="2400">
                          <a:solidFill>
                            <a:srgbClr val="000000"/>
                          </a:solidFill>
                        </a:rPr>
                        <a:t>SolarWinds</a:t>
                      </a:r>
                    </a:p>
                  </a:txBody>
                  <a:tcPr anchor="ctr"/>
                </a:tc>
                <a:tc>
                  <a:txBody>
                    <a:bodyPr/>
                    <a:lstStyle/>
                    <a:p>
                      <a:r>
                        <a:rPr lang="en-ID" sz="2400">
                          <a:solidFill>
                            <a:srgbClr val="000000"/>
                          </a:solidFill>
                        </a:rPr>
                        <a:t>Supply Chain</a:t>
                      </a:r>
                    </a:p>
                  </a:txBody>
                  <a:tcPr anchor="ctr"/>
                </a:tc>
                <a:tc>
                  <a:txBody>
                    <a:bodyPr/>
                    <a:lstStyle/>
                    <a:p>
                      <a:r>
                        <a:rPr lang="en-ID" sz="2400" dirty="0">
                          <a:solidFill>
                            <a:srgbClr val="000000"/>
                          </a:solidFill>
                        </a:rPr>
                        <a:t>Anomaly</a:t>
                      </a:r>
                    </a:p>
                  </a:txBody>
                  <a:tcPr anchor="ctr"/>
                </a:tc>
                <a:tc>
                  <a:txBody>
                    <a:bodyPr/>
                    <a:lstStyle/>
                    <a:p>
                      <a:r>
                        <a:rPr lang="en-ID" sz="2400" dirty="0">
                          <a:solidFill>
                            <a:srgbClr val="000000"/>
                          </a:solidFill>
                        </a:rPr>
                        <a:t>Hidden malware looked normal</a:t>
                      </a:r>
                    </a:p>
                  </a:txBody>
                  <a:tcPr anchor="ctr"/>
                </a:tc>
                <a:extLst>
                  <a:ext uri="{0D108BD9-81ED-4DB2-BD59-A6C34878D82A}">
                    <a16:rowId xmlns:a16="http://schemas.microsoft.com/office/drawing/2014/main" val="2853721316"/>
                  </a:ext>
                </a:extLst>
              </a:tr>
              <a:tr h="792000">
                <a:tc>
                  <a:txBody>
                    <a:bodyPr/>
                    <a:lstStyle/>
                    <a:p>
                      <a:r>
                        <a:rPr lang="en-ID" sz="2400">
                          <a:solidFill>
                            <a:srgbClr val="000000"/>
                          </a:solidFill>
                        </a:rPr>
                        <a:t>Tokopedia Breach</a:t>
                      </a:r>
                    </a:p>
                  </a:txBody>
                  <a:tcPr anchor="ctr"/>
                </a:tc>
                <a:tc>
                  <a:txBody>
                    <a:bodyPr/>
                    <a:lstStyle/>
                    <a:p>
                      <a:r>
                        <a:rPr lang="en-ID" sz="2400">
                          <a:solidFill>
                            <a:srgbClr val="000000"/>
                          </a:solidFill>
                        </a:rPr>
                        <a:t>Credential Abuse</a:t>
                      </a:r>
                    </a:p>
                  </a:txBody>
                  <a:tcPr anchor="ctr"/>
                </a:tc>
                <a:tc>
                  <a:txBody>
                    <a:bodyPr/>
                    <a:lstStyle/>
                    <a:p>
                      <a:r>
                        <a:rPr lang="en-ID" sz="2400">
                          <a:solidFill>
                            <a:srgbClr val="000000"/>
                          </a:solidFill>
                        </a:rPr>
                        <a:t>Log + anomaly</a:t>
                      </a:r>
                    </a:p>
                  </a:txBody>
                  <a:tcPr anchor="ctr"/>
                </a:tc>
                <a:tc>
                  <a:txBody>
                    <a:bodyPr/>
                    <a:lstStyle/>
                    <a:p>
                      <a:r>
                        <a:rPr lang="en-ID" sz="2400" dirty="0">
                          <a:solidFill>
                            <a:srgbClr val="000000"/>
                          </a:solidFill>
                        </a:rPr>
                        <a:t>Valid login used for theft</a:t>
                      </a:r>
                    </a:p>
                  </a:txBody>
                  <a:tcPr anchor="ctr"/>
                </a:tc>
                <a:extLst>
                  <a:ext uri="{0D108BD9-81ED-4DB2-BD59-A6C34878D82A}">
                    <a16:rowId xmlns:a16="http://schemas.microsoft.com/office/drawing/2014/main" val="1552433166"/>
                  </a:ext>
                </a:extLst>
              </a:tr>
            </a:tbl>
          </a:graphicData>
        </a:graphic>
      </p:graphicFrame>
    </p:spTree>
    <p:extLst>
      <p:ext uri="{BB962C8B-B14F-4D97-AF65-F5344CB8AC3E}">
        <p14:creationId xmlns:p14="http://schemas.microsoft.com/office/powerpoint/2010/main" val="311501513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B1D7-9C10-A379-3406-66356288E165}"/>
              </a:ext>
            </a:extLst>
          </p:cNvPr>
          <p:cNvSpPr>
            <a:spLocks noGrp="1"/>
          </p:cNvSpPr>
          <p:nvPr>
            <p:ph type="title"/>
          </p:nvPr>
        </p:nvSpPr>
        <p:spPr/>
        <p:txBody>
          <a:bodyPr/>
          <a:lstStyle/>
          <a:p>
            <a:r>
              <a:rPr lang="en-ID" dirty="0"/>
              <a:t>Discussion</a:t>
            </a:r>
            <a:endParaRPr lang="en-US" dirty="0"/>
          </a:p>
        </p:txBody>
      </p:sp>
      <p:sp>
        <p:nvSpPr>
          <p:cNvPr id="3" name="Content Placeholder 2">
            <a:extLst>
              <a:ext uri="{FF2B5EF4-FFF2-40B4-BE49-F238E27FC236}">
                <a16:creationId xmlns:a16="http://schemas.microsoft.com/office/drawing/2014/main" id="{ED02401C-6713-314E-9F3D-13E65D8EADE9}"/>
              </a:ext>
            </a:extLst>
          </p:cNvPr>
          <p:cNvSpPr>
            <a:spLocks noGrp="1"/>
          </p:cNvSpPr>
          <p:nvPr>
            <p:ph idx="1"/>
          </p:nvPr>
        </p:nvSpPr>
        <p:spPr/>
        <p:txBody>
          <a:bodyPr/>
          <a:lstStyle/>
          <a:p>
            <a:pPr marL="0" indent="0">
              <a:buNone/>
            </a:pPr>
            <a:r>
              <a:rPr lang="en-ID" dirty="0"/>
              <a:t>1. In this case, which was more valuable: signature-based or anomaly-based detection? Why?</a:t>
            </a:r>
          </a:p>
          <a:p>
            <a:pPr marL="0" indent="0">
              <a:buNone/>
            </a:pPr>
            <a:r>
              <a:rPr lang="en-ID" dirty="0"/>
              <a:t>Anomaly detection, because the attack did not match known signatures and was detected through unusual traffic patterns.</a:t>
            </a:r>
          </a:p>
          <a:p>
            <a:pPr marL="0" indent="0">
              <a:buNone/>
            </a:pPr>
            <a:endParaRPr lang="en-ID" dirty="0"/>
          </a:p>
          <a:p>
            <a:pPr marL="0" indent="0">
              <a:buNone/>
            </a:pPr>
            <a:r>
              <a:rPr lang="en-ID" dirty="0"/>
              <a:t>2. Why can DDoS attacks be proven without examining payload?</a:t>
            </a:r>
          </a:p>
          <a:p>
            <a:pPr marL="0" indent="0">
              <a:buNone/>
            </a:pPr>
            <a:r>
              <a:rPr lang="en-ID" dirty="0"/>
              <a:t>Because DDoS is defined by traffic volume and patterns, not packet content.</a:t>
            </a:r>
          </a:p>
          <a:p>
            <a:pPr marL="0" indent="0">
              <a:buNone/>
            </a:pPr>
            <a:endParaRPr lang="en-US" dirty="0"/>
          </a:p>
        </p:txBody>
      </p:sp>
    </p:spTree>
    <p:extLst>
      <p:ext uri="{BB962C8B-B14F-4D97-AF65-F5344CB8AC3E}">
        <p14:creationId xmlns:p14="http://schemas.microsoft.com/office/powerpoint/2010/main" val="36528129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1CA5-EFD8-3E95-D7EC-0035819B76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57428E-6399-5AF8-C3C1-943C028123FA}"/>
              </a:ext>
            </a:extLst>
          </p:cNvPr>
          <p:cNvSpPr>
            <a:spLocks noGrp="1"/>
          </p:cNvSpPr>
          <p:nvPr>
            <p:ph idx="1"/>
          </p:nvPr>
        </p:nvSpPr>
        <p:spPr/>
        <p:txBody>
          <a:bodyPr/>
          <a:lstStyle/>
          <a:p>
            <a:pPr marL="0" indent="0">
              <a:buNone/>
            </a:pPr>
            <a:r>
              <a:rPr lang="en-ID" dirty="0"/>
              <a:t>3. Can an IDS prove </a:t>
            </a:r>
            <a:r>
              <a:rPr lang="en-ID" i="1" dirty="0"/>
              <a:t>who</a:t>
            </a:r>
            <a:r>
              <a:rPr lang="en-ID" dirty="0"/>
              <a:t> launched the attack? Explain.</a:t>
            </a:r>
          </a:p>
          <a:p>
            <a:pPr marL="0" indent="0">
              <a:buNone/>
            </a:pPr>
            <a:r>
              <a:rPr lang="en-ID" dirty="0"/>
              <a:t>No. IDS shows what happened, not who did it, since attackers use botnets or spoofed IPs.</a:t>
            </a:r>
          </a:p>
          <a:p>
            <a:pPr marL="0" indent="0">
              <a:buNone/>
            </a:pPr>
            <a:endParaRPr lang="en-ID" dirty="0"/>
          </a:p>
          <a:p>
            <a:pPr marL="0" indent="0">
              <a:buNone/>
            </a:pPr>
            <a:r>
              <a:rPr lang="en-ID" dirty="0"/>
              <a:t>4. If IPS had blocked the attack early, would forensic evidence be weaker? Why?</a:t>
            </a:r>
          </a:p>
          <a:p>
            <a:pPr marL="0" indent="0">
              <a:buNone/>
            </a:pPr>
            <a:r>
              <a:rPr lang="en-ID" dirty="0"/>
              <a:t>Yes. Blocking early means fewer logs, so there is less forensic data to </a:t>
            </a:r>
            <a:r>
              <a:rPr lang="en-ID" dirty="0" err="1"/>
              <a:t>analyze</a:t>
            </a:r>
            <a:r>
              <a:rPr lang="en-ID" dirty="0"/>
              <a:t>.</a:t>
            </a:r>
          </a:p>
          <a:p>
            <a:endParaRPr lang="en-US" dirty="0"/>
          </a:p>
        </p:txBody>
      </p:sp>
    </p:spTree>
    <p:extLst>
      <p:ext uri="{BB962C8B-B14F-4D97-AF65-F5344CB8AC3E}">
        <p14:creationId xmlns:p14="http://schemas.microsoft.com/office/powerpoint/2010/main" val="24039353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F870C-1520-9A70-6F67-DBB405018751}"/>
              </a:ext>
            </a:extLst>
          </p:cNvPr>
          <p:cNvSpPr>
            <a:spLocks noGrp="1"/>
          </p:cNvSpPr>
          <p:nvPr>
            <p:ph type="title"/>
          </p:nvPr>
        </p:nvSpPr>
        <p:spPr/>
        <p:txBody>
          <a:bodyPr/>
          <a:lstStyle/>
          <a:p>
            <a:r>
              <a:rPr lang="en-ID" dirty="0"/>
              <a:t>Key Takeaways</a:t>
            </a:r>
            <a:endParaRPr lang="en-US" dirty="0"/>
          </a:p>
        </p:txBody>
      </p:sp>
      <p:sp>
        <p:nvSpPr>
          <p:cNvPr id="3" name="Content Placeholder 2">
            <a:extLst>
              <a:ext uri="{FF2B5EF4-FFF2-40B4-BE49-F238E27FC236}">
                <a16:creationId xmlns:a16="http://schemas.microsoft.com/office/drawing/2014/main" id="{09307221-F5CD-33AF-5028-B32F49F2B277}"/>
              </a:ext>
            </a:extLst>
          </p:cNvPr>
          <p:cNvSpPr>
            <a:spLocks noGrp="1"/>
          </p:cNvSpPr>
          <p:nvPr>
            <p:ph idx="1"/>
          </p:nvPr>
        </p:nvSpPr>
        <p:spPr/>
        <p:txBody>
          <a:bodyPr/>
          <a:lstStyle/>
          <a:p>
            <a:r>
              <a:rPr lang="en-ID" dirty="0"/>
              <a:t>Forensics in network intrusion focuses on </a:t>
            </a:r>
            <a:r>
              <a:rPr lang="en-ID" b="1" dirty="0"/>
              <a:t>actions, not identity</a:t>
            </a:r>
            <a:r>
              <a:rPr lang="en-ID" dirty="0"/>
              <a:t>.</a:t>
            </a:r>
          </a:p>
          <a:p>
            <a:r>
              <a:rPr lang="en-ID" dirty="0"/>
              <a:t>IDS provides </a:t>
            </a:r>
            <a:r>
              <a:rPr lang="en-ID" b="1" dirty="0"/>
              <a:t>high forensic value</a:t>
            </a:r>
            <a:r>
              <a:rPr lang="en-ID" dirty="0"/>
              <a:t>, IPS provides </a:t>
            </a:r>
            <a:r>
              <a:rPr lang="en-ID" b="1" dirty="0"/>
              <a:t>prevention value</a:t>
            </a:r>
            <a:r>
              <a:rPr lang="en-ID" dirty="0"/>
              <a:t>.</a:t>
            </a:r>
          </a:p>
          <a:p>
            <a:r>
              <a:rPr lang="en-ID" dirty="0"/>
              <a:t>Signature detection = known threats; anomaly = unknown/new threats.</a:t>
            </a:r>
          </a:p>
          <a:p>
            <a:r>
              <a:rPr lang="en-ID" dirty="0"/>
              <a:t>Large attacks like DDoS can be proven through </a:t>
            </a:r>
            <a:r>
              <a:rPr lang="en-ID" b="1" dirty="0" err="1"/>
              <a:t>behavior</a:t>
            </a:r>
            <a:r>
              <a:rPr lang="en-ID" b="1" dirty="0"/>
              <a:t> patterns alone</a:t>
            </a:r>
            <a:r>
              <a:rPr lang="en-ID" dirty="0"/>
              <a:t>.</a:t>
            </a:r>
          </a:p>
          <a:p>
            <a:endParaRPr lang="en-US" dirty="0"/>
          </a:p>
        </p:txBody>
      </p:sp>
    </p:spTree>
    <p:extLst>
      <p:ext uri="{BB962C8B-B14F-4D97-AF65-F5344CB8AC3E}">
        <p14:creationId xmlns:p14="http://schemas.microsoft.com/office/powerpoint/2010/main" val="272449806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29185-DEBA-2653-928F-12E0AF1EE5B8}"/>
              </a:ext>
            </a:extLst>
          </p:cNvPr>
          <p:cNvSpPr>
            <a:spLocks noGrp="1"/>
          </p:cNvSpPr>
          <p:nvPr>
            <p:ph type="title"/>
          </p:nvPr>
        </p:nvSpPr>
        <p:spPr/>
        <p:txBody>
          <a:bodyPr/>
          <a:lstStyle/>
          <a:p>
            <a:r>
              <a:rPr lang="en-US" dirty="0"/>
              <a:t>See you next week!</a:t>
            </a:r>
          </a:p>
        </p:txBody>
      </p:sp>
    </p:spTree>
    <p:extLst>
      <p:ext uri="{BB962C8B-B14F-4D97-AF65-F5344CB8AC3E}">
        <p14:creationId xmlns:p14="http://schemas.microsoft.com/office/powerpoint/2010/main" val="25367731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2138</TotalTime>
  <Words>1889</Words>
  <Application>Microsoft Macintosh PowerPoint</Application>
  <PresentationFormat>Custom</PresentationFormat>
  <Paragraphs>178</Paragraphs>
  <Slides>18</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Helvetica Neue Medium</vt:lpstr>
      <vt:lpstr>OCRB</vt:lpstr>
      <vt:lpstr>Open Sans ExtraBold</vt:lpstr>
      <vt:lpstr>Open Sans Light</vt:lpstr>
      <vt:lpstr>Open Sans Semibold</vt:lpstr>
      <vt:lpstr>21_BasicWhite</vt:lpstr>
      <vt:lpstr>Tracking Intruders &amp; Understanding IDS/IPS</vt:lpstr>
      <vt:lpstr>Learning Objectives</vt:lpstr>
      <vt:lpstr>Tracking Intruders: What Does It Mean?</vt:lpstr>
      <vt:lpstr>Common Forensic Indicators of Intruders</vt:lpstr>
      <vt:lpstr>Network Intrusion Detection Systems (NIDS)</vt:lpstr>
      <vt:lpstr>Network Intrusion Prevention Systems (NIPS)</vt:lpstr>
      <vt:lpstr>Signature-Based Detection</vt:lpstr>
      <vt:lpstr>Anomaly-Based Detection</vt:lpstr>
      <vt:lpstr>Real Case: Cloudflare vs. Global Botnet DDoS (Linked to Indonesia)</vt:lpstr>
      <vt:lpstr>Why This Case Matters for Forensics</vt:lpstr>
      <vt:lpstr>APT Attack on Ukraine Power Grid (2015)</vt:lpstr>
      <vt:lpstr>SolarWinds Supply Chain Attack (2020)</vt:lpstr>
      <vt:lpstr>Tokopedia User Data Breach (Indonesia, 2020)</vt:lpstr>
      <vt:lpstr>Case Comparison Table</vt:lpstr>
      <vt:lpstr>Discussion</vt:lpstr>
      <vt:lpstr>PowerPoint Presentation</vt:lpstr>
      <vt:lpstr>Key Takeaways</vt:lpstr>
      <vt:lpstr>See you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Satrio Pradono, S.Kom., M.T.I.</dc:creator>
  <cp:lastModifiedBy>Satrio Pradono Suryodiningrat</cp:lastModifiedBy>
  <cp:revision>31</cp:revision>
  <dcterms:created xsi:type="dcterms:W3CDTF">2024-08-21T04:45:24Z</dcterms:created>
  <dcterms:modified xsi:type="dcterms:W3CDTF">2025-11-20T08:09:58Z</dcterms:modified>
</cp:coreProperties>
</file>
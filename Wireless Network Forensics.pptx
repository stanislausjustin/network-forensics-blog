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93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15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Default Section" id="{FDCF6184-A2D9-AB41-A157-73E9C07C27FC}">
          <p14:sldIdLst>
            <p14:sldId id="256"/>
            <p14:sldId id="293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4A4"/>
    <a:srgbClr val="1C8ED3"/>
    <a:srgbClr val="23A1E1"/>
    <a:srgbClr val="F724FF"/>
    <a:srgbClr val="45FFFF"/>
    <a:srgbClr val="4AFD00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3" autoAdjust="0"/>
    <p:restoredTop sz="82240"/>
  </p:normalViewPr>
  <p:slideViewPr>
    <p:cSldViewPr snapToGrid="0" snapToObjects="1">
      <p:cViewPr varScale="1">
        <p:scale>
          <a:sx n="34" d="100"/>
          <a:sy n="34" d="100"/>
        </p:scale>
        <p:origin x="701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Welcome to Week 7. Today, we’ll explore how wireless communications can be investigated for forensic evidence.</a:t>
            </a:r>
            <a:br>
              <a:rPr lang="en-ID" dirty="0"/>
            </a:br>
            <a:r>
              <a:rPr lang="en-ID" dirty="0"/>
              <a:t>Unlike wired networks, wireless introduces unique challenges — like mobility, limited range, and volatility of evidence.</a:t>
            </a:r>
            <a:br>
              <a:rPr lang="en-ID" dirty="0"/>
            </a:br>
            <a:r>
              <a:rPr lang="en-ID" dirty="0"/>
              <a:t>We’ll learn how to capture and </a:t>
            </a:r>
            <a:r>
              <a:rPr lang="en-ID" dirty="0" err="1"/>
              <a:t>analyze</a:t>
            </a:r>
            <a:r>
              <a:rPr lang="en-ID" dirty="0"/>
              <a:t> wireless traffic safely, and how to identify signs of wireless-based attacks.</a:t>
            </a:r>
          </a:p>
        </p:txBody>
      </p:sp>
    </p:spTree>
    <p:extLst>
      <p:ext uri="{BB962C8B-B14F-4D97-AF65-F5344CB8AC3E}">
        <p14:creationId xmlns:p14="http://schemas.microsoft.com/office/powerpoint/2010/main" val="2827974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“By the end of today’s session, you should be able to:</a:t>
            </a:r>
          </a:p>
          <a:p>
            <a:pPr>
              <a:buFont typeface="+mj-lt"/>
              <a:buAutoNum type="arabicPeriod"/>
            </a:pPr>
            <a:r>
              <a:rPr lang="en-ID" dirty="0"/>
              <a:t>Define what traffic analysis means in the context of forensics.</a:t>
            </a:r>
          </a:p>
          <a:p>
            <a:pPr>
              <a:buFont typeface="+mj-lt"/>
              <a:buAutoNum type="arabicPeriod"/>
            </a:pPr>
            <a:r>
              <a:rPr lang="en-ID" dirty="0"/>
              <a:t>Differentiate between normal and abnormal traffic.</a:t>
            </a:r>
          </a:p>
          <a:p>
            <a:pPr>
              <a:buFont typeface="+mj-lt"/>
              <a:buAutoNum type="arabicPeriod"/>
            </a:pPr>
            <a:r>
              <a:rPr lang="en-ID" dirty="0"/>
              <a:t>Recognize patterns that indicate scanning, </a:t>
            </a:r>
            <a:r>
              <a:rPr lang="en-ID" dirty="0" err="1"/>
              <a:t>tunneling</a:t>
            </a:r>
            <a:r>
              <a:rPr lang="en-ID" dirty="0"/>
              <a:t>, or exfiltration.</a:t>
            </a:r>
          </a:p>
          <a:p>
            <a:pPr>
              <a:buFont typeface="+mj-lt"/>
              <a:buAutoNum type="arabicPeriod"/>
            </a:pPr>
            <a:r>
              <a:rPr lang="en-ID" dirty="0"/>
              <a:t>Apply these ideas to real-world forensic cases.”</a:t>
            </a:r>
          </a:p>
        </p:txBody>
      </p:sp>
    </p:spTree>
    <p:extLst>
      <p:ext uri="{BB962C8B-B14F-4D97-AF65-F5344CB8AC3E}">
        <p14:creationId xmlns:p14="http://schemas.microsoft.com/office/powerpoint/2010/main" val="695212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 wired networks, evidence is stable. In wireless, evidence disappears when the signal does.</a:t>
            </a:r>
            <a:br>
              <a:rPr lang="en-ID" dirty="0"/>
            </a:br>
            <a:r>
              <a:rPr lang="en-ID" dirty="0"/>
              <a:t>Forensic analysts must act quickly — and always ensure they’re authorized to capture.</a:t>
            </a:r>
          </a:p>
        </p:txBody>
      </p:sp>
    </p:spTree>
    <p:extLst>
      <p:ext uri="{BB962C8B-B14F-4D97-AF65-F5344CB8AC3E}">
        <p14:creationId xmlns:p14="http://schemas.microsoft.com/office/powerpoint/2010/main" val="242002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Every device using Wi-Fi constantly exchanges management and control frames — even before sending real data.</a:t>
            </a:r>
            <a:br>
              <a:rPr lang="en-ID" dirty="0"/>
            </a:br>
            <a:r>
              <a:rPr lang="en-ID" dirty="0"/>
              <a:t>Capturing these frames can reveal the network’s structure, connected clients, and possible rogue devices.</a:t>
            </a:r>
          </a:p>
        </p:txBody>
      </p:sp>
    </p:spTree>
    <p:extLst>
      <p:ext uri="{BB962C8B-B14F-4D97-AF65-F5344CB8AC3E}">
        <p14:creationId xmlns:p14="http://schemas.microsoft.com/office/powerpoint/2010/main" val="316495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MAC addresses are key in forensics. Comparing BSSIDs (APs) and STAs (clients) helps identify who talked to whom — and whether a device is legitimate or not.</a:t>
            </a:r>
          </a:p>
        </p:txBody>
      </p:sp>
    </p:spTree>
    <p:extLst>
      <p:ext uri="{BB962C8B-B14F-4D97-AF65-F5344CB8AC3E}">
        <p14:creationId xmlns:p14="http://schemas.microsoft.com/office/powerpoint/2010/main" val="2255986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 WPA2 and WPA3 networks, the 4-way handshake is critical. If captured, it can prove user associations, even if data payloads remain encrypted.</a:t>
            </a:r>
            <a:br>
              <a:rPr lang="en-ID" dirty="0"/>
            </a:br>
            <a:r>
              <a:rPr lang="en-ID" dirty="0"/>
              <a:t>Forensic analysts can’t always decrypt traffic — but handshake captures can link a device to a network.</a:t>
            </a:r>
          </a:p>
        </p:txBody>
      </p:sp>
    </p:spTree>
    <p:extLst>
      <p:ext uri="{BB962C8B-B14F-4D97-AF65-F5344CB8AC3E}">
        <p14:creationId xmlns:p14="http://schemas.microsoft.com/office/powerpoint/2010/main" val="2801171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Unlike Ethernet, Wi-Fi requires your adapter to be in monitor mode.</a:t>
            </a:r>
            <a:br>
              <a:rPr lang="en-ID" dirty="0"/>
            </a:br>
            <a:r>
              <a:rPr lang="en-ID" dirty="0"/>
              <a:t>Always document your location and channel — without it, the evidence loses credibility.</a:t>
            </a:r>
          </a:p>
        </p:txBody>
      </p:sp>
    </p:spTree>
    <p:extLst>
      <p:ext uri="{BB962C8B-B14F-4D97-AF65-F5344CB8AC3E}">
        <p14:creationId xmlns:p14="http://schemas.microsoft.com/office/powerpoint/2010/main" val="1265850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These tools let you collect, filter, and verify traffic.</a:t>
            </a:r>
            <a:br>
              <a:rPr lang="en-ID" dirty="0"/>
            </a:br>
            <a:r>
              <a:rPr lang="en-ID" dirty="0"/>
              <a:t>In an investigation, you’d use Wireshark to visualize, Kismet to monitor, and </a:t>
            </a:r>
            <a:r>
              <a:rPr lang="en-ID" dirty="0" err="1"/>
              <a:t>Aircrack</a:t>
            </a:r>
            <a:r>
              <a:rPr lang="en-ID" dirty="0"/>
              <a:t>-ng to confirm associations or </a:t>
            </a:r>
            <a:r>
              <a:rPr lang="en-ID" dirty="0" err="1"/>
              <a:t>deauth</a:t>
            </a:r>
            <a:r>
              <a:rPr lang="en-ID" dirty="0"/>
              <a:t> attacks.</a:t>
            </a:r>
          </a:p>
        </p:txBody>
      </p:sp>
    </p:spTree>
    <p:extLst>
      <p:ext uri="{BB962C8B-B14F-4D97-AF65-F5344CB8AC3E}">
        <p14:creationId xmlns:p14="http://schemas.microsoft.com/office/powerpoint/2010/main" val="4214897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 a forensic trace, these attacks appear as unusual bursts of management frames or duplicate SSIDs.</a:t>
            </a:r>
            <a:br>
              <a:rPr lang="en-ID" dirty="0"/>
            </a:br>
            <a:r>
              <a:rPr lang="en-ID" dirty="0" err="1"/>
              <a:t>Deauth</a:t>
            </a:r>
            <a:r>
              <a:rPr lang="en-ID" dirty="0"/>
              <a:t> floods are especially visible — hundreds of disassociation messages within seconds.</a:t>
            </a:r>
          </a:p>
        </p:txBody>
      </p:sp>
    </p:spTree>
    <p:extLst>
      <p:ext uri="{BB962C8B-B14F-4D97-AF65-F5344CB8AC3E}">
        <p14:creationId xmlns:p14="http://schemas.microsoft.com/office/powerpoint/2010/main" val="1150758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Here’s a real-world pattern: legitimate SSID duplicated, </a:t>
            </a:r>
            <a:r>
              <a:rPr lang="en-ID" dirty="0" err="1"/>
              <a:t>deauth</a:t>
            </a:r>
            <a:r>
              <a:rPr lang="en-ID" dirty="0"/>
              <a:t> frames visible, and credential theft via fake portals.</a:t>
            </a:r>
            <a:br>
              <a:rPr lang="en-ID" dirty="0"/>
            </a:br>
            <a:r>
              <a:rPr lang="en-ID" dirty="0"/>
              <a:t>Your job as an analyst is to prove this </a:t>
            </a:r>
            <a:r>
              <a:rPr lang="en-ID" dirty="0" err="1"/>
              <a:t>behavior</a:t>
            </a:r>
            <a:r>
              <a:rPr lang="en-ID" dirty="0"/>
              <a:t> from packet captures.</a:t>
            </a:r>
          </a:p>
        </p:txBody>
      </p:sp>
    </p:spTree>
    <p:extLst>
      <p:ext uri="{BB962C8B-B14F-4D97-AF65-F5344CB8AC3E}">
        <p14:creationId xmlns:p14="http://schemas.microsoft.com/office/powerpoint/2010/main" val="1027800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Wireless evidence is fragile. If someone questions your capture, proper </a:t>
            </a:r>
            <a:r>
              <a:rPr lang="en-ID" dirty="0" err="1"/>
              <a:t>labeling</a:t>
            </a:r>
            <a:r>
              <a:rPr lang="en-ID" dirty="0"/>
              <a:t> and hashing are your proof that it’s authentic.</a:t>
            </a:r>
          </a:p>
        </p:txBody>
      </p:sp>
    </p:spTree>
    <p:extLst>
      <p:ext uri="{BB962C8B-B14F-4D97-AF65-F5344CB8AC3E}">
        <p14:creationId xmlns:p14="http://schemas.microsoft.com/office/powerpoint/2010/main" val="3146376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“In the real Target breach, attackers installed malware on POS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Evidence: NetFlow and IDS logs showed beaconing every 90 minutes to a C2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Result: 40 million credit card numbers stolen.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Lesson: small, regular traffic can signal something big — if you know what to look for.”</a:t>
            </a:r>
          </a:p>
        </p:txBody>
      </p:sp>
    </p:spTree>
    <p:extLst>
      <p:ext uri="{BB962C8B-B14F-4D97-AF65-F5344CB8AC3E}">
        <p14:creationId xmlns:p14="http://schemas.microsoft.com/office/powerpoint/2010/main" val="2041095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“Some useful tools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Wireshark</a:t>
            </a:r>
            <a:r>
              <a:rPr lang="en-ID" dirty="0"/>
              <a:t>: detailed packet inspection.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nfdump</a:t>
            </a:r>
            <a:r>
              <a:rPr lang="en-ID" b="1" dirty="0"/>
              <a:t> / Argus</a:t>
            </a:r>
            <a:r>
              <a:rPr lang="en-ID" dirty="0"/>
              <a:t>: flow-level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Zeek</a:t>
            </a:r>
            <a:r>
              <a:rPr lang="en-ID" b="1" dirty="0"/>
              <a:t> (Bro)</a:t>
            </a:r>
            <a:r>
              <a:rPr lang="en-ID" dirty="0"/>
              <a:t>: advanced traffic analysis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SIEM platforms</a:t>
            </a:r>
            <a:r>
              <a:rPr lang="en-ID" dirty="0"/>
              <a:t> like Splunk or ELK: for correlating multiple log sources.</a:t>
            </a:r>
          </a:p>
          <a:p>
            <a:r>
              <a:rPr lang="en-ID" dirty="0"/>
              <a:t>Each tool has its strengths — in practice, investigators often use more than one.”</a:t>
            </a:r>
          </a:p>
        </p:txBody>
      </p:sp>
    </p:spTree>
    <p:extLst>
      <p:ext uri="{BB962C8B-B14F-4D97-AF65-F5344CB8AC3E}">
        <p14:creationId xmlns:p14="http://schemas.microsoft.com/office/powerpoint/2010/main" val="634804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Aptos" panose="020B0004020202020204" pitchFamily="34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Aptos" panose="020B0004020202020204" pitchFamily="34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Aptos" panose="020B0004020202020204" pitchFamily="34" charset="0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Aptos" panose="020B0004020202020204" pitchFamily="34" charset="0"/>
              </a:defRPr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Aptos" panose="020B0004020202020204" pitchFamily="34" charset="0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Aptos" panose="020B0004020202020204" pitchFamily="34" charset="0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004301" cy="35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>
                <a:latin typeface="Aptos" panose="020B0004020202020204" pitchFamily="34" charset="0"/>
              </a:rPr>
              <a:t>SUBJECT MATTER EXPERT</a:t>
            </a:r>
            <a:endParaRPr sz="28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D645C5F-9B49-0817-CC1A-84282EE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475488"/>
            <a:ext cx="19392118" cy="2037175"/>
          </a:xfrm>
        </p:spPr>
        <p:txBody>
          <a:bodyPr anchor="ctr"/>
          <a:lstStyle>
            <a:lvl1pPr>
              <a:lnSpc>
                <a:spcPct val="100000"/>
              </a:lnSpc>
              <a:defRPr b="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0B82B85-5AAA-4DD4-23B6-327BBDEF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779776"/>
            <a:ext cx="21971000" cy="10460736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79DAF52-7079-D27A-6999-F8755F55C30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4D2750-83A7-0E8A-991D-531C92146EE0}"/>
              </a:ext>
            </a:extLst>
          </p:cNvPr>
          <p:cNvSpPr/>
          <p:nvPr userDrawn="1"/>
        </p:nvSpPr>
        <p:spPr>
          <a:xfrm>
            <a:off x="0" y="13386985"/>
            <a:ext cx="24384000" cy="326827"/>
          </a:xfrm>
          <a:prstGeom prst="rect">
            <a:avLst/>
          </a:prstGeom>
          <a:solidFill>
            <a:srgbClr val="2554A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4" name="Picture 1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7484277-1919-EC7C-A06C-AB36A5E0C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94"/>
          <a:stretch/>
        </p:blipFill>
        <p:spPr>
          <a:xfrm>
            <a:off x="21098107" y="676211"/>
            <a:ext cx="2079393" cy="164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5400" dirty="0"/>
              <a:t>COMP6348001</a:t>
            </a:r>
          </a:p>
          <a:p>
            <a:r>
              <a:rPr lang="en-US" sz="5400" dirty="0"/>
              <a:t>Network Forensics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500" dirty="0"/>
              <a:t>Wireless Network forensics</a:t>
            </a:r>
            <a:endParaRPr lang="en-US" sz="3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Dr. Don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BF5A-0B8E-0DB7-8E73-85F9B439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ABDB9-8181-FE10-C3FA-42BE1DE36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By the end of this session, you will be able to:</a:t>
            </a:r>
          </a:p>
          <a:p>
            <a:r>
              <a:rPr lang="en-ID" dirty="0"/>
              <a:t>Explain what wireless network forensics involves and why it matters.</a:t>
            </a:r>
          </a:p>
          <a:p>
            <a:r>
              <a:rPr lang="en-ID" dirty="0"/>
              <a:t>Identify 802.11 frame types and their forensic significance.</a:t>
            </a:r>
          </a:p>
          <a:p>
            <a:r>
              <a:rPr lang="en-ID" dirty="0"/>
              <a:t>Capture, interpret, and document wireless traffic as evidence.</a:t>
            </a:r>
          </a:p>
          <a:p>
            <a:r>
              <a:rPr lang="en-ID" dirty="0"/>
              <a:t>Recognize and investigate common wireless attack patterns.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101298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C7AE-DC07-5C5B-4671-89C2BE51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What is Wireless Network Forensics?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AECEF-AFFE-130B-C8C9-D77CAAB86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/>
              <a:t>Key Points:</a:t>
            </a:r>
            <a:endParaRPr lang="en-ID" dirty="0"/>
          </a:p>
          <a:p>
            <a:r>
              <a:rPr lang="en-ID" dirty="0"/>
              <a:t>Involves capturing, </a:t>
            </a:r>
            <a:r>
              <a:rPr lang="en-ID" dirty="0" err="1"/>
              <a:t>analyzing</a:t>
            </a:r>
            <a:r>
              <a:rPr lang="en-ID" dirty="0"/>
              <a:t>, and preserving wireless communications.</a:t>
            </a:r>
          </a:p>
          <a:p>
            <a:r>
              <a:rPr lang="en-ID" dirty="0"/>
              <a:t>Focus on 802.11 (Wi-Fi) protocols and their </a:t>
            </a:r>
            <a:r>
              <a:rPr lang="en-ID" dirty="0" err="1"/>
              <a:t>behavior</a:t>
            </a:r>
            <a:r>
              <a:rPr lang="en-ID" dirty="0"/>
              <a:t>.</a:t>
            </a:r>
          </a:p>
          <a:p>
            <a:r>
              <a:rPr lang="en-ID" dirty="0"/>
              <a:t>Challenges include: signal range, interference, volatility, and encryption.</a:t>
            </a:r>
          </a:p>
        </p:txBody>
      </p:sp>
    </p:spTree>
    <p:extLst>
      <p:ext uri="{BB962C8B-B14F-4D97-AF65-F5344CB8AC3E}">
        <p14:creationId xmlns:p14="http://schemas.microsoft.com/office/powerpoint/2010/main" val="8557283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FBE9-1030-B24D-AB02-A65F5C41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802.11 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39273-E42D-3A6A-7C37-C1C8073F3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Main Frame Types:</a:t>
            </a:r>
            <a:endParaRPr lang="en-ID" dirty="0"/>
          </a:p>
          <a:p>
            <a:r>
              <a:rPr lang="en-ID" b="1" dirty="0"/>
              <a:t>Management frames:</a:t>
            </a:r>
            <a:r>
              <a:rPr lang="en-ID" dirty="0"/>
              <a:t> announce and control connections (Beacon, Probe, Authentication).</a:t>
            </a:r>
          </a:p>
          <a:p>
            <a:r>
              <a:rPr lang="en-ID" b="1" dirty="0"/>
              <a:t>Control frames:</a:t>
            </a:r>
            <a:r>
              <a:rPr lang="en-ID" dirty="0"/>
              <a:t> assist in data transfer (ACK, RTS/CTS).</a:t>
            </a:r>
          </a:p>
          <a:p>
            <a:r>
              <a:rPr lang="en-ID" b="1" dirty="0"/>
              <a:t>Data frames:</a:t>
            </a:r>
            <a:r>
              <a:rPr lang="en-ID" dirty="0"/>
              <a:t> carry the actual payload.</a:t>
            </a:r>
          </a:p>
        </p:txBody>
      </p:sp>
    </p:spTree>
    <p:extLst>
      <p:ext uri="{BB962C8B-B14F-4D97-AF65-F5344CB8AC3E}">
        <p14:creationId xmlns:p14="http://schemas.microsoft.com/office/powerpoint/2010/main" val="2235258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71A6D-280D-A20F-CDA5-1A10AFE6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802.11 Frame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36D8-7F82-A942-4794-402CEEC2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Fields of Interest:</a:t>
            </a:r>
            <a:endParaRPr lang="en-ID" dirty="0"/>
          </a:p>
          <a:p>
            <a:r>
              <a:rPr lang="en-ID" dirty="0"/>
              <a:t>Frame Control</a:t>
            </a:r>
          </a:p>
          <a:p>
            <a:r>
              <a:rPr lang="en-ID" dirty="0"/>
              <a:t>Duration</a:t>
            </a:r>
          </a:p>
          <a:p>
            <a:r>
              <a:rPr lang="en-ID" dirty="0"/>
              <a:t>Source, Destination, and BSSID MAC addresses</a:t>
            </a:r>
          </a:p>
          <a:p>
            <a:r>
              <a:rPr lang="en-ID" dirty="0"/>
              <a:t>Sequence Control</a:t>
            </a:r>
          </a:p>
          <a:p>
            <a:r>
              <a:rPr lang="en-ID" dirty="0"/>
              <a:t>Frame Body (SSID, Authentication, or Data)</a:t>
            </a:r>
          </a:p>
        </p:txBody>
      </p:sp>
    </p:spTree>
    <p:extLst>
      <p:ext uri="{BB962C8B-B14F-4D97-AF65-F5344CB8AC3E}">
        <p14:creationId xmlns:p14="http://schemas.microsoft.com/office/powerpoint/2010/main" val="37472249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058B-295D-22CE-991A-E2448562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Wireless Authentication and Encryption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5967-EDF4-F24F-C9C8-F53F7B1E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WEP:</a:t>
            </a:r>
            <a:r>
              <a:rPr lang="en-ID" dirty="0"/>
              <a:t> weak, easily cracked.</a:t>
            </a:r>
          </a:p>
          <a:p>
            <a:r>
              <a:rPr lang="en-ID" b="1" dirty="0"/>
              <a:t>WPA2 / WPA3:</a:t>
            </a:r>
            <a:r>
              <a:rPr lang="en-ID" dirty="0"/>
              <a:t> improved, uses 4-way handshake.</a:t>
            </a:r>
          </a:p>
          <a:p>
            <a:r>
              <a:rPr lang="en-ID" b="1" dirty="0"/>
              <a:t>EAPOL frames:</a:t>
            </a:r>
            <a:r>
              <a:rPr lang="en-ID" dirty="0"/>
              <a:t> exchanged during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20594527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154B-4D78-5D1B-FC84-83A67393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Capturing Wireless Evidence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00342-A399-E3D7-CFFC-AC0164101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Use </a:t>
            </a:r>
            <a:r>
              <a:rPr lang="en-ID" b="1" dirty="0"/>
              <a:t>monitor mode</a:t>
            </a:r>
            <a:r>
              <a:rPr lang="en-ID" dirty="0"/>
              <a:t> to capture all 802.11 traffic.</a:t>
            </a:r>
          </a:p>
          <a:p>
            <a:r>
              <a:rPr lang="en-ID" dirty="0"/>
              <a:t>Perform </a:t>
            </a:r>
            <a:r>
              <a:rPr lang="en-ID" b="1" dirty="0"/>
              <a:t>channel hopping</a:t>
            </a:r>
            <a:r>
              <a:rPr lang="en-ID" dirty="0"/>
              <a:t> to scan multiple frequencies.</a:t>
            </a:r>
          </a:p>
          <a:p>
            <a:r>
              <a:rPr lang="en-ID" dirty="0"/>
              <a:t>Record </a:t>
            </a:r>
            <a:r>
              <a:rPr lang="en-ID" b="1" dirty="0"/>
              <a:t>time, channel, and location</a:t>
            </a:r>
            <a:r>
              <a:rPr lang="en-ID" dirty="0"/>
              <a:t> of the capture.</a:t>
            </a:r>
          </a:p>
          <a:p>
            <a:r>
              <a:rPr lang="en-ID" dirty="0"/>
              <a:t>Save captures in .</a:t>
            </a:r>
            <a:r>
              <a:rPr lang="en-ID" dirty="0" err="1"/>
              <a:t>pcap</a:t>
            </a:r>
            <a:r>
              <a:rPr lang="en-ID" dirty="0"/>
              <a:t> format for repeatable analysis.</a:t>
            </a:r>
          </a:p>
        </p:txBody>
      </p:sp>
    </p:spTree>
    <p:extLst>
      <p:ext uri="{BB962C8B-B14F-4D97-AF65-F5344CB8AC3E}">
        <p14:creationId xmlns:p14="http://schemas.microsoft.com/office/powerpoint/2010/main" val="1709120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7A1B-1359-00C3-B1BB-10511114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Forensic Tools for Wireless Capture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8D646-A01D-DC62-99A5-8AC23D081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Wireshark:</a:t>
            </a:r>
            <a:r>
              <a:rPr lang="en-ID" dirty="0"/>
              <a:t> detailed frame analysis.</a:t>
            </a:r>
          </a:p>
          <a:p>
            <a:r>
              <a:rPr lang="en-ID" b="1" dirty="0"/>
              <a:t>Kismet:</a:t>
            </a:r>
            <a:r>
              <a:rPr lang="en-ID" dirty="0"/>
              <a:t> network discovery and passive capture.</a:t>
            </a:r>
          </a:p>
          <a:p>
            <a:r>
              <a:rPr lang="en-ID" b="1" dirty="0" err="1"/>
              <a:t>Aircrack</a:t>
            </a:r>
            <a:r>
              <a:rPr lang="en-ID" b="1" dirty="0"/>
              <a:t>-ng suite:</a:t>
            </a:r>
            <a:r>
              <a:rPr lang="en-ID" dirty="0"/>
              <a:t> </a:t>
            </a:r>
            <a:r>
              <a:rPr lang="en-ID" dirty="0" err="1"/>
              <a:t>airmon</a:t>
            </a:r>
            <a:r>
              <a:rPr lang="en-ID" dirty="0"/>
              <a:t>-ng, </a:t>
            </a:r>
            <a:r>
              <a:rPr lang="en-ID" dirty="0" err="1"/>
              <a:t>airodump</a:t>
            </a:r>
            <a:r>
              <a:rPr lang="en-ID" dirty="0"/>
              <a:t>-ng, </a:t>
            </a:r>
            <a:r>
              <a:rPr lang="en-ID" dirty="0" err="1"/>
              <a:t>aireplay</a:t>
            </a:r>
            <a:r>
              <a:rPr lang="en-ID" dirty="0"/>
              <a:t>-ng.</a:t>
            </a:r>
          </a:p>
          <a:p>
            <a:r>
              <a:rPr lang="en-ID" b="1" dirty="0" err="1"/>
              <a:t>Bettercap</a:t>
            </a:r>
            <a:r>
              <a:rPr lang="en-ID" b="1" dirty="0"/>
              <a:t>:</a:t>
            </a:r>
            <a:r>
              <a:rPr lang="en-ID" dirty="0"/>
              <a:t> MITM and rogue AP testing.</a:t>
            </a:r>
          </a:p>
          <a:p>
            <a:r>
              <a:rPr lang="en-ID" b="1" dirty="0" err="1"/>
              <a:t>Zeek</a:t>
            </a:r>
            <a:r>
              <a:rPr lang="en-ID" b="1" dirty="0"/>
              <a:t> (Bro):</a:t>
            </a:r>
            <a:r>
              <a:rPr lang="en-ID" dirty="0"/>
              <a:t> advanced traffic logging.</a:t>
            </a:r>
          </a:p>
        </p:txBody>
      </p:sp>
    </p:spTree>
    <p:extLst>
      <p:ext uri="{BB962C8B-B14F-4D97-AF65-F5344CB8AC3E}">
        <p14:creationId xmlns:p14="http://schemas.microsoft.com/office/powerpoint/2010/main" val="37550517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45B8-EE34-725D-8019-19E47E1E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Identifying Wireless Attacks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125D-AA0B-EF8A-176F-BC6263F4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Common Attack Types:</a:t>
            </a:r>
            <a:endParaRPr lang="en-ID" dirty="0"/>
          </a:p>
          <a:p>
            <a:r>
              <a:rPr lang="en-ID" b="1" dirty="0"/>
              <a:t>Rogue AP / Evil Twin:</a:t>
            </a:r>
            <a:r>
              <a:rPr lang="en-ID" dirty="0"/>
              <a:t> fake AP with same SSID.</a:t>
            </a:r>
          </a:p>
          <a:p>
            <a:r>
              <a:rPr lang="en-ID" b="1" dirty="0" err="1"/>
              <a:t>Deauthentication</a:t>
            </a:r>
            <a:r>
              <a:rPr lang="en-ID" b="1" dirty="0"/>
              <a:t> attack:</a:t>
            </a:r>
            <a:r>
              <a:rPr lang="en-ID" dirty="0"/>
              <a:t> forces clients to reconnect to rogue AP.</a:t>
            </a:r>
          </a:p>
          <a:p>
            <a:r>
              <a:rPr lang="en-ID" b="1" dirty="0"/>
              <a:t>MAC spoofing:</a:t>
            </a:r>
            <a:r>
              <a:rPr lang="en-ID" dirty="0"/>
              <a:t> attacker mimics legitimate devices.</a:t>
            </a:r>
          </a:p>
          <a:p>
            <a:r>
              <a:rPr lang="en-ID" b="1" dirty="0"/>
              <a:t>KRACK:</a:t>
            </a:r>
            <a:r>
              <a:rPr lang="en-ID" dirty="0"/>
              <a:t> exploits WPA2 reinstallation flaws.</a:t>
            </a:r>
          </a:p>
        </p:txBody>
      </p:sp>
    </p:spTree>
    <p:extLst>
      <p:ext uri="{BB962C8B-B14F-4D97-AF65-F5344CB8AC3E}">
        <p14:creationId xmlns:p14="http://schemas.microsoft.com/office/powerpoint/2010/main" val="356292882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D81F-270C-4682-0651-F2468E35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Case Study: The Campus Rogue 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7A16-16CC-B23C-4392-7551A47D1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Garuda University, students were repeatedly disconnected from </a:t>
            </a:r>
            <a:r>
              <a:rPr lang="en-ID" i="1" dirty="0" err="1"/>
              <a:t>CampusSecure</a:t>
            </a:r>
            <a:r>
              <a:rPr lang="en-ID" dirty="0"/>
              <a:t> Wi-Fi. A capture revealed a second AP with the same SSID but different MAC.</a:t>
            </a:r>
            <a:br>
              <a:rPr lang="en-ID" dirty="0"/>
            </a:br>
            <a:r>
              <a:rPr lang="en-ID" dirty="0"/>
              <a:t>Students were redirected to a fake login page; credentials were posted to the rogue device. The AP vanished before it could be seized.</a:t>
            </a:r>
          </a:p>
        </p:txBody>
      </p:sp>
    </p:spTree>
    <p:extLst>
      <p:ext uri="{BB962C8B-B14F-4D97-AF65-F5344CB8AC3E}">
        <p14:creationId xmlns:p14="http://schemas.microsoft.com/office/powerpoint/2010/main" val="31315145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D5B7-E83F-0D60-0CEC-7BEB87D5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Evidence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EFC5-0DB5-C4C0-7D35-74EB13AAB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Best Practices:</a:t>
            </a:r>
            <a:endParaRPr lang="en-ID" dirty="0"/>
          </a:p>
          <a:p>
            <a:r>
              <a:rPr lang="en-ID" dirty="0"/>
              <a:t>Label captures: time, channel, and GPS location if possible.</a:t>
            </a:r>
          </a:p>
          <a:p>
            <a:r>
              <a:rPr lang="en-ID" dirty="0"/>
              <a:t>Hash .</a:t>
            </a:r>
            <a:r>
              <a:rPr lang="en-ID" dirty="0" err="1"/>
              <a:t>pcap</a:t>
            </a:r>
            <a:r>
              <a:rPr lang="en-ID" dirty="0"/>
              <a:t> files using SHA-256.</a:t>
            </a:r>
          </a:p>
          <a:p>
            <a:r>
              <a:rPr lang="en-ID" dirty="0"/>
              <a:t>Maintain a chain of custody log.</a:t>
            </a:r>
          </a:p>
          <a:p>
            <a:r>
              <a:rPr lang="en-ID" dirty="0"/>
              <a:t>Take screenshots of key frames for reports.</a:t>
            </a:r>
          </a:p>
        </p:txBody>
      </p:sp>
    </p:spTree>
    <p:extLst>
      <p:ext uri="{BB962C8B-B14F-4D97-AF65-F5344CB8AC3E}">
        <p14:creationId xmlns:p14="http://schemas.microsoft.com/office/powerpoint/2010/main" val="6397800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70D8-57C9-5022-9CFF-4B67A4A4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Discussion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EC2E-B62A-850A-4EA9-6E0C4AD5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/>
              <a:t>You’re assigned to investigate a rogue AP case on campus. You have a .</a:t>
            </a:r>
            <a:r>
              <a:rPr lang="en-ID" dirty="0" err="1"/>
              <a:t>pcap</a:t>
            </a:r>
            <a:r>
              <a:rPr lang="en-ID" dirty="0"/>
              <a:t> file containing beacon frames from multiple SSIDs, including </a:t>
            </a:r>
            <a:r>
              <a:rPr lang="en-ID" i="1" dirty="0" err="1"/>
              <a:t>CampusSecure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b="1" dirty="0"/>
              <a:t>Questions for Students:</a:t>
            </a:r>
            <a:endParaRPr lang="en-ID" dirty="0"/>
          </a:p>
          <a:p>
            <a:pPr marL="914400" indent="-914400">
              <a:buFont typeface="+mj-lt"/>
              <a:buAutoNum type="arabicPeriod"/>
            </a:pPr>
            <a:r>
              <a:rPr lang="en-ID" dirty="0"/>
              <a:t>How can you tell which AP is fake?</a:t>
            </a:r>
          </a:p>
          <a:p>
            <a:pPr marL="914400" indent="-914400">
              <a:buFont typeface="+mj-lt"/>
              <a:buAutoNum type="arabicPeriod"/>
            </a:pPr>
            <a:r>
              <a:rPr lang="en-ID" dirty="0"/>
              <a:t>Which frame types would you focus on?</a:t>
            </a:r>
          </a:p>
          <a:p>
            <a:pPr marL="914400" indent="-914400">
              <a:buFont typeface="+mj-lt"/>
              <a:buAutoNum type="arabicPeriod"/>
            </a:pPr>
            <a:r>
              <a:rPr lang="en-ID" dirty="0"/>
              <a:t>What tools or filters would you apply?</a:t>
            </a:r>
          </a:p>
          <a:p>
            <a:pPr marL="0" indent="0">
              <a:buNone/>
            </a:pPr>
            <a:r>
              <a:rPr lang="en-ID" b="1" dirty="0"/>
              <a:t>Sample Answer:</a:t>
            </a:r>
          </a:p>
          <a:p>
            <a:r>
              <a:rPr lang="en-ID" dirty="0"/>
              <a:t>“Compare MACs against known legitimate ones. The rogue AP usually has inconsistent vendor prefixes or channel usage.</a:t>
            </a:r>
          </a:p>
          <a:p>
            <a:r>
              <a:rPr lang="en-ID" dirty="0"/>
              <a:t>Filter by </a:t>
            </a:r>
            <a:r>
              <a:rPr lang="en-ID" dirty="0" err="1"/>
              <a:t>wlan.fc.type_subtype</a:t>
            </a:r>
            <a:r>
              <a:rPr lang="en-ID" dirty="0"/>
              <a:t> == 8 (Beacon frames) to isolate network announcements.”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601489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92EA-AD85-C96E-A03E-2FF8898B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Hands-on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2F6E-26C7-6EE5-CCF2-FBAA90AA9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Go to the Sample Captures on Wireshark start page</a:t>
            </a:r>
          </a:p>
          <a:p>
            <a:pPr marL="0" indent="0">
              <a:buNone/>
            </a:pPr>
            <a:r>
              <a:rPr lang="en-ID" dirty="0"/>
              <a:t>Download and open </a:t>
            </a:r>
            <a:r>
              <a:rPr lang="en-ID" dirty="0" err="1"/>
              <a:t>mesh.pcap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Questions</a:t>
            </a:r>
          </a:p>
          <a:p>
            <a:pPr marL="0" indent="0">
              <a:buNone/>
            </a:pPr>
            <a:r>
              <a:rPr lang="en-ID" dirty="0"/>
              <a:t>1. On which channel and on which band does the communication occur?</a:t>
            </a:r>
          </a:p>
          <a:p>
            <a:pPr marL="0" indent="0">
              <a:buNone/>
            </a:pPr>
            <a:r>
              <a:rPr lang="en-ID" dirty="0"/>
              <a:t>2. How did the SSI Signal value change over time?</a:t>
            </a:r>
          </a:p>
          <a:p>
            <a:pPr marL="0" indent="0">
              <a:buNone/>
            </a:pPr>
            <a:r>
              <a:rPr lang="en-ID" dirty="0"/>
              <a:t>3. What was the data rate of </a:t>
            </a:r>
            <a:r>
              <a:rPr lang="en-ID"/>
              <a:t>those packets?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35279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29185-DEBA-2653-928F-12E0AF1E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5367731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2140</TotalTime>
  <Words>1125</Words>
  <Application>Microsoft Office PowerPoint</Application>
  <PresentationFormat>Custom</PresentationFormat>
  <Paragraphs>99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Helvetica Neue Medium</vt:lpstr>
      <vt:lpstr>OCRB</vt:lpstr>
      <vt:lpstr>Open Sans ExtraBold</vt:lpstr>
      <vt:lpstr>Open Sans Light</vt:lpstr>
      <vt:lpstr>Open Sans Semibold</vt:lpstr>
      <vt:lpstr>-webkit-standard</vt:lpstr>
      <vt:lpstr>21_BasicWhite</vt:lpstr>
      <vt:lpstr>Wireless Network forensics</vt:lpstr>
      <vt:lpstr>Learning Objectives</vt:lpstr>
      <vt:lpstr>What is Wireless Network Forensics?</vt:lpstr>
      <vt:lpstr>802.11 Basics</vt:lpstr>
      <vt:lpstr>802.11 Frame Structure</vt:lpstr>
      <vt:lpstr>Wireless Authentication and Encryption</vt:lpstr>
      <vt:lpstr>Capturing Wireless Evidence</vt:lpstr>
      <vt:lpstr>Forensic Tools for Wireless Capture</vt:lpstr>
      <vt:lpstr>Identifying Wireless Attacks</vt:lpstr>
      <vt:lpstr>Case Study: The Campus Rogue AP</vt:lpstr>
      <vt:lpstr>Evidence Documentation</vt:lpstr>
      <vt:lpstr>Discussion Activity</vt:lpstr>
      <vt:lpstr>Hands-on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Satrio Pradono, S.Kom., M.T.I.</dc:creator>
  <cp:lastModifiedBy>Kalpin Erlangga S</cp:lastModifiedBy>
  <cp:revision>29</cp:revision>
  <dcterms:created xsi:type="dcterms:W3CDTF">2024-08-21T04:45:24Z</dcterms:created>
  <dcterms:modified xsi:type="dcterms:W3CDTF">2025-10-24T01:23:27Z</dcterms:modified>
</cp:coreProperties>
</file>
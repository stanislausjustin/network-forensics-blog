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93" r:id="rId3"/>
    <p:sldId id="316" r:id="rId4"/>
    <p:sldId id="332" r:id="rId5"/>
    <p:sldId id="333" r:id="rId6"/>
    <p:sldId id="317" r:id="rId7"/>
    <p:sldId id="318" r:id="rId8"/>
    <p:sldId id="334" r:id="rId9"/>
    <p:sldId id="335" r:id="rId10"/>
    <p:sldId id="319" r:id="rId11"/>
    <p:sldId id="336" r:id="rId12"/>
    <p:sldId id="337" r:id="rId13"/>
    <p:sldId id="320" r:id="rId14"/>
    <p:sldId id="338" r:id="rId15"/>
    <p:sldId id="339" r:id="rId16"/>
    <p:sldId id="321" r:id="rId17"/>
    <p:sldId id="340" r:id="rId18"/>
    <p:sldId id="341" r:id="rId19"/>
    <p:sldId id="322" r:id="rId20"/>
    <p:sldId id="342" r:id="rId21"/>
    <p:sldId id="343" r:id="rId22"/>
    <p:sldId id="323" r:id="rId23"/>
    <p:sldId id="324" r:id="rId24"/>
    <p:sldId id="325" r:id="rId25"/>
    <p:sldId id="326" r:id="rId26"/>
    <p:sldId id="327" r:id="rId27"/>
    <p:sldId id="344" r:id="rId28"/>
    <p:sldId id="328" r:id="rId29"/>
    <p:sldId id="329" r:id="rId30"/>
    <p:sldId id="330" r:id="rId31"/>
    <p:sldId id="345" r:id="rId32"/>
    <p:sldId id="346" r:id="rId33"/>
    <p:sldId id="347" r:id="rId34"/>
    <p:sldId id="348" r:id="rId35"/>
    <p:sldId id="349" r:id="rId36"/>
    <p:sldId id="352" r:id="rId37"/>
    <p:sldId id="350" r:id="rId38"/>
    <p:sldId id="351" r:id="rId39"/>
    <p:sldId id="353" r:id="rId40"/>
    <p:sldId id="354" r:id="rId41"/>
    <p:sldId id="355" r:id="rId42"/>
    <p:sldId id="356" r:id="rId43"/>
    <p:sldId id="357" r:id="rId44"/>
    <p:sldId id="331" r:id="rId45"/>
    <p:sldId id="315" r:id="rId4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FDCF6184-A2D9-AB41-A157-73E9C07C27FC}">
          <p14:sldIdLst>
            <p14:sldId id="256"/>
            <p14:sldId id="293"/>
            <p14:sldId id="316"/>
            <p14:sldId id="332"/>
            <p14:sldId id="333"/>
            <p14:sldId id="317"/>
            <p14:sldId id="318"/>
            <p14:sldId id="334"/>
            <p14:sldId id="335"/>
            <p14:sldId id="319"/>
            <p14:sldId id="336"/>
            <p14:sldId id="337"/>
            <p14:sldId id="320"/>
            <p14:sldId id="338"/>
            <p14:sldId id="339"/>
            <p14:sldId id="321"/>
            <p14:sldId id="340"/>
            <p14:sldId id="341"/>
            <p14:sldId id="322"/>
            <p14:sldId id="342"/>
            <p14:sldId id="343"/>
            <p14:sldId id="323"/>
            <p14:sldId id="324"/>
            <p14:sldId id="325"/>
            <p14:sldId id="326"/>
            <p14:sldId id="327"/>
            <p14:sldId id="344"/>
            <p14:sldId id="328"/>
            <p14:sldId id="329"/>
            <p14:sldId id="330"/>
            <p14:sldId id="345"/>
            <p14:sldId id="346"/>
            <p14:sldId id="347"/>
            <p14:sldId id="348"/>
            <p14:sldId id="349"/>
            <p14:sldId id="352"/>
            <p14:sldId id="350"/>
            <p14:sldId id="351"/>
            <p14:sldId id="353"/>
            <p14:sldId id="354"/>
            <p14:sldId id="355"/>
            <p14:sldId id="356"/>
            <p14:sldId id="357"/>
            <p14:sldId id="331"/>
            <p14:sldId id="315"/>
          </p14:sldIdLst>
        </p14:section>
      </p14:sectionLst>
    </p:ex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4A4"/>
    <a:srgbClr val="1C8ED3"/>
    <a:srgbClr val="23A1E1"/>
    <a:srgbClr val="F724FF"/>
    <a:srgbClr val="45FFFF"/>
    <a:srgbClr val="4AFD00"/>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70" autoAdjust="0"/>
    <p:restoredTop sz="82220"/>
  </p:normalViewPr>
  <p:slideViewPr>
    <p:cSldViewPr snapToGrid="0" snapToObjects="1">
      <p:cViewPr varScale="1">
        <p:scale>
          <a:sx n="60" d="100"/>
          <a:sy n="60" d="100"/>
        </p:scale>
        <p:origin x="1392" y="17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0" i="0" u="none" strike="noStrike" dirty="0">
                <a:solidFill>
                  <a:srgbClr val="000000"/>
                </a:solidFill>
                <a:effectLst/>
                <a:latin typeface="-webkit-standard"/>
              </a:rPr>
              <a:t>Welcome back to our Network Forensics class. This week, we’ll talk about </a:t>
            </a:r>
            <a:r>
              <a:rPr lang="en-ID" b="0" i="1" u="none" strike="noStrike" dirty="0">
                <a:solidFill>
                  <a:srgbClr val="000000"/>
                </a:solidFill>
                <a:effectLst/>
              </a:rPr>
              <a:t>Sources of Evidence in Network Forensics</a:t>
            </a:r>
            <a:r>
              <a:rPr lang="en-ID" b="0" i="0" u="none" strike="noStrike" dirty="0">
                <a:solidFill>
                  <a:srgbClr val="000000"/>
                </a:solidFill>
                <a:effectLst/>
                <a:latin typeface="-webkit-standard"/>
              </a:rPr>
              <a:t>. Last week we looked at the big picture and methodology. Now we’ll dig into where the actual proof of an attack comes from.</a:t>
            </a:r>
            <a:endParaRPr lang="en-US" dirty="0"/>
          </a:p>
        </p:txBody>
      </p:sp>
    </p:spTree>
    <p:extLst>
      <p:ext uri="{BB962C8B-B14F-4D97-AF65-F5344CB8AC3E}">
        <p14:creationId xmlns:p14="http://schemas.microsoft.com/office/powerpoint/2010/main" val="2827974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0" i="0" u="none" strike="noStrike" dirty="0">
                <a:solidFill>
                  <a:srgbClr val="000000"/>
                </a:solidFill>
                <a:effectLst/>
                <a:latin typeface="-webkit-standard"/>
              </a:rPr>
              <a:t>By the end of this session, you should be able to identify different sources of evidence in a network, explain packet captures, flow records, and logs, distinguish volatile versus non-volatile evidence, understand chain of custody and integrity, and finally, learn how to correlate different sources to build a complete investigation.</a:t>
            </a:r>
            <a:endParaRPr lang="en-US" dirty="0"/>
          </a:p>
        </p:txBody>
      </p:sp>
    </p:spTree>
    <p:extLst>
      <p:ext uri="{BB962C8B-B14F-4D97-AF65-F5344CB8AC3E}">
        <p14:creationId xmlns:p14="http://schemas.microsoft.com/office/powerpoint/2010/main" val="695212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ID" b="0" i="0" u="none" strike="noStrike" dirty="0">
                <a:solidFill>
                  <a:srgbClr val="000000"/>
                </a:solidFill>
                <a:effectLst/>
              </a:rPr>
              <a:t>Evidence is the foundation of any forensic investigation. Without evidence, we can’t prove an intrusion, we can’t explain what happened, and we certainly can’t hold anyone accountable.</a:t>
            </a:r>
          </a:p>
          <a:p>
            <a:pPr algn="l"/>
            <a:r>
              <a:rPr lang="en-ID" b="0" i="0" u="none" strike="noStrike" dirty="0">
                <a:solidFill>
                  <a:srgbClr val="000000"/>
                </a:solidFill>
                <a:effectLst/>
              </a:rPr>
              <a:t>Let’s look at two cases.</a:t>
            </a:r>
          </a:p>
        </p:txBody>
      </p:sp>
    </p:spTree>
    <p:extLst>
      <p:ext uri="{BB962C8B-B14F-4D97-AF65-F5344CB8AC3E}">
        <p14:creationId xmlns:p14="http://schemas.microsoft.com/office/powerpoint/2010/main" val="892335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ID" b="1" i="0" u="none" strike="noStrike" dirty="0">
                <a:solidFill>
                  <a:srgbClr val="000000"/>
                </a:solidFill>
                <a:effectLst/>
              </a:rPr>
              <a:t>Internationally, the Equifax breach in 2017.</a:t>
            </a:r>
            <a:r>
              <a:rPr lang="en-ID" b="0" i="0" u="none" strike="noStrike" dirty="0">
                <a:solidFill>
                  <a:srgbClr val="000000"/>
                </a:solidFill>
                <a:effectLst/>
              </a:rPr>
              <a:t> Attackers exploited a vulnerability in Apache Struts. Evidence sources included firewall logs that flagged suspicious requests, web server logs that revealed the exploit commands, database logs that confirmed unauthorized queries, and NetFlow that showed huge outbound transfers. The result? Investigators confirmed the exfiltration of 147 million records, and Equifax was fined 700 million dollars.</a:t>
            </a:r>
          </a:p>
          <a:p>
            <a:endParaRPr lang="en-US" dirty="0"/>
          </a:p>
        </p:txBody>
      </p:sp>
    </p:spTree>
    <p:extLst>
      <p:ext uri="{BB962C8B-B14F-4D97-AF65-F5344CB8AC3E}">
        <p14:creationId xmlns:p14="http://schemas.microsoft.com/office/powerpoint/2010/main" val="3321608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ID" b="1" i="0" u="none" strike="noStrike" dirty="0">
                <a:solidFill>
                  <a:srgbClr val="000000"/>
                </a:solidFill>
                <a:effectLst/>
              </a:rPr>
              <a:t>Locally, in Indonesia, Tokopedia’s 2020 breach.</a:t>
            </a:r>
            <a:r>
              <a:rPr lang="en-ID" b="0" i="0" u="none" strike="noStrike" dirty="0">
                <a:solidFill>
                  <a:srgbClr val="000000"/>
                </a:solidFill>
                <a:effectLst/>
              </a:rPr>
              <a:t> Application server logs showed SQL injection attempts, firewall and IDS logs revealed abnormal queries, database logs showed a mass dump of accounts, and NetFlow showed outbound traffic to unknown IPs. The result was 91 million accounts sold on the dark web, exposing weak monitoring and poor validation practices.</a:t>
            </a:r>
          </a:p>
          <a:p>
            <a:pPr algn="l"/>
            <a:r>
              <a:rPr lang="en-ID" b="0" i="0" u="none" strike="noStrike" dirty="0">
                <a:solidFill>
                  <a:srgbClr val="000000"/>
                </a:solidFill>
                <a:effectLst/>
              </a:rPr>
              <a:t>Both cases remind us that evidence is the only way to reconstruct what really happened.</a:t>
            </a:r>
          </a:p>
          <a:p>
            <a:endParaRPr lang="en-US" dirty="0"/>
          </a:p>
        </p:txBody>
      </p:sp>
    </p:spTree>
    <p:extLst>
      <p:ext uri="{BB962C8B-B14F-4D97-AF65-F5344CB8AC3E}">
        <p14:creationId xmlns:p14="http://schemas.microsoft.com/office/powerpoint/2010/main" val="2297736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ID" b="0" i="0" u="none" strike="noStrike" dirty="0">
                <a:solidFill>
                  <a:srgbClr val="000000"/>
                </a:solidFill>
                <a:effectLst/>
              </a:rPr>
              <a:t>In network forensics, evidence comes in several forms:</a:t>
            </a:r>
          </a:p>
          <a:p>
            <a:pPr algn="l">
              <a:buFont typeface="Arial" panose="020B0604020202020204" pitchFamily="34" charset="0"/>
              <a:buChar char="•"/>
            </a:pPr>
            <a:r>
              <a:rPr lang="en-ID" b="1" i="0" u="none" strike="noStrike" dirty="0">
                <a:solidFill>
                  <a:srgbClr val="000000"/>
                </a:solidFill>
                <a:effectLst/>
              </a:rPr>
              <a:t>Packet captures</a:t>
            </a:r>
            <a:r>
              <a:rPr lang="en-ID" b="0" i="0" u="none" strike="noStrike" dirty="0">
                <a:solidFill>
                  <a:srgbClr val="000000"/>
                </a:solidFill>
                <a:effectLst/>
              </a:rPr>
              <a:t>, the raw traffic, often </a:t>
            </a:r>
            <a:r>
              <a:rPr lang="en-ID" b="0" i="0" u="none" strike="noStrike" dirty="0" err="1">
                <a:solidFill>
                  <a:srgbClr val="000000"/>
                </a:solidFill>
                <a:effectLst/>
              </a:rPr>
              <a:t>analyzed</a:t>
            </a:r>
            <a:r>
              <a:rPr lang="en-ID" b="0" i="0" u="none" strike="noStrike" dirty="0">
                <a:solidFill>
                  <a:srgbClr val="000000"/>
                </a:solidFill>
                <a:effectLst/>
              </a:rPr>
              <a:t> with tools like Wireshark.</a:t>
            </a:r>
          </a:p>
          <a:p>
            <a:pPr algn="l">
              <a:buFont typeface="Arial" panose="020B0604020202020204" pitchFamily="34" charset="0"/>
              <a:buChar char="•"/>
            </a:pPr>
            <a:r>
              <a:rPr lang="en-ID" b="1" i="0" u="none" strike="noStrike" dirty="0">
                <a:solidFill>
                  <a:srgbClr val="000000"/>
                </a:solidFill>
                <a:effectLst/>
              </a:rPr>
              <a:t>Flow records</a:t>
            </a:r>
            <a:r>
              <a:rPr lang="en-ID" b="0" i="0" u="none" strike="noStrike" dirty="0">
                <a:solidFill>
                  <a:srgbClr val="000000"/>
                </a:solidFill>
                <a:effectLst/>
              </a:rPr>
              <a:t> like NetFlow, which summarize communications without full content.</a:t>
            </a:r>
          </a:p>
          <a:p>
            <a:pPr algn="l">
              <a:buFont typeface="Arial" panose="020B0604020202020204" pitchFamily="34" charset="0"/>
              <a:buChar char="•"/>
            </a:pPr>
            <a:r>
              <a:rPr lang="en-ID" b="1" i="0" u="none" strike="noStrike" dirty="0">
                <a:solidFill>
                  <a:srgbClr val="000000"/>
                </a:solidFill>
                <a:effectLst/>
              </a:rPr>
              <a:t>Device logs</a:t>
            </a:r>
            <a:r>
              <a:rPr lang="en-ID" b="0" i="0" u="none" strike="noStrike" dirty="0">
                <a:solidFill>
                  <a:srgbClr val="000000"/>
                </a:solidFill>
                <a:effectLst/>
              </a:rPr>
              <a:t> from routers, switches, and firewalls.</a:t>
            </a:r>
          </a:p>
          <a:p>
            <a:pPr algn="l">
              <a:buFont typeface="Arial" panose="020B0604020202020204" pitchFamily="34" charset="0"/>
              <a:buChar char="•"/>
            </a:pPr>
            <a:r>
              <a:rPr lang="en-ID" b="1" i="0" u="none" strike="noStrike" dirty="0">
                <a:solidFill>
                  <a:srgbClr val="000000"/>
                </a:solidFill>
                <a:effectLst/>
              </a:rPr>
              <a:t>System logs</a:t>
            </a:r>
            <a:r>
              <a:rPr lang="en-ID" b="0" i="0" u="none" strike="noStrike" dirty="0">
                <a:solidFill>
                  <a:srgbClr val="000000"/>
                </a:solidFill>
                <a:effectLst/>
              </a:rPr>
              <a:t>, which include OS and authentication data.</a:t>
            </a:r>
          </a:p>
          <a:p>
            <a:pPr algn="l">
              <a:buFont typeface="Arial" panose="020B0604020202020204" pitchFamily="34" charset="0"/>
              <a:buChar char="•"/>
            </a:pPr>
            <a:r>
              <a:rPr lang="en-ID" b="1" i="0" u="none" strike="noStrike" dirty="0">
                <a:solidFill>
                  <a:srgbClr val="000000"/>
                </a:solidFill>
                <a:effectLst/>
              </a:rPr>
              <a:t>IDS or IPS alerts</a:t>
            </a:r>
            <a:r>
              <a:rPr lang="en-ID" b="0" i="0" u="none" strike="noStrike" dirty="0">
                <a:solidFill>
                  <a:srgbClr val="000000"/>
                </a:solidFill>
                <a:effectLst/>
              </a:rPr>
              <a:t>, which raise the flag on suspicious </a:t>
            </a:r>
            <a:r>
              <a:rPr lang="en-ID" b="0" i="0" u="none" strike="noStrike" dirty="0" err="1">
                <a:solidFill>
                  <a:srgbClr val="000000"/>
                </a:solidFill>
                <a:effectLst/>
              </a:rPr>
              <a:t>behavior</a:t>
            </a:r>
            <a:r>
              <a:rPr lang="en-ID" b="0" i="0" u="none" strike="noStrike" dirty="0">
                <a:solidFill>
                  <a:srgbClr val="000000"/>
                </a:solidFill>
                <a:effectLst/>
              </a:rPr>
              <a:t>.</a:t>
            </a:r>
          </a:p>
          <a:p>
            <a:pPr algn="l"/>
            <a:r>
              <a:rPr lang="en-ID" b="0" i="0" u="none" strike="noStrike" dirty="0">
                <a:solidFill>
                  <a:srgbClr val="000000"/>
                </a:solidFill>
                <a:effectLst/>
              </a:rPr>
              <a:t>Each type of evidence has its strengths and weaknesses.”</a:t>
            </a:r>
          </a:p>
          <a:p>
            <a:endParaRPr lang="en-US" dirty="0"/>
          </a:p>
        </p:txBody>
      </p:sp>
    </p:spTree>
    <p:extLst>
      <p:ext uri="{BB962C8B-B14F-4D97-AF65-F5344CB8AC3E}">
        <p14:creationId xmlns:p14="http://schemas.microsoft.com/office/powerpoint/2010/main" val="4208827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0" i="0" u="none" strike="noStrike" dirty="0">
                <a:solidFill>
                  <a:srgbClr val="000000"/>
                </a:solidFill>
                <a:effectLst/>
                <a:latin typeface="-webkit-standard"/>
              </a:rPr>
              <a:t>Packet captures are the richest source. They contain headers and payloads, so they let us reconstruct conversations, detect malware, and </a:t>
            </a:r>
            <a:r>
              <a:rPr lang="en-ID" b="0" i="0" u="none" strike="noStrike" dirty="0" err="1">
                <a:solidFill>
                  <a:srgbClr val="000000"/>
                </a:solidFill>
                <a:effectLst/>
                <a:latin typeface="-webkit-standard"/>
              </a:rPr>
              <a:t>analyze</a:t>
            </a:r>
            <a:r>
              <a:rPr lang="en-ID" b="0" i="0" u="none" strike="noStrike" dirty="0">
                <a:solidFill>
                  <a:srgbClr val="000000"/>
                </a:solidFill>
                <a:effectLst/>
                <a:latin typeface="-webkit-standard"/>
              </a:rPr>
              <a:t> protocols. But the downside is they generate massive files and may contain sensitive data.</a:t>
            </a:r>
            <a:endParaRPr lang="en-US" dirty="0"/>
          </a:p>
        </p:txBody>
      </p:sp>
    </p:spTree>
    <p:extLst>
      <p:ext uri="{BB962C8B-B14F-4D97-AF65-F5344CB8AC3E}">
        <p14:creationId xmlns:p14="http://schemas.microsoft.com/office/powerpoint/2010/main" val="2398261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Global example: SolarWinds attack in 2020.</a:t>
            </a:r>
            <a:r>
              <a:rPr lang="en-ID" b="0" i="0" u="none" strike="noStrike" dirty="0">
                <a:solidFill>
                  <a:srgbClr val="000000"/>
                </a:solidFill>
                <a:effectLst/>
                <a:latin typeface="-webkit-standard"/>
              </a:rPr>
              <a:t> </a:t>
            </a:r>
            <a:r>
              <a:rPr lang="en-ID" b="0" i="0" u="none" strike="noStrike" dirty="0" err="1">
                <a:solidFill>
                  <a:srgbClr val="000000"/>
                </a:solidFill>
                <a:effectLst/>
                <a:latin typeface="-webkit-standard"/>
              </a:rPr>
              <a:t>Pcaps</a:t>
            </a:r>
            <a:r>
              <a:rPr lang="en-ID" b="0" i="0" u="none" strike="noStrike" dirty="0">
                <a:solidFill>
                  <a:srgbClr val="000000"/>
                </a:solidFill>
                <a:effectLst/>
                <a:latin typeface="-webkit-standard"/>
              </a:rPr>
              <a:t> revealed suspicious HTTPS callbacks, and DNS logs confirmed connections to attacker domains. Result: investigators uncovered a backdoor linked to a Russian APT.</a:t>
            </a:r>
            <a:endParaRPr lang="en-US" dirty="0"/>
          </a:p>
        </p:txBody>
      </p:sp>
    </p:spTree>
    <p:extLst>
      <p:ext uri="{BB962C8B-B14F-4D97-AF65-F5344CB8AC3E}">
        <p14:creationId xmlns:p14="http://schemas.microsoft.com/office/powerpoint/2010/main" val="572721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Local example: </a:t>
            </a:r>
            <a:r>
              <a:rPr lang="en-ID" b="1" i="0" u="none" strike="noStrike" dirty="0" err="1">
                <a:solidFill>
                  <a:srgbClr val="000000"/>
                </a:solidFill>
                <a:effectLst/>
              </a:rPr>
              <a:t>Kominfo</a:t>
            </a:r>
            <a:r>
              <a:rPr lang="en-ID" b="1" i="0" u="none" strike="noStrike" dirty="0">
                <a:solidFill>
                  <a:srgbClr val="000000"/>
                </a:solidFill>
                <a:effectLst/>
              </a:rPr>
              <a:t> website defacement in 2018.</a:t>
            </a:r>
            <a:r>
              <a:rPr lang="en-ID" b="0" i="0" u="none" strike="noStrike" dirty="0">
                <a:solidFill>
                  <a:srgbClr val="000000"/>
                </a:solidFill>
                <a:effectLst/>
                <a:latin typeface="-webkit-standard"/>
              </a:rPr>
              <a:t> </a:t>
            </a:r>
            <a:r>
              <a:rPr lang="en-ID" b="0" i="0" u="none" strike="noStrike" dirty="0" err="1">
                <a:solidFill>
                  <a:srgbClr val="000000"/>
                </a:solidFill>
                <a:effectLst/>
                <a:latin typeface="-webkit-standard"/>
              </a:rPr>
              <a:t>Pcaps</a:t>
            </a:r>
            <a:r>
              <a:rPr lang="en-ID" b="0" i="0" u="none" strike="noStrike" dirty="0">
                <a:solidFill>
                  <a:srgbClr val="000000"/>
                </a:solidFill>
                <a:effectLst/>
                <a:latin typeface="-webkit-standard"/>
              </a:rPr>
              <a:t> captured SQL injection payloads, and web server logs matched those requests with the defacement. The result was that investigators confirmed the attack method and secured other government sites.”</a:t>
            </a:r>
            <a:endParaRPr lang="en-US" dirty="0"/>
          </a:p>
        </p:txBody>
      </p:sp>
    </p:spTree>
    <p:extLst>
      <p:ext uri="{BB962C8B-B14F-4D97-AF65-F5344CB8AC3E}">
        <p14:creationId xmlns:p14="http://schemas.microsoft.com/office/powerpoint/2010/main" val="579555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0" i="0" u="none" strike="noStrike" dirty="0">
                <a:solidFill>
                  <a:srgbClr val="000000"/>
                </a:solidFill>
                <a:effectLst/>
                <a:latin typeface="-webkit-standard"/>
              </a:rPr>
              <a:t>Flow records don’t contain content, just metadata about who talked to whom, when, and how much. They’re lighter, easier to store, and great for spotting trends like DDoS or data exfiltration.</a:t>
            </a:r>
            <a:endParaRPr lang="en-US" dirty="0"/>
          </a:p>
        </p:txBody>
      </p:sp>
    </p:spTree>
    <p:extLst>
      <p:ext uri="{BB962C8B-B14F-4D97-AF65-F5344CB8AC3E}">
        <p14:creationId xmlns:p14="http://schemas.microsoft.com/office/powerpoint/2010/main" val="412093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Global case: GitHub DDoS attack in 2018.</a:t>
            </a:r>
            <a:r>
              <a:rPr lang="en-ID" b="0" i="0" u="none" strike="noStrike" dirty="0">
                <a:solidFill>
                  <a:srgbClr val="000000"/>
                </a:solidFill>
                <a:effectLst/>
                <a:latin typeface="-webkit-standard"/>
              </a:rPr>
              <a:t> NetFlow records showed a sudden spike from Memcached servers, and router logs confirmed amplification traffic. Result: GitHub worked with Akamai to mitigate the largest DDoS attack of its time.</a:t>
            </a:r>
            <a:endParaRPr lang="en-US" dirty="0"/>
          </a:p>
        </p:txBody>
      </p:sp>
    </p:spTree>
    <p:extLst>
      <p:ext uri="{BB962C8B-B14F-4D97-AF65-F5344CB8AC3E}">
        <p14:creationId xmlns:p14="http://schemas.microsoft.com/office/powerpoint/2010/main" val="1317384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Local case: Bank BRI ATM malware in 2019.</a:t>
            </a:r>
            <a:r>
              <a:rPr lang="en-ID" b="0" i="0" u="none" strike="noStrike" dirty="0">
                <a:solidFill>
                  <a:srgbClr val="000000"/>
                </a:solidFill>
                <a:effectLst/>
                <a:latin typeface="-webkit-standard"/>
              </a:rPr>
              <a:t> Flow logs showed unusual spikes from ATMs to external IPs, and firewall logs confirmed communication with attacker servers. Result: compromised ATMs were identified, preventing further fraudulent withdrawals.</a:t>
            </a:r>
            <a:endParaRPr lang="en-US" dirty="0"/>
          </a:p>
        </p:txBody>
      </p:sp>
    </p:spTree>
    <p:extLst>
      <p:ext uri="{BB962C8B-B14F-4D97-AF65-F5344CB8AC3E}">
        <p14:creationId xmlns:p14="http://schemas.microsoft.com/office/powerpoint/2010/main" val="3938191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0" i="0" u="none" strike="noStrike" dirty="0">
                <a:solidFill>
                  <a:srgbClr val="000000"/>
                </a:solidFill>
                <a:effectLst/>
                <a:latin typeface="-webkit-standard"/>
              </a:rPr>
              <a:t>Routers, switches, and firewalls all keep logs that are valuable in investigations. A firewall log entry like ‘Denied connection at 2 a.m.’ may be the first clue of an intrusion attempt</a:t>
            </a:r>
            <a:endParaRPr lang="en-US" dirty="0"/>
          </a:p>
        </p:txBody>
      </p:sp>
    </p:spTree>
    <p:extLst>
      <p:ext uri="{BB962C8B-B14F-4D97-AF65-F5344CB8AC3E}">
        <p14:creationId xmlns:p14="http://schemas.microsoft.com/office/powerpoint/2010/main" val="1880441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Global case: Marriott breach in 2018.</a:t>
            </a:r>
            <a:r>
              <a:rPr lang="en-ID" b="0" i="0" u="none" strike="noStrike" dirty="0">
                <a:solidFill>
                  <a:srgbClr val="000000"/>
                </a:solidFill>
                <a:effectLst/>
                <a:latin typeface="-webkit-standard"/>
              </a:rPr>
              <a:t> Firewall logs revealed repeated unauthorized connections, and router logs showed abnormal routing. Result: investigators discovered attackers had been inside since 2014, stealing 500 million records.</a:t>
            </a:r>
            <a:endParaRPr lang="en-US" dirty="0"/>
          </a:p>
        </p:txBody>
      </p:sp>
    </p:spTree>
    <p:extLst>
      <p:ext uri="{BB962C8B-B14F-4D97-AF65-F5344CB8AC3E}">
        <p14:creationId xmlns:p14="http://schemas.microsoft.com/office/powerpoint/2010/main" val="15942499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Local case: </a:t>
            </a:r>
            <a:r>
              <a:rPr lang="en-ID" b="1" i="0" u="none" strike="noStrike" dirty="0" err="1">
                <a:solidFill>
                  <a:srgbClr val="000000"/>
                </a:solidFill>
                <a:effectLst/>
              </a:rPr>
              <a:t>Telkomsel</a:t>
            </a:r>
            <a:r>
              <a:rPr lang="en-ID" b="1" i="0" u="none" strike="noStrike" dirty="0">
                <a:solidFill>
                  <a:srgbClr val="000000"/>
                </a:solidFill>
                <a:effectLst/>
              </a:rPr>
              <a:t> leak in 2017.</a:t>
            </a:r>
            <a:r>
              <a:rPr lang="en-ID" b="0" i="0" u="none" strike="noStrike" dirty="0">
                <a:solidFill>
                  <a:srgbClr val="000000"/>
                </a:solidFill>
                <a:effectLst/>
                <a:latin typeface="-webkit-standard"/>
              </a:rPr>
              <a:t> Firewall logs showed SQL injection attempts, and web server logs confirmed database queries. The result was millions of customer records exposed due to weak application security.”</a:t>
            </a:r>
            <a:endParaRPr lang="en-US" dirty="0"/>
          </a:p>
        </p:txBody>
      </p:sp>
    </p:spTree>
    <p:extLst>
      <p:ext uri="{BB962C8B-B14F-4D97-AF65-F5344CB8AC3E}">
        <p14:creationId xmlns:p14="http://schemas.microsoft.com/office/powerpoint/2010/main" val="3480130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0" i="0" u="none" strike="noStrike" dirty="0">
                <a:solidFill>
                  <a:srgbClr val="000000"/>
                </a:solidFill>
                <a:effectLst/>
                <a:latin typeface="-webkit-standard"/>
              </a:rPr>
              <a:t>System logs track authentication and activity, while application logs can show misuse of services.</a:t>
            </a:r>
            <a:endParaRPr lang="en-US" dirty="0"/>
          </a:p>
        </p:txBody>
      </p:sp>
    </p:spTree>
    <p:extLst>
      <p:ext uri="{BB962C8B-B14F-4D97-AF65-F5344CB8AC3E}">
        <p14:creationId xmlns:p14="http://schemas.microsoft.com/office/powerpoint/2010/main" val="4294021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Global case: Sony Pictures hack in 2014.</a:t>
            </a:r>
            <a:r>
              <a:rPr lang="en-ID" b="0" i="0" u="none" strike="noStrike" dirty="0">
                <a:solidFill>
                  <a:srgbClr val="000000"/>
                </a:solidFill>
                <a:effectLst/>
                <a:latin typeface="-webkit-standard"/>
              </a:rPr>
              <a:t> System logs showed unusual logins from foreign IPs, and application logs revealed large file access before servers were wiped. Result: linked to Lazarus Group, disrupting movie releases worldwide.</a:t>
            </a:r>
            <a:endParaRPr lang="en-US" dirty="0"/>
          </a:p>
        </p:txBody>
      </p:sp>
    </p:spTree>
    <p:extLst>
      <p:ext uri="{BB962C8B-B14F-4D97-AF65-F5344CB8AC3E}">
        <p14:creationId xmlns:p14="http://schemas.microsoft.com/office/powerpoint/2010/main" val="466068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i="0" u="none" strike="noStrike" dirty="0">
                <a:solidFill>
                  <a:srgbClr val="000000"/>
                </a:solidFill>
                <a:effectLst/>
              </a:rPr>
              <a:t>Local case: BPJS Kesehatan data leak in 2021.</a:t>
            </a:r>
            <a:r>
              <a:rPr lang="en-ID" b="0" i="0" u="none" strike="noStrike" dirty="0">
                <a:solidFill>
                  <a:srgbClr val="000000"/>
                </a:solidFill>
                <a:effectLst/>
                <a:latin typeface="-webkit-standard"/>
              </a:rPr>
              <a:t> Database logs showed massive unauthorized queries, and system logs revealed abnormal admin activity from foreign IPs. Result: 279 million records leaked to the dark web, creating a national crisis.”</a:t>
            </a:r>
            <a:endParaRPr lang="en-US" dirty="0"/>
          </a:p>
        </p:txBody>
      </p:sp>
    </p:spTree>
    <p:extLst>
      <p:ext uri="{BB962C8B-B14F-4D97-AF65-F5344CB8AC3E}">
        <p14:creationId xmlns:p14="http://schemas.microsoft.com/office/powerpoint/2010/main" val="1689668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IDS and IPS provide early detection, though they can raise false positives.</a:t>
            </a:r>
          </a:p>
          <a:p>
            <a:endParaRPr lang="en-US" dirty="0"/>
          </a:p>
        </p:txBody>
      </p:sp>
    </p:spTree>
    <p:extLst>
      <p:ext uri="{BB962C8B-B14F-4D97-AF65-F5344CB8AC3E}">
        <p14:creationId xmlns:p14="http://schemas.microsoft.com/office/powerpoint/2010/main" val="1804063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dirty="0"/>
              <a:t>Global case: Colonial Pipeline ransomware in 2021.</a:t>
            </a:r>
            <a:r>
              <a:rPr lang="en-ID" dirty="0"/>
              <a:t> IDS flagged malicious SMB traffic, and firewall logs revealed unusual lateral movement. Result: ransomware was identified as </a:t>
            </a:r>
            <a:r>
              <a:rPr lang="en-ID" dirty="0" err="1"/>
              <a:t>DarkSide</a:t>
            </a:r>
            <a:r>
              <a:rPr lang="en-ID" dirty="0"/>
              <a:t>, leading to a $4.4M ransom and major fuel shortages.</a:t>
            </a:r>
          </a:p>
          <a:p>
            <a:endParaRPr lang="en-US" dirty="0"/>
          </a:p>
        </p:txBody>
      </p:sp>
    </p:spTree>
    <p:extLst>
      <p:ext uri="{BB962C8B-B14F-4D97-AF65-F5344CB8AC3E}">
        <p14:creationId xmlns:p14="http://schemas.microsoft.com/office/powerpoint/2010/main" val="10527100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ID" b="1" dirty="0"/>
              <a:t>Local case: Indonesian university ransomware in 2020–2021.</a:t>
            </a:r>
            <a:r>
              <a:rPr lang="en-ID" dirty="0"/>
              <a:t> IDS detected brute force attempts, and system logs confirmed privilege escalation. Result: multiple universities suffered ransomware shutdowns.</a:t>
            </a:r>
          </a:p>
          <a:p>
            <a:endParaRPr lang="en-US" dirty="0"/>
          </a:p>
        </p:txBody>
      </p:sp>
    </p:spTree>
    <p:extLst>
      <p:ext uri="{BB962C8B-B14F-4D97-AF65-F5344CB8AC3E}">
        <p14:creationId xmlns:p14="http://schemas.microsoft.com/office/powerpoint/2010/main" val="1469612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A typical network has many components: clients, switches, routers, firewalls, IDS, and servers. Each is a potential crime scene. Browser history, MAC tables, routing info, connection attempts, alerts, and authentication logs all provide evidence to be collected and correlated.</a:t>
            </a:r>
            <a:endParaRPr lang="en-US" dirty="0"/>
          </a:p>
        </p:txBody>
      </p:sp>
    </p:spTree>
    <p:extLst>
      <p:ext uri="{BB962C8B-B14F-4D97-AF65-F5344CB8AC3E}">
        <p14:creationId xmlns:p14="http://schemas.microsoft.com/office/powerpoint/2010/main" val="23376753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err="1"/>
              <a:t>olatile</a:t>
            </a:r>
            <a:r>
              <a:rPr lang="en-ID" dirty="0"/>
              <a:t> evidence, like RAM or active sessions, disappears quickly. Non-volatile evidence, like logs and archives, persists. The golden rule: always collect volatile evidence first before it’s gone.</a:t>
            </a:r>
            <a:endParaRPr lang="en-US" dirty="0"/>
          </a:p>
        </p:txBody>
      </p:sp>
    </p:spTree>
    <p:extLst>
      <p:ext uri="{BB962C8B-B14F-4D97-AF65-F5344CB8AC3E}">
        <p14:creationId xmlns:p14="http://schemas.microsoft.com/office/powerpoint/2010/main" val="218022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Chain of custody means carefully documenting who collected evidence, when, where, and how. This prevents tampering claims and ensures evidence can stand in court. For example, signing the evidence log when passing a </a:t>
            </a:r>
            <a:r>
              <a:rPr lang="en-ID" dirty="0" err="1"/>
              <a:t>pcap</a:t>
            </a:r>
            <a:r>
              <a:rPr lang="en-ID" dirty="0"/>
              <a:t> to a colleague.</a:t>
            </a:r>
            <a:endParaRPr lang="en-US" dirty="0"/>
          </a:p>
        </p:txBody>
      </p:sp>
    </p:spTree>
    <p:extLst>
      <p:ext uri="{BB962C8B-B14F-4D97-AF65-F5344CB8AC3E}">
        <p14:creationId xmlns:p14="http://schemas.microsoft.com/office/powerpoint/2010/main" val="39947344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To prove evidence wasn’t altered, we hash files with algorithms like SHA-256. If the hash changes, the file has been tampered with. Courts have rejected evidence without hashes, since integrity couldn’t be verified.</a:t>
            </a:r>
            <a:endParaRPr lang="en-US" dirty="0"/>
          </a:p>
        </p:txBody>
      </p:sp>
    </p:spTree>
    <p:extLst>
      <p:ext uri="{BB962C8B-B14F-4D97-AF65-F5344CB8AC3E}">
        <p14:creationId xmlns:p14="http://schemas.microsoft.com/office/powerpoint/2010/main" val="32725991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dirty="0"/>
              <a:t>Global case: LinkedIn data breach 2021.</a:t>
            </a:r>
            <a:endParaRPr lang="en-ID" dirty="0"/>
          </a:p>
          <a:p>
            <a:pPr>
              <a:buFont typeface="Arial" panose="020B0604020202020204" pitchFamily="34" charset="0"/>
              <a:buChar char="•"/>
            </a:pPr>
            <a:r>
              <a:rPr lang="en-ID" dirty="0"/>
              <a:t>Web server logs showed automated scraping, firewall logs showed high-volume queries, and IDS alerts detected patterns.</a:t>
            </a:r>
          </a:p>
          <a:p>
            <a:pPr>
              <a:buFont typeface="Arial" panose="020B0604020202020204" pitchFamily="34" charset="0"/>
              <a:buChar char="•"/>
            </a:pPr>
            <a:r>
              <a:rPr lang="en-ID" dirty="0"/>
              <a:t>Result: 700M profiles scraped, sparking debate about legality.</a:t>
            </a:r>
          </a:p>
          <a:p>
            <a:endParaRPr lang="en-US" dirty="0"/>
          </a:p>
        </p:txBody>
      </p:sp>
    </p:spTree>
    <p:extLst>
      <p:ext uri="{BB962C8B-B14F-4D97-AF65-F5344CB8AC3E}">
        <p14:creationId xmlns:p14="http://schemas.microsoft.com/office/powerpoint/2010/main" val="2077352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b="1" dirty="0"/>
              <a:t>Local case: Indonesian COVID-19 contact tracing app leak.</a:t>
            </a:r>
            <a:endParaRPr lang="en-ID" dirty="0"/>
          </a:p>
          <a:p>
            <a:pPr>
              <a:buFont typeface="Arial" panose="020B0604020202020204" pitchFamily="34" charset="0"/>
              <a:buChar char="•"/>
            </a:pPr>
            <a:r>
              <a:rPr lang="en-ID" dirty="0"/>
              <a:t>Application logs revealed unauthorized API calls, and server logs showed bulk queries.</a:t>
            </a:r>
          </a:p>
          <a:p>
            <a:pPr>
              <a:buFont typeface="Arial" panose="020B0604020202020204" pitchFamily="34" charset="0"/>
              <a:buChar char="•"/>
            </a:pPr>
            <a:r>
              <a:rPr lang="en-ID" dirty="0"/>
              <a:t>Result: millions of vaccination records leaked, damaging public trust in e-health.”</a:t>
            </a:r>
          </a:p>
          <a:p>
            <a:endParaRPr lang="en-US" dirty="0"/>
          </a:p>
        </p:txBody>
      </p:sp>
    </p:spTree>
    <p:extLst>
      <p:ext uri="{BB962C8B-B14F-4D97-AF65-F5344CB8AC3E}">
        <p14:creationId xmlns:p14="http://schemas.microsoft.com/office/powerpoint/2010/main" val="3983053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No single log tells the whole story. Investigators must cross-check logs, </a:t>
            </a:r>
            <a:r>
              <a:rPr lang="en-ID" dirty="0" err="1"/>
              <a:t>pcaps</a:t>
            </a:r>
            <a:r>
              <a:rPr lang="en-ID" dirty="0"/>
              <a:t>, IDS alerts, and system records to build a timeline and attack chain.</a:t>
            </a:r>
          </a:p>
          <a:p>
            <a:r>
              <a:rPr lang="en-ID" dirty="0"/>
              <a:t>Example: in a DDoS attack, firewall logs reveal spikes, router logs confirm IP sources, and IDS alerts match known attack patterns.</a:t>
            </a:r>
          </a:p>
        </p:txBody>
      </p:sp>
    </p:spTree>
    <p:extLst>
      <p:ext uri="{BB962C8B-B14F-4D97-AF65-F5344CB8AC3E}">
        <p14:creationId xmlns:p14="http://schemas.microsoft.com/office/powerpoint/2010/main" val="42546026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When handling evidence: prioritize volatile data, hash and timestamp files, store securely, and document every step. Mistakes in these basics can make evidence useless in court.</a:t>
            </a:r>
            <a:endParaRPr lang="en-US" dirty="0"/>
          </a:p>
        </p:txBody>
      </p:sp>
    </p:spTree>
    <p:extLst>
      <p:ext uri="{BB962C8B-B14F-4D97-AF65-F5344CB8AC3E}">
        <p14:creationId xmlns:p14="http://schemas.microsoft.com/office/powerpoint/2010/main" val="40516633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Now, let’s bring everything together with a big discussion.</a:t>
            </a:r>
          </a:p>
          <a:p>
            <a:r>
              <a:rPr lang="en-ID" dirty="0"/>
              <a:t>Imagine this: A company reports that several servers and workstations have been encrypted by ransomware. They need us to figure out </a:t>
            </a:r>
            <a:r>
              <a:rPr lang="en-ID" b="1" dirty="0"/>
              <a:t>how the attackers got in, how the malware spread, and if any data was stolen before encryption</a:t>
            </a:r>
            <a:r>
              <a:rPr lang="en-ID" dirty="0"/>
              <a:t>.</a:t>
            </a:r>
          </a:p>
          <a:p>
            <a:r>
              <a:rPr lang="en-ID" dirty="0"/>
              <a:t>We’ve learned about packet captures, flow records, logs, and alerts. Which of these evidence sources would you look at first? And how would you build your investigation?</a:t>
            </a:r>
          </a:p>
        </p:txBody>
      </p:sp>
    </p:spTree>
    <p:extLst>
      <p:ext uri="{BB962C8B-B14F-4D97-AF65-F5344CB8AC3E}">
        <p14:creationId xmlns:p14="http://schemas.microsoft.com/office/powerpoint/2010/main" val="18707282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53ED6-17B3-E7F3-9D82-946E6A81D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552AE-4495-DF67-0FD7-E1D06128178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AA62440-11D2-28D1-4AA5-5C7BA7ADA13A}"/>
              </a:ext>
            </a:extLst>
          </p:cNvPr>
          <p:cNvSpPr>
            <a:spLocks noGrp="1"/>
          </p:cNvSpPr>
          <p:nvPr>
            <p:ph type="body" idx="1"/>
          </p:nvPr>
        </p:nvSpPr>
        <p:spPr/>
        <p:txBody>
          <a:bodyPr/>
          <a:lstStyle/>
          <a:p>
            <a:pPr>
              <a:buFont typeface="+mj-lt"/>
              <a:buAutoNum type="arabicPeriod"/>
            </a:pPr>
            <a:r>
              <a:rPr lang="en-ID" b="1" dirty="0"/>
              <a:t>Entry Point (Initial Access)</a:t>
            </a:r>
            <a:endParaRPr lang="en-ID" dirty="0"/>
          </a:p>
          <a:p>
            <a:pPr marL="742950" lvl="1" indent="-285750">
              <a:buFont typeface="+mj-lt"/>
              <a:buAutoNum type="arabicPeriod"/>
            </a:pPr>
            <a:r>
              <a:rPr lang="en-ID" b="1" dirty="0"/>
              <a:t>Evidence Sources Used:</a:t>
            </a:r>
            <a:endParaRPr lang="en-ID" dirty="0"/>
          </a:p>
          <a:p>
            <a:pPr marL="1143000" lvl="2" indent="-228600">
              <a:buFont typeface="+mj-lt"/>
              <a:buAutoNum type="arabicPeriod"/>
            </a:pPr>
            <a:r>
              <a:rPr lang="en-ID" dirty="0"/>
              <a:t>Email server logs → suspicious attachments or phishing links</a:t>
            </a:r>
          </a:p>
          <a:p>
            <a:pPr marL="1143000" lvl="2" indent="-228600">
              <a:buFont typeface="+mj-lt"/>
              <a:buAutoNum type="arabicPeriod"/>
            </a:pPr>
            <a:r>
              <a:rPr lang="en-ID" dirty="0"/>
              <a:t>Firewall logs → inbound RDP or SMB connections from unknown IPs</a:t>
            </a:r>
          </a:p>
          <a:p>
            <a:pPr marL="742950" lvl="1" indent="-285750">
              <a:buFont typeface="+mj-lt"/>
              <a:buAutoNum type="arabicPeriod"/>
            </a:pPr>
            <a:r>
              <a:rPr lang="en-ID" b="1" dirty="0"/>
              <a:t>Result:</a:t>
            </a:r>
            <a:r>
              <a:rPr lang="en-ID" dirty="0"/>
              <a:t> Identify if the ransomware came through phishing or remote exploitation.</a:t>
            </a:r>
          </a:p>
          <a:p>
            <a:pPr>
              <a:buFont typeface="+mj-lt"/>
              <a:buAutoNum type="arabicPeriod" startAt="2"/>
            </a:pPr>
            <a:r>
              <a:rPr lang="en-ID" b="1" dirty="0"/>
              <a:t>Infection Spread (Lateral Movement)</a:t>
            </a:r>
            <a:endParaRPr lang="en-ID" dirty="0"/>
          </a:p>
          <a:p>
            <a:pPr marL="742950" lvl="1" indent="-285750">
              <a:buFont typeface="+mj-lt"/>
              <a:buAutoNum type="arabicPeriod" startAt="2"/>
            </a:pPr>
            <a:r>
              <a:rPr lang="en-ID" b="1" dirty="0"/>
              <a:t>Evidence Sources Used:</a:t>
            </a:r>
            <a:endParaRPr lang="en-ID" dirty="0"/>
          </a:p>
          <a:p>
            <a:pPr marL="1143000" lvl="2" indent="-228600">
              <a:buFont typeface="+mj-lt"/>
              <a:buAutoNum type="arabicPeriod" startAt="2"/>
            </a:pPr>
            <a:r>
              <a:rPr lang="en-ID" dirty="0"/>
              <a:t>IDS alerts → brute force or abnormal SMB traffic</a:t>
            </a:r>
          </a:p>
          <a:p>
            <a:pPr marL="1143000" lvl="2" indent="-228600">
              <a:buFont typeface="+mj-lt"/>
              <a:buAutoNum type="arabicPeriod" startAt="2"/>
            </a:pPr>
            <a:r>
              <a:rPr lang="en-ID" dirty="0"/>
              <a:t>System logs (Windows Event Viewer, Linux auth logs) → unusual admin logins</a:t>
            </a:r>
          </a:p>
          <a:p>
            <a:pPr marL="1143000" lvl="2" indent="-228600">
              <a:buFont typeface="+mj-lt"/>
              <a:buAutoNum type="arabicPeriod" startAt="2"/>
            </a:pPr>
            <a:r>
              <a:rPr lang="en-ID" dirty="0"/>
              <a:t>Switch/router logs → connections between infected hosts</a:t>
            </a:r>
          </a:p>
          <a:p>
            <a:pPr marL="742950" lvl="1" indent="-285750">
              <a:buFont typeface="+mj-lt"/>
              <a:buAutoNum type="arabicPeriod" startAt="2"/>
            </a:pPr>
            <a:r>
              <a:rPr lang="en-ID" b="1" dirty="0"/>
              <a:t>Result:</a:t>
            </a:r>
            <a:r>
              <a:rPr lang="en-ID" dirty="0"/>
              <a:t> Track how the malware moved from one machine to others.</a:t>
            </a:r>
          </a:p>
          <a:p>
            <a:pPr>
              <a:buFont typeface="+mj-lt"/>
              <a:buAutoNum type="arabicPeriod" startAt="3"/>
            </a:pPr>
            <a:r>
              <a:rPr lang="en-ID" b="1" dirty="0"/>
              <a:t>Command &amp; Control (C2) and Data Theft</a:t>
            </a:r>
            <a:endParaRPr lang="en-ID" dirty="0"/>
          </a:p>
          <a:p>
            <a:pPr marL="742950" lvl="1" indent="-285750">
              <a:buFont typeface="+mj-lt"/>
              <a:buAutoNum type="arabicPeriod" startAt="3"/>
            </a:pPr>
            <a:r>
              <a:rPr lang="en-ID" b="1" dirty="0"/>
              <a:t>Evidence Sources Used:</a:t>
            </a:r>
            <a:endParaRPr lang="en-ID" dirty="0"/>
          </a:p>
          <a:p>
            <a:pPr marL="1143000" lvl="2" indent="-228600">
              <a:buFont typeface="+mj-lt"/>
              <a:buAutoNum type="arabicPeriod" startAt="3"/>
            </a:pPr>
            <a:r>
              <a:rPr lang="en-ID" dirty="0"/>
              <a:t>NetFlow → large outbound traffic to suspicious IPs abroad</a:t>
            </a:r>
          </a:p>
          <a:p>
            <a:pPr marL="1143000" lvl="2" indent="-228600">
              <a:buFont typeface="+mj-lt"/>
              <a:buAutoNum type="arabicPeriod" startAt="3"/>
            </a:pPr>
            <a:r>
              <a:rPr lang="en-ID" dirty="0" err="1"/>
              <a:t>Pcaps</a:t>
            </a:r>
            <a:r>
              <a:rPr lang="en-ID" dirty="0"/>
              <a:t> → confirm C2 traffic patterns or data uploads</a:t>
            </a:r>
          </a:p>
          <a:p>
            <a:pPr marL="1143000" lvl="2" indent="-228600">
              <a:buFont typeface="+mj-lt"/>
              <a:buAutoNum type="arabicPeriod" startAt="3"/>
            </a:pPr>
            <a:r>
              <a:rPr lang="en-ID" dirty="0"/>
              <a:t>IDS alerts → known ransomware signatures</a:t>
            </a:r>
          </a:p>
          <a:p>
            <a:pPr marL="742950" lvl="1" indent="-285750">
              <a:buFont typeface="+mj-lt"/>
              <a:buAutoNum type="arabicPeriod" startAt="3"/>
            </a:pPr>
            <a:r>
              <a:rPr lang="en-ID" b="1" dirty="0"/>
              <a:t>Result:</a:t>
            </a:r>
            <a:r>
              <a:rPr lang="en-ID" dirty="0"/>
              <a:t> Determine if attackers only encrypted files or also exfiltrated sensitive data.</a:t>
            </a:r>
          </a:p>
          <a:p>
            <a:pPr>
              <a:buFont typeface="+mj-lt"/>
              <a:buAutoNum type="arabicPeriod" startAt="4"/>
            </a:pPr>
            <a:r>
              <a:rPr lang="en-ID" b="1" dirty="0"/>
              <a:t>Encryption and Impact</a:t>
            </a:r>
            <a:endParaRPr lang="en-ID" dirty="0"/>
          </a:p>
          <a:p>
            <a:pPr marL="742950" lvl="1" indent="-285750">
              <a:buFont typeface="+mj-lt"/>
              <a:buAutoNum type="arabicPeriod" startAt="4"/>
            </a:pPr>
            <a:r>
              <a:rPr lang="en-ID" b="1" dirty="0"/>
              <a:t>Evidence Sources Used:</a:t>
            </a:r>
            <a:endParaRPr lang="en-ID" dirty="0"/>
          </a:p>
          <a:p>
            <a:pPr marL="1143000" lvl="2" indent="-228600">
              <a:buFont typeface="+mj-lt"/>
              <a:buAutoNum type="arabicPeriod" startAt="4"/>
            </a:pPr>
            <a:r>
              <a:rPr lang="en-ID" dirty="0"/>
              <a:t>System logs → mass file access before encryption</a:t>
            </a:r>
          </a:p>
          <a:p>
            <a:pPr marL="1143000" lvl="2" indent="-228600">
              <a:buFont typeface="+mj-lt"/>
              <a:buAutoNum type="arabicPeriod" startAt="4"/>
            </a:pPr>
            <a:r>
              <a:rPr lang="en-ID" dirty="0"/>
              <a:t>Application logs → database access anomalies</a:t>
            </a:r>
          </a:p>
          <a:p>
            <a:pPr marL="742950" lvl="1" indent="-285750">
              <a:buFont typeface="+mj-lt"/>
              <a:buAutoNum type="arabicPeriod" startAt="4"/>
            </a:pPr>
            <a:r>
              <a:rPr lang="en-ID" b="1" dirty="0"/>
              <a:t>Result:</a:t>
            </a:r>
            <a:r>
              <a:rPr lang="en-ID" dirty="0"/>
              <a:t> Confirm when encryption began and which systems were hit.</a:t>
            </a:r>
          </a:p>
          <a:p>
            <a:pPr>
              <a:buFont typeface="+mj-lt"/>
              <a:buAutoNum type="arabicPeriod" startAt="5"/>
            </a:pPr>
            <a:r>
              <a:rPr lang="en-ID" b="1" dirty="0"/>
              <a:t>Reporting &amp; Lessons</a:t>
            </a:r>
            <a:endParaRPr lang="en-ID" dirty="0"/>
          </a:p>
          <a:p>
            <a:pPr marL="742950" lvl="1" indent="-285750">
              <a:buFont typeface="+mj-lt"/>
              <a:buAutoNum type="arabicPeriod" startAt="5"/>
            </a:pPr>
            <a:r>
              <a:rPr lang="en-ID" b="1" dirty="0"/>
              <a:t>Evidence Sources Used:</a:t>
            </a:r>
            <a:endParaRPr lang="en-ID" dirty="0"/>
          </a:p>
          <a:p>
            <a:pPr marL="1143000" lvl="2" indent="-228600">
              <a:buFont typeface="+mj-lt"/>
              <a:buAutoNum type="arabicPeriod" startAt="5"/>
            </a:pPr>
            <a:r>
              <a:rPr lang="en-ID" dirty="0"/>
              <a:t>All correlated logs, </a:t>
            </a:r>
            <a:r>
              <a:rPr lang="en-ID" dirty="0" err="1"/>
              <a:t>pcaps</a:t>
            </a:r>
            <a:r>
              <a:rPr lang="en-ID" dirty="0"/>
              <a:t>, NetFlow, IDS alerts</a:t>
            </a:r>
          </a:p>
          <a:p>
            <a:pPr marL="742950" lvl="1" indent="-285750">
              <a:buFont typeface="+mj-lt"/>
              <a:buAutoNum type="arabicPeriod" startAt="5"/>
            </a:pPr>
            <a:r>
              <a:rPr lang="en-ID" b="1" dirty="0"/>
              <a:t>Result:</a:t>
            </a:r>
            <a:r>
              <a:rPr lang="en-ID" dirty="0"/>
              <a:t> Build a clear timeline: </a:t>
            </a:r>
            <a:r>
              <a:rPr lang="en-ID" i="1" dirty="0"/>
              <a:t>Phishing email → lateral spread via SMB → C2 communication → encryption event.</a:t>
            </a:r>
            <a:endParaRPr lang="en-ID" dirty="0"/>
          </a:p>
          <a:p>
            <a:endParaRPr lang="en-ID" b="1" dirty="0"/>
          </a:p>
          <a:p>
            <a:r>
              <a:rPr lang="en-ID" b="1" dirty="0"/>
              <a:t>Sample Answers (What Students Might Say)</a:t>
            </a:r>
          </a:p>
          <a:p>
            <a:pPr>
              <a:buFont typeface="Arial" panose="020B0604020202020204" pitchFamily="34" charset="0"/>
              <a:buChar char="•"/>
            </a:pPr>
            <a:r>
              <a:rPr lang="en-ID" i="1" dirty="0"/>
              <a:t>“I would start with the email server logs to see if phishing was the entry point, because most ransomware starts there.”</a:t>
            </a:r>
            <a:endParaRPr lang="en-ID" dirty="0"/>
          </a:p>
          <a:p>
            <a:pPr>
              <a:buFont typeface="Arial" panose="020B0604020202020204" pitchFamily="34" charset="0"/>
              <a:buChar char="•"/>
            </a:pPr>
            <a:r>
              <a:rPr lang="en-ID" i="1" dirty="0"/>
              <a:t>“Firewall and IDS logs are critical to detect brute force attempts or unusual remote access.”</a:t>
            </a:r>
            <a:endParaRPr lang="en-ID" dirty="0"/>
          </a:p>
          <a:p>
            <a:pPr>
              <a:buFont typeface="Arial" panose="020B0604020202020204" pitchFamily="34" charset="0"/>
              <a:buChar char="•"/>
            </a:pPr>
            <a:r>
              <a:rPr lang="en-ID" i="1" dirty="0"/>
              <a:t>“NetFlow is useful to check if there was data theft before encryption.”</a:t>
            </a:r>
            <a:endParaRPr lang="en-ID" dirty="0"/>
          </a:p>
          <a:p>
            <a:pPr>
              <a:buFont typeface="Arial" panose="020B0604020202020204" pitchFamily="34" charset="0"/>
              <a:buChar char="•"/>
            </a:pPr>
            <a:r>
              <a:rPr lang="en-ID" i="1" dirty="0"/>
              <a:t>“System logs would confirm abnormal admin access and show the timeline of the spread.”</a:t>
            </a:r>
            <a:endParaRPr lang="en-ID" dirty="0"/>
          </a:p>
          <a:p>
            <a:pPr>
              <a:buFont typeface="Arial" panose="020B0604020202020204" pitchFamily="34" charset="0"/>
              <a:buChar char="•"/>
            </a:pPr>
            <a:r>
              <a:rPr lang="en-ID" i="1" dirty="0"/>
              <a:t>“By combining these, we can reconstruct the attack chain and prove exactly what happened.”</a:t>
            </a:r>
            <a:endParaRPr lang="en-ID" dirty="0"/>
          </a:p>
        </p:txBody>
      </p:sp>
    </p:spTree>
    <p:extLst>
      <p:ext uri="{BB962C8B-B14F-4D97-AF65-F5344CB8AC3E}">
        <p14:creationId xmlns:p14="http://schemas.microsoft.com/office/powerpoint/2010/main" val="3196930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CNAME = Canonical Name or alias</a:t>
            </a:r>
          </a:p>
        </p:txBody>
      </p:sp>
    </p:spTree>
    <p:extLst>
      <p:ext uri="{BB962C8B-B14F-4D97-AF65-F5344CB8AC3E}">
        <p14:creationId xmlns:p14="http://schemas.microsoft.com/office/powerpoint/2010/main" val="22061856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RRS = Resource Records</a:t>
            </a:r>
          </a:p>
        </p:txBody>
      </p:sp>
    </p:spTree>
    <p:extLst>
      <p:ext uri="{BB962C8B-B14F-4D97-AF65-F5344CB8AC3E}">
        <p14:creationId xmlns:p14="http://schemas.microsoft.com/office/powerpoint/2010/main" val="9827945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D" dirty="0"/>
              <a:t>Today we covered:</a:t>
            </a:r>
          </a:p>
          <a:p>
            <a:pPr>
              <a:buFont typeface="Arial" panose="020B0604020202020204" pitchFamily="34" charset="0"/>
              <a:buChar char="•"/>
            </a:pPr>
            <a:r>
              <a:rPr lang="en-ID" dirty="0"/>
              <a:t>Sources of network evidence</a:t>
            </a:r>
          </a:p>
          <a:p>
            <a:pPr>
              <a:buFont typeface="Arial" panose="020B0604020202020204" pitchFamily="34" charset="0"/>
              <a:buChar char="•"/>
            </a:pPr>
            <a:r>
              <a:rPr lang="en-ID" dirty="0"/>
              <a:t>Packets, flows, logs, and alerts</a:t>
            </a:r>
          </a:p>
          <a:p>
            <a:pPr>
              <a:buFont typeface="Arial" panose="020B0604020202020204" pitchFamily="34" charset="0"/>
              <a:buChar char="•"/>
            </a:pPr>
            <a:r>
              <a:rPr lang="en-ID" dirty="0"/>
              <a:t>Volatile vs non-volatile evidence</a:t>
            </a:r>
          </a:p>
          <a:p>
            <a:pPr>
              <a:buFont typeface="Arial" panose="020B0604020202020204" pitchFamily="34" charset="0"/>
              <a:buChar char="•"/>
            </a:pPr>
            <a:r>
              <a:rPr lang="en-ID" dirty="0"/>
              <a:t>Chain of custody and hashing</a:t>
            </a:r>
          </a:p>
          <a:p>
            <a:pPr>
              <a:buFont typeface="Arial" panose="020B0604020202020204" pitchFamily="34" charset="0"/>
              <a:buChar char="•"/>
            </a:pPr>
            <a:r>
              <a:rPr lang="en-ID" dirty="0"/>
              <a:t>Correlating multiple evidence types</a:t>
            </a:r>
            <a:br>
              <a:rPr lang="en-ID" dirty="0"/>
            </a:br>
            <a:r>
              <a:rPr lang="en-ID" dirty="0"/>
              <a:t>And we reinforced this with both global and Indonesian case studies.</a:t>
            </a:r>
          </a:p>
          <a:p>
            <a:r>
              <a:rPr lang="en-ID" dirty="0"/>
              <a:t>The key message: evidence is the backbone of network forensics.”</a:t>
            </a:r>
          </a:p>
          <a:p>
            <a:endParaRPr lang="en-US" dirty="0"/>
          </a:p>
        </p:txBody>
      </p:sp>
    </p:spTree>
    <p:extLst>
      <p:ext uri="{BB962C8B-B14F-4D97-AF65-F5344CB8AC3E}">
        <p14:creationId xmlns:p14="http://schemas.microsoft.com/office/powerpoint/2010/main" val="37019633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4.png"/><Relationship Id="rId4" Type="http://schemas.openxmlformats.org/officeDocument/2006/relationships/image" Target="../media/image7.png"/><Relationship Id="rId9" Type="http://schemas.openxmlformats.org/officeDocument/2006/relationships/image" Target="../media/image1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Aptos" panose="020B0004020202020204" pitchFamily="34"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Aptos" panose="020B0004020202020204" pitchFamily="34"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atin typeface="Aptos" panose="020B0004020202020204" pitchFamily="34" charset="0"/>
              </a:defRPr>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4000" b="0" i="0" u="none" strike="noStrike" cap="none" spc="0" normalizeH="0" baseline="0">
                <a:ln>
                  <a:noFill/>
                </a:ln>
                <a:solidFill>
                  <a:srgbClr val="FFFFFF"/>
                </a:solidFill>
                <a:effectLst/>
                <a:uFillTx/>
                <a:latin typeface="Aptos" panose="020B0004020202020204" pitchFamily="34" charset="0"/>
                <a:ea typeface="Aptos" panose="020B0004020202020204" pitchFamily="34" charset="0"/>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004301" cy="3579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latin typeface="Aptos" panose="020B0004020202020204" pitchFamily="34" charset="0"/>
              </a:rPr>
              <a:t>SUBJECT MATTER EXPERT</a:t>
            </a:r>
            <a:endParaRPr sz="2800" b="1" dirty="0">
              <a:latin typeface="Aptos" panose="020B0004020202020204" pitchFamily="34" charset="0"/>
            </a:endParaRPr>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7D645C5F-9B49-0817-CC1A-84282EE4AA25}"/>
              </a:ext>
            </a:extLst>
          </p:cNvPr>
          <p:cNvSpPr>
            <a:spLocks noGrp="1"/>
          </p:cNvSpPr>
          <p:nvPr>
            <p:ph type="title"/>
          </p:nvPr>
        </p:nvSpPr>
        <p:spPr>
          <a:xfrm>
            <a:off x="1206500" y="475488"/>
            <a:ext cx="19392118" cy="2037175"/>
          </a:xfrm>
        </p:spPr>
        <p:txBody>
          <a:bodyPr anchor="ctr"/>
          <a:lstStyle>
            <a:lvl1pPr>
              <a:lnSpc>
                <a:spcPct val="100000"/>
              </a:lnSpc>
              <a:defRPr b="0">
                <a:latin typeface="Aptos" panose="020B0004020202020204" pitchFamily="34" charset="0"/>
              </a:defRPr>
            </a:lvl1pPr>
          </a:lstStyle>
          <a:p>
            <a:r>
              <a:rPr lang="en-US" dirty="0"/>
              <a:t>Click to edit Master title style</a:t>
            </a:r>
          </a:p>
        </p:txBody>
      </p:sp>
      <p:sp>
        <p:nvSpPr>
          <p:cNvPr id="19" name="Content Placeholder 2">
            <a:extLst>
              <a:ext uri="{FF2B5EF4-FFF2-40B4-BE49-F238E27FC236}">
                <a16:creationId xmlns:a16="http://schemas.microsoft.com/office/drawing/2014/main" id="{40B82B85-5AAA-4DD4-23B6-327BBDEF4180}"/>
              </a:ext>
            </a:extLst>
          </p:cNvPr>
          <p:cNvSpPr>
            <a:spLocks noGrp="1"/>
          </p:cNvSpPr>
          <p:nvPr>
            <p:ph idx="1"/>
          </p:nvPr>
        </p:nvSpPr>
        <p:spPr>
          <a:xfrm>
            <a:off x="1206500" y="2779776"/>
            <a:ext cx="21971000" cy="10460736"/>
          </a:xfrm>
        </p:spPr>
        <p:txBody>
          <a:bodyPr/>
          <a:lstStyle>
            <a:lvl1pPr>
              <a:lnSpc>
                <a:spcPct val="150000"/>
              </a:lnSpc>
              <a:spcBef>
                <a:spcPts val="0"/>
              </a:spcBef>
              <a:defRPr>
                <a:latin typeface="Aptos" panose="020B0004020202020204" pitchFamily="34" charset="0"/>
              </a:defRPr>
            </a:lvl1pPr>
            <a:lvl2pPr>
              <a:lnSpc>
                <a:spcPct val="150000"/>
              </a:lnSpc>
              <a:spcBef>
                <a:spcPts val="0"/>
              </a:spcBef>
              <a:defRPr>
                <a:latin typeface="Aptos" panose="020B0004020202020204" pitchFamily="34" charset="0"/>
              </a:defRPr>
            </a:lvl2pPr>
            <a:lvl3pPr>
              <a:lnSpc>
                <a:spcPct val="150000"/>
              </a:lnSpc>
              <a:spcBef>
                <a:spcPts val="0"/>
              </a:spcBef>
              <a:defRPr>
                <a:latin typeface="Aptos" panose="020B0004020202020204" pitchFamily="34" charset="0"/>
              </a:defRPr>
            </a:lvl3pPr>
            <a:lvl4pPr>
              <a:lnSpc>
                <a:spcPct val="150000"/>
              </a:lnSpc>
              <a:spcBef>
                <a:spcPts val="0"/>
              </a:spcBef>
              <a:defRPr>
                <a:latin typeface="Aptos" panose="020B0004020202020204" pitchFamily="34" charset="0"/>
              </a:defRPr>
            </a:lvl4pPr>
            <a:lvl5pPr>
              <a:lnSpc>
                <a:spcPct val="150000"/>
              </a:lnSpc>
              <a:spcBef>
                <a:spcPts val="0"/>
              </a:spcBef>
              <a:defRPr>
                <a:latin typeface="Aptos"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AutoShape 2">
            <a:extLst>
              <a:ext uri="{FF2B5EF4-FFF2-40B4-BE49-F238E27FC236}">
                <a16:creationId xmlns:a16="http://schemas.microsoft.com/office/drawing/2014/main" id="{A79DAF52-7079-D27A-6999-F8755F55C307}"/>
              </a:ext>
            </a:extLst>
          </p:cNvPr>
          <p:cNvSpPr>
            <a:spLocks noChangeAspect="1" noChangeArrowheads="1"/>
          </p:cNvSpPr>
          <p:nvPr userDrawn="1"/>
        </p:nvSpPr>
        <p:spPr bwMode="auto">
          <a:xfrm>
            <a:off x="120396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B84D2750-83A7-0E8A-991D-531C92146EE0}"/>
              </a:ext>
            </a:extLst>
          </p:cNvPr>
          <p:cNvSpPr/>
          <p:nvPr userDrawn="1"/>
        </p:nvSpPr>
        <p:spPr>
          <a:xfrm>
            <a:off x="0" y="13386985"/>
            <a:ext cx="24384000" cy="326827"/>
          </a:xfrm>
          <a:prstGeom prst="rect">
            <a:avLst/>
          </a:prstGeom>
          <a:solidFill>
            <a:srgbClr val="2554A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14" name="Picture 13" descr="A black background with blue text&#10;&#10;Description automatically generated">
            <a:extLst>
              <a:ext uri="{FF2B5EF4-FFF2-40B4-BE49-F238E27FC236}">
                <a16:creationId xmlns:a16="http://schemas.microsoft.com/office/drawing/2014/main" id="{97484277-1919-EC7C-A06C-AB36A5E0C4C2}"/>
              </a:ext>
            </a:extLst>
          </p:cNvPr>
          <p:cNvPicPr>
            <a:picLocks noChangeAspect="1"/>
          </p:cNvPicPr>
          <p:nvPr userDrawn="1"/>
        </p:nvPicPr>
        <p:blipFill>
          <a:blip r:embed="rId2">
            <a:extLst>
              <a:ext uri="{28A0092B-C50C-407E-A947-70E740481C1C}">
                <a14:useLocalDpi xmlns:a14="http://schemas.microsoft.com/office/drawing/2010/main" val="0"/>
              </a:ext>
            </a:extLst>
          </a:blip>
          <a:srcRect r="67194"/>
          <a:stretch/>
        </p:blipFill>
        <p:spPr>
          <a:xfrm>
            <a:off x="21098107" y="676211"/>
            <a:ext cx="2079393" cy="1642606"/>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sz="5400" dirty="0"/>
              <a:t>COMP6348001</a:t>
            </a:r>
          </a:p>
          <a:p>
            <a:r>
              <a:rPr lang="en-US" sz="5400" dirty="0"/>
              <a:t>Network Forensics</a:t>
            </a:r>
            <a:endParaRPr lang="en-US" dirty="0"/>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Autofit/>
          </a:bodyPr>
          <a:lstStyle/>
          <a:p>
            <a:pPr>
              <a:lnSpc>
                <a:spcPct val="100000"/>
              </a:lnSpc>
            </a:pPr>
            <a:r>
              <a:rPr lang="en-US" sz="11500" dirty="0"/>
              <a:t>Sources of Evidence in Network Forensics</a:t>
            </a:r>
            <a:endParaRPr lang="en-US" sz="34400"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Dr. Don</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BF5A-0B8E-0DB7-8E73-85F9B439EB55}"/>
              </a:ext>
            </a:extLst>
          </p:cNvPr>
          <p:cNvSpPr>
            <a:spLocks noGrp="1"/>
          </p:cNvSpPr>
          <p:nvPr>
            <p:ph type="title"/>
          </p:nvPr>
        </p:nvSpPr>
        <p:spPr/>
        <p:txBody>
          <a:bodyPr>
            <a:normAutofit/>
          </a:bodyPr>
          <a:lstStyle/>
          <a:p>
            <a:r>
              <a:rPr lang="en-ID" b="0" i="0" u="none" strike="noStrike" dirty="0">
                <a:solidFill>
                  <a:srgbClr val="000000"/>
                </a:solidFill>
                <a:effectLst/>
                <a:latin typeface="-webkit-standard"/>
              </a:rPr>
              <a:t>Learning Objectives</a:t>
            </a:r>
            <a:endParaRPr lang="en-US" dirty="0"/>
          </a:p>
        </p:txBody>
      </p:sp>
      <p:sp>
        <p:nvSpPr>
          <p:cNvPr id="3" name="Content Placeholder 2">
            <a:extLst>
              <a:ext uri="{FF2B5EF4-FFF2-40B4-BE49-F238E27FC236}">
                <a16:creationId xmlns:a16="http://schemas.microsoft.com/office/drawing/2014/main" id="{9EAABDB9-8181-FE10-C3FA-42BE1DE36948}"/>
              </a:ext>
            </a:extLst>
          </p:cNvPr>
          <p:cNvSpPr>
            <a:spLocks noGrp="1"/>
          </p:cNvSpPr>
          <p:nvPr>
            <p:ph idx="1"/>
          </p:nvPr>
        </p:nvSpPr>
        <p:spPr/>
        <p:txBody>
          <a:bodyPr>
            <a:normAutofit/>
          </a:bodyPr>
          <a:lstStyle/>
          <a:p>
            <a:pPr marL="0" indent="0">
              <a:buNone/>
            </a:pPr>
            <a:r>
              <a:rPr lang="en-ID" dirty="0"/>
              <a:t>By the end of this session, you will be able to:</a:t>
            </a:r>
          </a:p>
          <a:p>
            <a:r>
              <a:rPr lang="en-ID" dirty="0"/>
              <a:t>Identify different sources of network evidence</a:t>
            </a:r>
          </a:p>
          <a:p>
            <a:r>
              <a:rPr lang="en-ID" dirty="0"/>
              <a:t>Explain the difference between packet captures, flow records, and logs</a:t>
            </a:r>
          </a:p>
          <a:p>
            <a:r>
              <a:rPr lang="en-ID" dirty="0"/>
              <a:t>Distinguish between volatile and non-volatile evidence</a:t>
            </a:r>
          </a:p>
          <a:p>
            <a:r>
              <a:rPr lang="en-ID" dirty="0"/>
              <a:t>Understand the importance of integrity and the chain of custody</a:t>
            </a:r>
          </a:p>
          <a:p>
            <a:r>
              <a:rPr lang="en-ID" dirty="0"/>
              <a:t>Correlate multiple evidence sources in an investigation</a:t>
            </a:r>
          </a:p>
        </p:txBody>
      </p:sp>
    </p:spTree>
    <p:extLst>
      <p:ext uri="{BB962C8B-B14F-4D97-AF65-F5344CB8AC3E}">
        <p14:creationId xmlns:p14="http://schemas.microsoft.com/office/powerpoint/2010/main" val="12101298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AA373-3CCC-7C84-06BC-BA1D7C5FD9F6}"/>
              </a:ext>
            </a:extLst>
          </p:cNvPr>
          <p:cNvSpPr>
            <a:spLocks noGrp="1"/>
          </p:cNvSpPr>
          <p:nvPr>
            <p:ph type="title"/>
          </p:nvPr>
        </p:nvSpPr>
        <p:spPr/>
        <p:txBody>
          <a:bodyPr/>
          <a:lstStyle/>
          <a:p>
            <a:r>
              <a:rPr lang="en-ID" b="0" i="0" u="none" strike="noStrike" dirty="0">
                <a:solidFill>
                  <a:srgbClr val="000000"/>
                </a:solidFill>
                <a:effectLst/>
                <a:latin typeface="-webkit-standard"/>
              </a:rPr>
              <a:t>Why Evidence Matters</a:t>
            </a:r>
            <a:endParaRPr lang="en-US" dirty="0"/>
          </a:p>
        </p:txBody>
      </p:sp>
      <p:sp>
        <p:nvSpPr>
          <p:cNvPr id="3" name="Content Placeholder 2">
            <a:extLst>
              <a:ext uri="{FF2B5EF4-FFF2-40B4-BE49-F238E27FC236}">
                <a16:creationId xmlns:a16="http://schemas.microsoft.com/office/drawing/2014/main" id="{776C2DAF-C3DC-395D-C1B6-85094631A336}"/>
              </a:ext>
            </a:extLst>
          </p:cNvPr>
          <p:cNvSpPr>
            <a:spLocks noGrp="1"/>
          </p:cNvSpPr>
          <p:nvPr>
            <p:ph idx="1"/>
          </p:nvPr>
        </p:nvSpPr>
        <p:spPr/>
        <p:txBody>
          <a:bodyPr>
            <a:normAutofit/>
          </a:bodyPr>
          <a:lstStyle/>
          <a:p>
            <a:pPr algn="l">
              <a:buFont typeface="Arial" panose="020B0604020202020204" pitchFamily="34" charset="0"/>
              <a:buChar char="•"/>
            </a:pPr>
            <a:r>
              <a:rPr lang="en-ID" b="0" i="0" u="none" strike="noStrike" dirty="0">
                <a:solidFill>
                  <a:srgbClr val="000000"/>
                </a:solidFill>
                <a:effectLst/>
              </a:rPr>
              <a:t>Evidence = foundation of a forensic investigation</a:t>
            </a:r>
          </a:p>
          <a:p>
            <a:pPr algn="l">
              <a:buFont typeface="Arial" panose="020B0604020202020204" pitchFamily="34" charset="0"/>
              <a:buChar char="•"/>
            </a:pPr>
            <a:r>
              <a:rPr lang="en-ID" b="0" i="0" u="none" strike="noStrike" dirty="0">
                <a:solidFill>
                  <a:srgbClr val="000000"/>
                </a:solidFill>
                <a:effectLst/>
              </a:rPr>
              <a:t>Without evidence, no proof of intrusion</a:t>
            </a:r>
          </a:p>
          <a:p>
            <a:pPr algn="l">
              <a:buFont typeface="Arial" panose="020B0604020202020204" pitchFamily="34" charset="0"/>
              <a:buChar char="•"/>
            </a:pPr>
            <a:r>
              <a:rPr lang="en-ID" b="0" i="0" u="none" strike="noStrike" dirty="0">
                <a:solidFill>
                  <a:srgbClr val="000000"/>
                </a:solidFill>
                <a:effectLst/>
              </a:rPr>
              <a:t>Determines what happened, when, and how</a:t>
            </a:r>
          </a:p>
        </p:txBody>
      </p:sp>
    </p:spTree>
    <p:extLst>
      <p:ext uri="{BB962C8B-B14F-4D97-AF65-F5344CB8AC3E}">
        <p14:creationId xmlns:p14="http://schemas.microsoft.com/office/powerpoint/2010/main" val="85669375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CD078-E475-A126-68BA-22F03890BC37}"/>
              </a:ext>
            </a:extLst>
          </p:cNvPr>
          <p:cNvSpPr>
            <a:spLocks noGrp="1"/>
          </p:cNvSpPr>
          <p:nvPr>
            <p:ph type="title"/>
          </p:nvPr>
        </p:nvSpPr>
        <p:spPr/>
        <p:txBody>
          <a:bodyPr>
            <a:normAutofit fontScale="90000"/>
          </a:bodyPr>
          <a:lstStyle/>
          <a:p>
            <a:r>
              <a:rPr lang="en-ID" i="0" u="none" strike="noStrike" dirty="0">
                <a:solidFill>
                  <a:srgbClr val="000000"/>
                </a:solidFill>
                <a:effectLst/>
              </a:rPr>
              <a:t>International Case: Equifax Data Breach (2017, USA)</a:t>
            </a:r>
            <a:endParaRPr lang="en-US" dirty="0"/>
          </a:p>
        </p:txBody>
      </p:sp>
      <p:sp>
        <p:nvSpPr>
          <p:cNvPr id="3" name="Content Placeholder 2">
            <a:extLst>
              <a:ext uri="{FF2B5EF4-FFF2-40B4-BE49-F238E27FC236}">
                <a16:creationId xmlns:a16="http://schemas.microsoft.com/office/drawing/2014/main" id="{95B061A1-1B73-1B52-CA2E-AE6F3FBB3AD5}"/>
              </a:ext>
            </a:extLst>
          </p:cNvPr>
          <p:cNvSpPr>
            <a:spLocks noGrp="1"/>
          </p:cNvSpPr>
          <p:nvPr>
            <p:ph idx="1"/>
          </p:nvPr>
        </p:nvSpPr>
        <p:spPr/>
        <p:txBody>
          <a:bodyPr>
            <a:normAutofit/>
          </a:bodyPr>
          <a:lstStyle/>
          <a:p>
            <a:pPr marL="0" indent="0">
              <a:buNone/>
            </a:pPr>
            <a:r>
              <a:rPr lang="en-ID" b="1" dirty="0"/>
              <a:t>Evidence Sources Used:</a:t>
            </a:r>
            <a:endParaRPr lang="en-ID" dirty="0"/>
          </a:p>
          <a:p>
            <a:r>
              <a:rPr lang="en-ID" dirty="0"/>
              <a:t>Firewall logs → flagged suspicious inbound requests</a:t>
            </a:r>
          </a:p>
          <a:p>
            <a:r>
              <a:rPr lang="en-ID" dirty="0"/>
              <a:t>Web server logs → revealed malicious Struts exploit commands</a:t>
            </a:r>
          </a:p>
          <a:p>
            <a:r>
              <a:rPr lang="en-ID" dirty="0"/>
              <a:t>Database logs → confirmed unauthorized queries</a:t>
            </a:r>
          </a:p>
          <a:p>
            <a:r>
              <a:rPr lang="en-ID" dirty="0"/>
              <a:t>NetFlow → showed large outbound data transfers</a:t>
            </a:r>
          </a:p>
          <a:p>
            <a:pPr marL="0" indent="0">
              <a:buNone/>
            </a:pPr>
            <a:r>
              <a:rPr lang="en-ID" b="1" dirty="0"/>
              <a:t>Result:</a:t>
            </a:r>
            <a:endParaRPr lang="en-ID" dirty="0"/>
          </a:p>
          <a:p>
            <a:r>
              <a:rPr lang="en-ID" dirty="0"/>
              <a:t>Investigators confirmed exfiltration of 147M records</a:t>
            </a:r>
          </a:p>
          <a:p>
            <a:r>
              <a:rPr lang="en-ID" dirty="0"/>
              <a:t>Equifax fined $700M for poor patching and monitoring</a:t>
            </a:r>
          </a:p>
        </p:txBody>
      </p:sp>
    </p:spTree>
    <p:extLst>
      <p:ext uri="{BB962C8B-B14F-4D97-AF65-F5344CB8AC3E}">
        <p14:creationId xmlns:p14="http://schemas.microsoft.com/office/powerpoint/2010/main" val="301713133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E165C-C77E-6403-63FF-B20F7E837CA4}"/>
              </a:ext>
            </a:extLst>
          </p:cNvPr>
          <p:cNvSpPr>
            <a:spLocks noGrp="1"/>
          </p:cNvSpPr>
          <p:nvPr>
            <p:ph type="title"/>
          </p:nvPr>
        </p:nvSpPr>
        <p:spPr/>
        <p:txBody>
          <a:bodyPr>
            <a:normAutofit fontScale="90000"/>
          </a:bodyPr>
          <a:lstStyle/>
          <a:p>
            <a:r>
              <a:rPr lang="en-ID" i="0" u="none" strike="noStrike" dirty="0">
                <a:solidFill>
                  <a:srgbClr val="000000"/>
                </a:solidFill>
                <a:effectLst/>
              </a:rPr>
              <a:t>Local Case: Tokopedia Data Breach (2020, Indonesia)</a:t>
            </a:r>
            <a:endParaRPr lang="en-US" dirty="0"/>
          </a:p>
        </p:txBody>
      </p:sp>
      <p:sp>
        <p:nvSpPr>
          <p:cNvPr id="3" name="Content Placeholder 2">
            <a:extLst>
              <a:ext uri="{FF2B5EF4-FFF2-40B4-BE49-F238E27FC236}">
                <a16:creationId xmlns:a16="http://schemas.microsoft.com/office/drawing/2014/main" id="{6134FF7F-49C5-EF6A-4BB5-0CD5ED514D64}"/>
              </a:ext>
            </a:extLst>
          </p:cNvPr>
          <p:cNvSpPr>
            <a:spLocks noGrp="1"/>
          </p:cNvSpPr>
          <p:nvPr>
            <p:ph idx="1"/>
          </p:nvPr>
        </p:nvSpPr>
        <p:spPr/>
        <p:txBody>
          <a:bodyPr>
            <a:normAutofit/>
          </a:bodyPr>
          <a:lstStyle/>
          <a:p>
            <a:pPr marL="0" indent="0">
              <a:buNone/>
            </a:pPr>
            <a:r>
              <a:rPr lang="en-ID" b="1" dirty="0"/>
              <a:t>Evidence Sources Used:</a:t>
            </a:r>
            <a:endParaRPr lang="en-ID" dirty="0"/>
          </a:p>
          <a:p>
            <a:r>
              <a:rPr lang="en-ID" dirty="0"/>
              <a:t>Application server logs → SQL injection attempts</a:t>
            </a:r>
          </a:p>
          <a:p>
            <a:r>
              <a:rPr lang="en-ID" dirty="0"/>
              <a:t>Firewall &amp; IDS logs → abnormal queries bypassing filters</a:t>
            </a:r>
          </a:p>
          <a:p>
            <a:r>
              <a:rPr lang="en-ID" dirty="0"/>
              <a:t>Database logs → mass dumping of user accounts</a:t>
            </a:r>
          </a:p>
          <a:p>
            <a:r>
              <a:rPr lang="en-ID" dirty="0"/>
              <a:t>NetFlow → outbound traffic to unknown IPs abroad</a:t>
            </a:r>
          </a:p>
          <a:p>
            <a:pPr marL="0" indent="0">
              <a:buNone/>
            </a:pPr>
            <a:r>
              <a:rPr lang="en-ID" b="1" dirty="0"/>
              <a:t>Result:</a:t>
            </a:r>
            <a:endParaRPr lang="en-ID" dirty="0"/>
          </a:p>
          <a:p>
            <a:r>
              <a:rPr lang="en-ID" dirty="0"/>
              <a:t>91M accounts leaked and sold on the dark web</a:t>
            </a:r>
          </a:p>
          <a:p>
            <a:r>
              <a:rPr lang="en-ID" dirty="0"/>
              <a:t>Highlighted weak log monitoring and input validation</a:t>
            </a:r>
          </a:p>
        </p:txBody>
      </p:sp>
    </p:spTree>
    <p:extLst>
      <p:ext uri="{BB962C8B-B14F-4D97-AF65-F5344CB8AC3E}">
        <p14:creationId xmlns:p14="http://schemas.microsoft.com/office/powerpoint/2010/main" val="13488809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1AEC7-8DDD-143A-8F4E-1EF770CBD630}"/>
              </a:ext>
            </a:extLst>
          </p:cNvPr>
          <p:cNvSpPr>
            <a:spLocks noGrp="1"/>
          </p:cNvSpPr>
          <p:nvPr>
            <p:ph type="title"/>
          </p:nvPr>
        </p:nvSpPr>
        <p:spPr/>
        <p:txBody>
          <a:bodyPr/>
          <a:lstStyle/>
          <a:p>
            <a:r>
              <a:rPr lang="en-ID" b="0" i="0" u="none" strike="noStrike" dirty="0">
                <a:solidFill>
                  <a:srgbClr val="000000"/>
                </a:solidFill>
                <a:effectLst/>
                <a:latin typeface="-webkit-standard"/>
              </a:rPr>
              <a:t>Types of Digital Evidence</a:t>
            </a:r>
            <a:endParaRPr lang="en-US" dirty="0"/>
          </a:p>
        </p:txBody>
      </p:sp>
      <p:sp>
        <p:nvSpPr>
          <p:cNvPr id="3" name="Content Placeholder 2">
            <a:extLst>
              <a:ext uri="{FF2B5EF4-FFF2-40B4-BE49-F238E27FC236}">
                <a16:creationId xmlns:a16="http://schemas.microsoft.com/office/drawing/2014/main" id="{D4520207-673A-7465-6E92-8234350038FE}"/>
              </a:ext>
            </a:extLst>
          </p:cNvPr>
          <p:cNvSpPr>
            <a:spLocks noGrp="1"/>
          </p:cNvSpPr>
          <p:nvPr>
            <p:ph idx="1"/>
          </p:nvPr>
        </p:nvSpPr>
        <p:spPr/>
        <p:txBody>
          <a:bodyPr>
            <a:normAutofit fontScale="92500" lnSpcReduction="10000"/>
          </a:bodyPr>
          <a:lstStyle/>
          <a:p>
            <a:r>
              <a:rPr lang="en-ID" b="1" dirty="0"/>
              <a:t>Packet Captures (</a:t>
            </a:r>
            <a:r>
              <a:rPr lang="en-ID" b="1" dirty="0" err="1"/>
              <a:t>pcap</a:t>
            </a:r>
            <a:r>
              <a:rPr lang="en-ID" b="1" dirty="0"/>
              <a:t> files)</a:t>
            </a:r>
            <a:endParaRPr lang="en-ID" dirty="0"/>
          </a:p>
          <a:p>
            <a:pPr lvl="1"/>
            <a:r>
              <a:rPr lang="en-ID" dirty="0"/>
              <a:t>Full traffic contents</a:t>
            </a:r>
          </a:p>
          <a:p>
            <a:pPr lvl="1"/>
            <a:r>
              <a:rPr lang="en-ID" dirty="0"/>
              <a:t>Tools: Wireshark, </a:t>
            </a:r>
            <a:r>
              <a:rPr lang="en-ID" dirty="0" err="1"/>
              <a:t>tcpdump</a:t>
            </a:r>
            <a:endParaRPr lang="en-ID" dirty="0"/>
          </a:p>
          <a:p>
            <a:r>
              <a:rPr lang="en-ID" b="1" dirty="0"/>
              <a:t>Flow Records (NetFlow, </a:t>
            </a:r>
            <a:r>
              <a:rPr lang="en-ID" b="1" dirty="0" err="1"/>
              <a:t>sFlow</a:t>
            </a:r>
            <a:r>
              <a:rPr lang="en-ID" b="1" dirty="0"/>
              <a:t>, IPFIX)</a:t>
            </a:r>
            <a:endParaRPr lang="en-ID" dirty="0"/>
          </a:p>
          <a:p>
            <a:pPr lvl="1"/>
            <a:r>
              <a:rPr lang="en-ID" dirty="0"/>
              <a:t>Summary of communications (source/destination, bytes, duration)</a:t>
            </a:r>
          </a:p>
          <a:p>
            <a:r>
              <a:rPr lang="en-ID" b="1" dirty="0"/>
              <a:t>Device Logs</a:t>
            </a:r>
            <a:endParaRPr lang="en-ID" dirty="0"/>
          </a:p>
          <a:p>
            <a:pPr lvl="1"/>
            <a:r>
              <a:rPr lang="en-ID" dirty="0"/>
              <a:t>Routers, switches, firewalls, proxies</a:t>
            </a:r>
          </a:p>
          <a:p>
            <a:r>
              <a:rPr lang="en-ID" b="1" dirty="0"/>
              <a:t>System Logs</a:t>
            </a:r>
            <a:endParaRPr lang="en-ID" dirty="0"/>
          </a:p>
          <a:p>
            <a:pPr lvl="1"/>
            <a:r>
              <a:rPr lang="en-ID" dirty="0"/>
              <a:t>OS event logs, authentication records</a:t>
            </a:r>
          </a:p>
          <a:p>
            <a:r>
              <a:rPr lang="en-ID" b="1" dirty="0"/>
              <a:t>IDS/IPS Alerts</a:t>
            </a:r>
            <a:endParaRPr lang="en-ID" dirty="0"/>
          </a:p>
          <a:p>
            <a:pPr lvl="1"/>
            <a:r>
              <a:rPr lang="en-ID" dirty="0"/>
              <a:t>Detected attacks or anomalies</a:t>
            </a:r>
          </a:p>
          <a:p>
            <a:endParaRPr lang="en-US" dirty="0"/>
          </a:p>
        </p:txBody>
      </p:sp>
    </p:spTree>
    <p:extLst>
      <p:ext uri="{BB962C8B-B14F-4D97-AF65-F5344CB8AC3E}">
        <p14:creationId xmlns:p14="http://schemas.microsoft.com/office/powerpoint/2010/main" val="178823230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32E00-8F4A-E6E2-FEAA-D541B586B255}"/>
              </a:ext>
            </a:extLst>
          </p:cNvPr>
          <p:cNvSpPr>
            <a:spLocks noGrp="1"/>
          </p:cNvSpPr>
          <p:nvPr>
            <p:ph type="title"/>
          </p:nvPr>
        </p:nvSpPr>
        <p:spPr/>
        <p:txBody>
          <a:bodyPr/>
          <a:lstStyle/>
          <a:p>
            <a:r>
              <a:rPr lang="en-ID" b="0" i="0" u="none" strike="noStrike" dirty="0">
                <a:solidFill>
                  <a:srgbClr val="000000"/>
                </a:solidFill>
                <a:effectLst/>
                <a:latin typeface="-webkit-standard"/>
              </a:rPr>
              <a:t>Packet Captures</a:t>
            </a:r>
            <a:endParaRPr lang="en-US" dirty="0"/>
          </a:p>
        </p:txBody>
      </p:sp>
      <p:sp>
        <p:nvSpPr>
          <p:cNvPr id="3" name="Content Placeholder 2">
            <a:extLst>
              <a:ext uri="{FF2B5EF4-FFF2-40B4-BE49-F238E27FC236}">
                <a16:creationId xmlns:a16="http://schemas.microsoft.com/office/drawing/2014/main" id="{2B70B76A-AA02-8136-4EFE-24693E95DAAD}"/>
              </a:ext>
            </a:extLst>
          </p:cNvPr>
          <p:cNvSpPr>
            <a:spLocks noGrp="1"/>
          </p:cNvSpPr>
          <p:nvPr>
            <p:ph idx="1"/>
          </p:nvPr>
        </p:nvSpPr>
        <p:spPr/>
        <p:txBody>
          <a:bodyPr/>
          <a:lstStyle/>
          <a:p>
            <a:r>
              <a:rPr lang="en-ID" b="0" i="0" u="none" strike="noStrike" dirty="0">
                <a:solidFill>
                  <a:srgbClr val="000000"/>
                </a:solidFill>
                <a:effectLst/>
              </a:rPr>
              <a:t>Richest detail (headers + payload)</a:t>
            </a:r>
          </a:p>
          <a:p>
            <a:r>
              <a:rPr lang="en-ID" b="0" i="0" u="none" strike="noStrike" dirty="0">
                <a:solidFill>
                  <a:srgbClr val="000000"/>
                </a:solidFill>
                <a:effectLst/>
              </a:rPr>
              <a:t>Useful for: protocol analysis, reconstructing conversations, malware detection</a:t>
            </a:r>
          </a:p>
          <a:p>
            <a:r>
              <a:rPr lang="en-ID" b="0" i="0" u="none" strike="noStrike" dirty="0">
                <a:solidFill>
                  <a:srgbClr val="000000"/>
                </a:solidFill>
                <a:effectLst/>
              </a:rPr>
              <a:t>Downsides:</a:t>
            </a:r>
          </a:p>
          <a:p>
            <a:pPr marL="1143000" lvl="1" indent="-685800"/>
            <a:r>
              <a:rPr lang="en-ID" b="0" i="0" u="none" strike="noStrike" dirty="0">
                <a:solidFill>
                  <a:srgbClr val="000000"/>
                </a:solidFill>
                <a:effectLst/>
              </a:rPr>
              <a:t>Very large files</a:t>
            </a:r>
          </a:p>
          <a:p>
            <a:pPr marL="1143000" lvl="1" indent="-685800"/>
            <a:r>
              <a:rPr lang="en-ID" b="0" i="0" u="none" strike="noStrike" dirty="0">
                <a:solidFill>
                  <a:srgbClr val="000000"/>
                </a:solidFill>
                <a:effectLst/>
              </a:rPr>
              <a:t>May contain sensitive/private data</a:t>
            </a:r>
          </a:p>
        </p:txBody>
      </p:sp>
    </p:spTree>
    <p:extLst>
      <p:ext uri="{BB962C8B-B14F-4D97-AF65-F5344CB8AC3E}">
        <p14:creationId xmlns:p14="http://schemas.microsoft.com/office/powerpoint/2010/main" val="5963393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E6185-B52A-A3A1-F70C-6E1505766BAB}"/>
              </a:ext>
            </a:extLst>
          </p:cNvPr>
          <p:cNvSpPr>
            <a:spLocks noGrp="1"/>
          </p:cNvSpPr>
          <p:nvPr>
            <p:ph type="title"/>
          </p:nvPr>
        </p:nvSpPr>
        <p:spPr/>
        <p:txBody>
          <a:bodyPr/>
          <a:lstStyle/>
          <a:p>
            <a:r>
              <a:rPr lang="en-ID" i="0" u="none" strike="noStrike" dirty="0">
                <a:solidFill>
                  <a:srgbClr val="000000"/>
                </a:solidFill>
                <a:effectLst/>
              </a:rPr>
              <a:t>Case: SolarWinds Attack (2020, Global)</a:t>
            </a:r>
            <a:endParaRPr lang="en-US" dirty="0"/>
          </a:p>
        </p:txBody>
      </p:sp>
      <p:sp>
        <p:nvSpPr>
          <p:cNvPr id="3" name="Content Placeholder 2">
            <a:extLst>
              <a:ext uri="{FF2B5EF4-FFF2-40B4-BE49-F238E27FC236}">
                <a16:creationId xmlns:a16="http://schemas.microsoft.com/office/drawing/2014/main" id="{32F6A15A-3280-CC82-E6EF-D33E8102E83C}"/>
              </a:ext>
            </a:extLst>
          </p:cNvPr>
          <p:cNvSpPr>
            <a:spLocks noGrp="1"/>
          </p:cNvSpPr>
          <p:nvPr>
            <p:ph idx="1"/>
          </p:nvPr>
        </p:nvSpPr>
        <p:spPr/>
        <p:txBody>
          <a:bodyPr/>
          <a:lstStyle/>
          <a:p>
            <a:pPr marL="0" indent="0">
              <a:buNone/>
            </a:pPr>
            <a:r>
              <a:rPr lang="en-ID" b="1" dirty="0"/>
              <a:t>Evidence Sources Used:</a:t>
            </a:r>
            <a:endParaRPr lang="en-ID" dirty="0"/>
          </a:p>
          <a:p>
            <a:r>
              <a:rPr lang="en-ID" dirty="0" err="1"/>
              <a:t>Pcaps</a:t>
            </a:r>
            <a:r>
              <a:rPr lang="en-ID" dirty="0"/>
              <a:t> from internal traffic → suspicious HTTPS callbacks</a:t>
            </a:r>
          </a:p>
          <a:p>
            <a:r>
              <a:rPr lang="en-ID" dirty="0"/>
              <a:t>DNS logs → confirmed connections to attacker domains</a:t>
            </a:r>
          </a:p>
          <a:p>
            <a:pPr marL="0" indent="0">
              <a:buNone/>
            </a:pPr>
            <a:r>
              <a:rPr lang="en-ID" b="1" dirty="0"/>
              <a:t>Result:</a:t>
            </a:r>
            <a:endParaRPr lang="en-ID" dirty="0"/>
          </a:p>
          <a:p>
            <a:r>
              <a:rPr lang="en-ID" dirty="0"/>
              <a:t>Investigators identified malware “backdoor” communication</a:t>
            </a:r>
          </a:p>
          <a:p>
            <a:r>
              <a:rPr lang="en-ID" dirty="0"/>
              <a:t>Attribution to the Russian APT group</a:t>
            </a:r>
          </a:p>
        </p:txBody>
      </p:sp>
    </p:spTree>
    <p:extLst>
      <p:ext uri="{BB962C8B-B14F-4D97-AF65-F5344CB8AC3E}">
        <p14:creationId xmlns:p14="http://schemas.microsoft.com/office/powerpoint/2010/main" val="194049717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9F9F4-94B7-6DDF-E52E-1F67EA67D84B}"/>
              </a:ext>
            </a:extLst>
          </p:cNvPr>
          <p:cNvSpPr>
            <a:spLocks noGrp="1"/>
          </p:cNvSpPr>
          <p:nvPr>
            <p:ph type="title"/>
          </p:nvPr>
        </p:nvSpPr>
        <p:spPr/>
        <p:txBody>
          <a:bodyPr>
            <a:normAutofit fontScale="90000"/>
          </a:bodyPr>
          <a:lstStyle/>
          <a:p>
            <a:r>
              <a:rPr lang="en-ID" i="0" u="none" strike="noStrike" dirty="0">
                <a:solidFill>
                  <a:srgbClr val="000000"/>
                </a:solidFill>
                <a:effectLst/>
              </a:rPr>
              <a:t>Case: </a:t>
            </a:r>
            <a:r>
              <a:rPr lang="en-ID" i="0" u="none" strike="noStrike" dirty="0" err="1">
                <a:solidFill>
                  <a:srgbClr val="000000"/>
                </a:solidFill>
                <a:effectLst/>
              </a:rPr>
              <a:t>Kominfo</a:t>
            </a:r>
            <a:r>
              <a:rPr lang="en-ID" i="0" u="none" strike="noStrike" dirty="0">
                <a:solidFill>
                  <a:srgbClr val="000000"/>
                </a:solidFill>
                <a:effectLst/>
              </a:rPr>
              <a:t> Website Defacement (2018, Indonesia)</a:t>
            </a:r>
            <a:endParaRPr lang="en-US" dirty="0"/>
          </a:p>
        </p:txBody>
      </p:sp>
      <p:sp>
        <p:nvSpPr>
          <p:cNvPr id="3" name="Content Placeholder 2">
            <a:extLst>
              <a:ext uri="{FF2B5EF4-FFF2-40B4-BE49-F238E27FC236}">
                <a16:creationId xmlns:a16="http://schemas.microsoft.com/office/drawing/2014/main" id="{D0583BB4-43C8-4E1C-3F9B-E366904E21D5}"/>
              </a:ext>
            </a:extLst>
          </p:cNvPr>
          <p:cNvSpPr>
            <a:spLocks noGrp="1"/>
          </p:cNvSpPr>
          <p:nvPr>
            <p:ph idx="1"/>
          </p:nvPr>
        </p:nvSpPr>
        <p:spPr/>
        <p:txBody>
          <a:bodyPr/>
          <a:lstStyle/>
          <a:p>
            <a:pPr marL="0" indent="0">
              <a:buNone/>
            </a:pPr>
            <a:r>
              <a:rPr lang="en-ID" b="1" dirty="0"/>
              <a:t>Evidence Sources Used:</a:t>
            </a:r>
            <a:endParaRPr lang="en-ID" dirty="0"/>
          </a:p>
          <a:p>
            <a:r>
              <a:rPr lang="en-ID" dirty="0" err="1"/>
              <a:t>Pcaps</a:t>
            </a:r>
            <a:r>
              <a:rPr lang="en-ID" dirty="0"/>
              <a:t> → captured SQL injection payloads in HTTP requests</a:t>
            </a:r>
          </a:p>
          <a:p>
            <a:r>
              <a:rPr lang="en-ID" dirty="0"/>
              <a:t>Web server logs → matched malicious requests with defacement</a:t>
            </a:r>
          </a:p>
          <a:p>
            <a:pPr marL="0" indent="0">
              <a:buNone/>
            </a:pPr>
            <a:r>
              <a:rPr lang="en-ID" b="1" dirty="0"/>
              <a:t>Result:</a:t>
            </a:r>
            <a:endParaRPr lang="en-ID" dirty="0"/>
          </a:p>
          <a:p>
            <a:r>
              <a:rPr lang="en-ID" dirty="0"/>
              <a:t>Attack method confirmed</a:t>
            </a:r>
          </a:p>
          <a:p>
            <a:r>
              <a:rPr lang="en-ID" dirty="0"/>
              <a:t>Helped secure other government websites with similar flaws</a:t>
            </a:r>
          </a:p>
        </p:txBody>
      </p:sp>
    </p:spTree>
    <p:extLst>
      <p:ext uri="{BB962C8B-B14F-4D97-AF65-F5344CB8AC3E}">
        <p14:creationId xmlns:p14="http://schemas.microsoft.com/office/powerpoint/2010/main" val="165877043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AB4DD-0FD8-1212-26D0-054349F495BA}"/>
              </a:ext>
            </a:extLst>
          </p:cNvPr>
          <p:cNvSpPr>
            <a:spLocks noGrp="1"/>
          </p:cNvSpPr>
          <p:nvPr>
            <p:ph type="title"/>
          </p:nvPr>
        </p:nvSpPr>
        <p:spPr/>
        <p:txBody>
          <a:bodyPr/>
          <a:lstStyle/>
          <a:p>
            <a:r>
              <a:rPr lang="en-ID" b="0" i="0" u="none" strike="noStrike" dirty="0">
                <a:solidFill>
                  <a:srgbClr val="000000"/>
                </a:solidFill>
                <a:effectLst/>
                <a:latin typeface="-webkit-standard"/>
              </a:rPr>
              <a:t>Flow Records</a:t>
            </a:r>
            <a:endParaRPr lang="en-US" dirty="0"/>
          </a:p>
        </p:txBody>
      </p:sp>
      <p:sp>
        <p:nvSpPr>
          <p:cNvPr id="3" name="Content Placeholder 2">
            <a:extLst>
              <a:ext uri="{FF2B5EF4-FFF2-40B4-BE49-F238E27FC236}">
                <a16:creationId xmlns:a16="http://schemas.microsoft.com/office/drawing/2014/main" id="{D04DC3F8-B5BE-B5FC-4FB5-768B4A181F6B}"/>
              </a:ext>
            </a:extLst>
          </p:cNvPr>
          <p:cNvSpPr>
            <a:spLocks noGrp="1"/>
          </p:cNvSpPr>
          <p:nvPr>
            <p:ph idx="1"/>
          </p:nvPr>
        </p:nvSpPr>
        <p:spPr/>
        <p:txBody>
          <a:bodyPr/>
          <a:lstStyle/>
          <a:p>
            <a:pPr algn="l">
              <a:buFont typeface="Arial" panose="020B0604020202020204" pitchFamily="34" charset="0"/>
              <a:buChar char="•"/>
            </a:pPr>
            <a:r>
              <a:rPr lang="en-ID" b="0" i="0" u="none" strike="noStrike" dirty="0">
                <a:solidFill>
                  <a:srgbClr val="000000"/>
                </a:solidFill>
                <a:effectLst/>
              </a:rPr>
              <a:t>Metadata only (no content)</a:t>
            </a:r>
          </a:p>
          <a:p>
            <a:pPr algn="l">
              <a:buFont typeface="Arial" panose="020B0604020202020204" pitchFamily="34" charset="0"/>
              <a:buChar char="•"/>
            </a:pPr>
            <a:r>
              <a:rPr lang="en-ID" b="0" i="0" u="none" strike="noStrike" dirty="0">
                <a:solidFill>
                  <a:srgbClr val="000000"/>
                </a:solidFill>
                <a:effectLst/>
              </a:rPr>
              <a:t>Tracks “who talked to whom, when, and how much”</a:t>
            </a:r>
          </a:p>
          <a:p>
            <a:pPr algn="l">
              <a:buFont typeface="Arial" panose="020B0604020202020204" pitchFamily="34" charset="0"/>
              <a:buChar char="•"/>
            </a:pPr>
            <a:r>
              <a:rPr lang="en-ID" b="0" i="0" u="none" strike="noStrike" dirty="0">
                <a:solidFill>
                  <a:srgbClr val="000000"/>
                </a:solidFill>
                <a:effectLst/>
              </a:rPr>
              <a:t>Lightweight → easier to store long term</a:t>
            </a:r>
          </a:p>
          <a:p>
            <a:pPr algn="l">
              <a:buFont typeface="Arial" panose="020B0604020202020204" pitchFamily="34" charset="0"/>
              <a:buChar char="•"/>
            </a:pPr>
            <a:r>
              <a:rPr lang="en-ID" b="0" i="0" u="none" strike="noStrike" dirty="0">
                <a:solidFill>
                  <a:srgbClr val="000000"/>
                </a:solidFill>
                <a:effectLst/>
              </a:rPr>
              <a:t>Useful for detecting trends (e.g., DDoS, data exfiltration)</a:t>
            </a:r>
          </a:p>
        </p:txBody>
      </p:sp>
    </p:spTree>
    <p:extLst>
      <p:ext uri="{BB962C8B-B14F-4D97-AF65-F5344CB8AC3E}">
        <p14:creationId xmlns:p14="http://schemas.microsoft.com/office/powerpoint/2010/main" val="219531374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22712-3C49-1F87-6CBC-EA6A7DA6F763}"/>
              </a:ext>
            </a:extLst>
          </p:cNvPr>
          <p:cNvSpPr>
            <a:spLocks noGrp="1"/>
          </p:cNvSpPr>
          <p:nvPr>
            <p:ph type="title"/>
          </p:nvPr>
        </p:nvSpPr>
        <p:spPr/>
        <p:txBody>
          <a:bodyPr>
            <a:normAutofit fontScale="90000"/>
          </a:bodyPr>
          <a:lstStyle/>
          <a:p>
            <a:r>
              <a:rPr lang="en-ID" i="0" u="none" strike="noStrike" dirty="0">
                <a:solidFill>
                  <a:srgbClr val="000000"/>
                </a:solidFill>
                <a:effectLst/>
              </a:rPr>
              <a:t>Case: DDoS Attack on GitHub (2018, Global)</a:t>
            </a:r>
            <a:endParaRPr lang="en-US" dirty="0"/>
          </a:p>
        </p:txBody>
      </p:sp>
      <p:sp>
        <p:nvSpPr>
          <p:cNvPr id="3" name="Content Placeholder 2">
            <a:extLst>
              <a:ext uri="{FF2B5EF4-FFF2-40B4-BE49-F238E27FC236}">
                <a16:creationId xmlns:a16="http://schemas.microsoft.com/office/drawing/2014/main" id="{C06A8B8D-7D13-D00A-2A8F-5E7FAF00E462}"/>
              </a:ext>
            </a:extLst>
          </p:cNvPr>
          <p:cNvSpPr>
            <a:spLocks noGrp="1"/>
          </p:cNvSpPr>
          <p:nvPr>
            <p:ph idx="1"/>
          </p:nvPr>
        </p:nvSpPr>
        <p:spPr/>
        <p:txBody>
          <a:bodyPr/>
          <a:lstStyle/>
          <a:p>
            <a:pPr marL="0" indent="0">
              <a:buNone/>
            </a:pPr>
            <a:r>
              <a:rPr lang="en-ID" b="1" dirty="0"/>
              <a:t>Evidence Sources Used:</a:t>
            </a:r>
            <a:endParaRPr lang="en-ID" dirty="0"/>
          </a:p>
          <a:p>
            <a:r>
              <a:rPr lang="en-ID" dirty="0"/>
              <a:t>NetFlow records → showed a sudden spike from Memcached servers</a:t>
            </a:r>
          </a:p>
          <a:p>
            <a:r>
              <a:rPr lang="en-ID" dirty="0"/>
              <a:t>Router logs → confirmed amplification traffic patterns</a:t>
            </a:r>
          </a:p>
          <a:p>
            <a:pPr marL="0" indent="0">
              <a:buNone/>
            </a:pPr>
            <a:r>
              <a:rPr lang="en-ID" b="1" dirty="0"/>
              <a:t>Result:</a:t>
            </a:r>
            <a:endParaRPr lang="en-ID" dirty="0"/>
          </a:p>
          <a:p>
            <a:r>
              <a:rPr lang="en-ID" dirty="0"/>
              <a:t>GitHub mitigated an attack with Akamai</a:t>
            </a:r>
          </a:p>
          <a:p>
            <a:r>
              <a:rPr lang="en-ID" dirty="0"/>
              <a:t>Largest DDoS at that time (1.35 </a:t>
            </a:r>
            <a:r>
              <a:rPr lang="en-ID" dirty="0" err="1"/>
              <a:t>Tbps</a:t>
            </a:r>
            <a:r>
              <a:rPr lang="en-ID" dirty="0"/>
              <a:t>) was successfully stopped</a:t>
            </a:r>
          </a:p>
        </p:txBody>
      </p:sp>
    </p:spTree>
    <p:extLst>
      <p:ext uri="{BB962C8B-B14F-4D97-AF65-F5344CB8AC3E}">
        <p14:creationId xmlns:p14="http://schemas.microsoft.com/office/powerpoint/2010/main" val="13405271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DD2C9-9F51-4440-600E-134C80BA6AF0}"/>
              </a:ext>
            </a:extLst>
          </p:cNvPr>
          <p:cNvSpPr>
            <a:spLocks noGrp="1"/>
          </p:cNvSpPr>
          <p:nvPr>
            <p:ph type="title"/>
          </p:nvPr>
        </p:nvSpPr>
        <p:spPr/>
        <p:txBody>
          <a:bodyPr>
            <a:normAutofit fontScale="90000"/>
          </a:bodyPr>
          <a:lstStyle/>
          <a:p>
            <a:r>
              <a:rPr lang="en-ID" i="0" u="none" strike="noStrike" dirty="0">
                <a:solidFill>
                  <a:srgbClr val="000000"/>
                </a:solidFill>
                <a:effectLst/>
              </a:rPr>
              <a:t>Case: Bank BRI ATM Malware Incident (2019, Indonesia)</a:t>
            </a:r>
            <a:endParaRPr lang="en-US" dirty="0"/>
          </a:p>
        </p:txBody>
      </p:sp>
      <p:sp>
        <p:nvSpPr>
          <p:cNvPr id="3" name="Content Placeholder 2">
            <a:extLst>
              <a:ext uri="{FF2B5EF4-FFF2-40B4-BE49-F238E27FC236}">
                <a16:creationId xmlns:a16="http://schemas.microsoft.com/office/drawing/2014/main" id="{A760413A-4FC2-8FDE-CB52-895DF2ED6541}"/>
              </a:ext>
            </a:extLst>
          </p:cNvPr>
          <p:cNvSpPr>
            <a:spLocks noGrp="1"/>
          </p:cNvSpPr>
          <p:nvPr>
            <p:ph idx="1"/>
          </p:nvPr>
        </p:nvSpPr>
        <p:spPr/>
        <p:txBody>
          <a:bodyPr/>
          <a:lstStyle/>
          <a:p>
            <a:pPr marL="0" indent="0">
              <a:buNone/>
            </a:pPr>
            <a:r>
              <a:rPr lang="en-ID" b="1" dirty="0"/>
              <a:t>Evidence Sources Used:</a:t>
            </a:r>
            <a:endParaRPr lang="en-ID" dirty="0"/>
          </a:p>
          <a:p>
            <a:r>
              <a:rPr lang="en-ID" dirty="0"/>
              <a:t>Flow logs → unusual spikes in ATM-to-external connections</a:t>
            </a:r>
          </a:p>
          <a:p>
            <a:r>
              <a:rPr lang="en-ID" dirty="0"/>
              <a:t>Firewall logs → showed communication to attacker servers</a:t>
            </a:r>
          </a:p>
          <a:p>
            <a:pPr marL="0" indent="0">
              <a:buNone/>
            </a:pPr>
            <a:r>
              <a:rPr lang="en-ID" b="1" dirty="0"/>
              <a:t>Result:</a:t>
            </a:r>
            <a:endParaRPr lang="en-ID" dirty="0"/>
          </a:p>
          <a:p>
            <a:r>
              <a:rPr lang="en-ID" dirty="0"/>
              <a:t>Identified compromised ATM terminals</a:t>
            </a:r>
          </a:p>
          <a:p>
            <a:r>
              <a:rPr lang="en-ID" dirty="0"/>
              <a:t>Prevented further fraudulent withdrawals</a:t>
            </a:r>
          </a:p>
        </p:txBody>
      </p:sp>
    </p:spTree>
    <p:extLst>
      <p:ext uri="{BB962C8B-B14F-4D97-AF65-F5344CB8AC3E}">
        <p14:creationId xmlns:p14="http://schemas.microsoft.com/office/powerpoint/2010/main" val="44591133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47961-FBAF-6C55-ECDE-0EA06215B756}"/>
              </a:ext>
            </a:extLst>
          </p:cNvPr>
          <p:cNvSpPr>
            <a:spLocks noGrp="1"/>
          </p:cNvSpPr>
          <p:nvPr>
            <p:ph type="title"/>
          </p:nvPr>
        </p:nvSpPr>
        <p:spPr/>
        <p:txBody>
          <a:bodyPr/>
          <a:lstStyle/>
          <a:p>
            <a:r>
              <a:rPr lang="en-ID" b="0" i="0" u="none" strike="noStrike" dirty="0">
                <a:solidFill>
                  <a:srgbClr val="000000"/>
                </a:solidFill>
                <a:effectLst/>
                <a:latin typeface="-webkit-standard"/>
              </a:rPr>
              <a:t>Device Logs</a:t>
            </a:r>
            <a:endParaRPr lang="en-US" dirty="0"/>
          </a:p>
        </p:txBody>
      </p:sp>
      <p:sp>
        <p:nvSpPr>
          <p:cNvPr id="3" name="Content Placeholder 2">
            <a:extLst>
              <a:ext uri="{FF2B5EF4-FFF2-40B4-BE49-F238E27FC236}">
                <a16:creationId xmlns:a16="http://schemas.microsoft.com/office/drawing/2014/main" id="{6F2AD347-A9C5-9BF6-D74E-AF6C621DAFD2}"/>
              </a:ext>
            </a:extLst>
          </p:cNvPr>
          <p:cNvSpPr>
            <a:spLocks noGrp="1"/>
          </p:cNvSpPr>
          <p:nvPr>
            <p:ph idx="1"/>
          </p:nvPr>
        </p:nvSpPr>
        <p:spPr/>
        <p:txBody>
          <a:bodyPr/>
          <a:lstStyle/>
          <a:p>
            <a:r>
              <a:rPr lang="en-ID" b="1" i="0" u="none" strike="noStrike" dirty="0">
                <a:solidFill>
                  <a:srgbClr val="000000"/>
                </a:solidFill>
                <a:effectLst/>
              </a:rPr>
              <a:t>Router:</a:t>
            </a:r>
            <a:r>
              <a:rPr lang="en-ID" b="0" i="0" u="none" strike="noStrike" dirty="0">
                <a:solidFill>
                  <a:srgbClr val="000000"/>
                </a:solidFill>
                <a:effectLst/>
              </a:rPr>
              <a:t> NetFlow, routing tables, ARP cache</a:t>
            </a:r>
          </a:p>
          <a:p>
            <a:r>
              <a:rPr lang="en-ID" b="1" i="0" u="none" strike="noStrike" dirty="0">
                <a:solidFill>
                  <a:srgbClr val="000000"/>
                </a:solidFill>
                <a:effectLst/>
              </a:rPr>
              <a:t>Switch:</a:t>
            </a:r>
            <a:r>
              <a:rPr lang="en-ID" b="0" i="0" u="none" strike="noStrike" dirty="0">
                <a:solidFill>
                  <a:srgbClr val="000000"/>
                </a:solidFill>
                <a:effectLst/>
              </a:rPr>
              <a:t> MAC tables, VLAN info</a:t>
            </a:r>
          </a:p>
          <a:p>
            <a:r>
              <a:rPr lang="en-ID" b="1" i="0" u="none" strike="noStrike" dirty="0">
                <a:solidFill>
                  <a:srgbClr val="000000"/>
                </a:solidFill>
                <a:effectLst/>
              </a:rPr>
              <a:t>Firewall:</a:t>
            </a:r>
            <a:r>
              <a:rPr lang="en-ID" b="0" i="0" u="none" strike="noStrike" dirty="0">
                <a:solidFill>
                  <a:srgbClr val="000000"/>
                </a:solidFill>
                <a:effectLst/>
              </a:rPr>
              <a:t> allow/deny logs, intrusion attempts, suspicious traffic</a:t>
            </a:r>
          </a:p>
          <a:p>
            <a:pPr marL="0" indent="0">
              <a:buNone/>
            </a:pPr>
            <a:r>
              <a:rPr lang="en-ID" b="1" i="0" u="none" strike="noStrike" dirty="0">
                <a:solidFill>
                  <a:srgbClr val="000000"/>
                </a:solidFill>
                <a:effectLst/>
              </a:rPr>
              <a:t>Example:</a:t>
            </a:r>
            <a:endParaRPr lang="en-ID" dirty="0"/>
          </a:p>
          <a:p>
            <a:r>
              <a:rPr lang="en-ID" b="0" i="0" u="none" strike="noStrike" dirty="0">
                <a:solidFill>
                  <a:srgbClr val="000000"/>
                </a:solidFill>
                <a:effectLst/>
              </a:rPr>
              <a:t>Firewall log entry: </a:t>
            </a:r>
            <a:r>
              <a:rPr lang="en-ID" sz="3600" b="0" i="0" u="none" strike="noStrike" dirty="0">
                <a:solidFill>
                  <a:schemeClr val="bg1"/>
                </a:solidFill>
                <a:effectLst/>
                <a:highlight>
                  <a:srgbClr val="808080"/>
                </a:highlight>
                <a:latin typeface="Courier New" panose="02070309020205020404" pitchFamily="49" charset="0"/>
                <a:cs typeface="Courier New" panose="02070309020205020404" pitchFamily="49" charset="0"/>
              </a:rPr>
              <a:t>[Denied] 192.168.10.5 → 45.77.22.19 TCP 3389 at 02:15:03</a:t>
            </a:r>
          </a:p>
          <a:p>
            <a:endParaRPr lang="en-US" dirty="0"/>
          </a:p>
        </p:txBody>
      </p:sp>
    </p:spTree>
    <p:extLst>
      <p:ext uri="{BB962C8B-B14F-4D97-AF65-F5344CB8AC3E}">
        <p14:creationId xmlns:p14="http://schemas.microsoft.com/office/powerpoint/2010/main" val="361607327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53817-3AEA-8632-2F9B-E797CA342DF1}"/>
              </a:ext>
            </a:extLst>
          </p:cNvPr>
          <p:cNvSpPr>
            <a:spLocks noGrp="1"/>
          </p:cNvSpPr>
          <p:nvPr>
            <p:ph type="title"/>
          </p:nvPr>
        </p:nvSpPr>
        <p:spPr/>
        <p:txBody>
          <a:bodyPr>
            <a:normAutofit/>
          </a:bodyPr>
          <a:lstStyle/>
          <a:p>
            <a:r>
              <a:rPr lang="en-ID" i="0" u="none" strike="noStrike" dirty="0">
                <a:solidFill>
                  <a:srgbClr val="000000"/>
                </a:solidFill>
                <a:effectLst/>
              </a:rPr>
              <a:t>Case: Marriott Data Breach (2018, Global)</a:t>
            </a:r>
            <a:endParaRPr lang="en-US" dirty="0"/>
          </a:p>
        </p:txBody>
      </p:sp>
      <p:sp>
        <p:nvSpPr>
          <p:cNvPr id="3" name="Content Placeholder 2">
            <a:extLst>
              <a:ext uri="{FF2B5EF4-FFF2-40B4-BE49-F238E27FC236}">
                <a16:creationId xmlns:a16="http://schemas.microsoft.com/office/drawing/2014/main" id="{30780F18-E2C1-67B8-B485-0C3BA13BFD38}"/>
              </a:ext>
            </a:extLst>
          </p:cNvPr>
          <p:cNvSpPr>
            <a:spLocks noGrp="1"/>
          </p:cNvSpPr>
          <p:nvPr>
            <p:ph idx="1"/>
          </p:nvPr>
        </p:nvSpPr>
        <p:spPr/>
        <p:txBody>
          <a:bodyPr/>
          <a:lstStyle/>
          <a:p>
            <a:pPr marL="0" indent="0">
              <a:buNone/>
            </a:pPr>
            <a:r>
              <a:rPr lang="en-ID" b="1" dirty="0"/>
              <a:t>Evidence Sources Used:</a:t>
            </a:r>
            <a:endParaRPr lang="en-ID" dirty="0"/>
          </a:p>
          <a:p>
            <a:r>
              <a:rPr lang="en-ID" dirty="0"/>
              <a:t>Firewall logs → repeated unauthorized remote connections</a:t>
            </a:r>
          </a:p>
          <a:p>
            <a:r>
              <a:rPr lang="en-ID" dirty="0"/>
              <a:t>Router logs → abnormal routing entries</a:t>
            </a:r>
          </a:p>
          <a:p>
            <a:pPr marL="0" indent="0">
              <a:buNone/>
            </a:pPr>
            <a:r>
              <a:rPr lang="en-ID" b="1" dirty="0"/>
              <a:t>Result:</a:t>
            </a:r>
            <a:endParaRPr lang="en-ID" dirty="0"/>
          </a:p>
          <a:p>
            <a:r>
              <a:rPr lang="en-ID" dirty="0"/>
              <a:t>Discovered attackers had persisted in the network since 2014</a:t>
            </a:r>
          </a:p>
          <a:p>
            <a:r>
              <a:rPr lang="en-ID" dirty="0"/>
              <a:t>500M customer records stolen</a:t>
            </a:r>
          </a:p>
        </p:txBody>
      </p:sp>
    </p:spTree>
    <p:extLst>
      <p:ext uri="{BB962C8B-B14F-4D97-AF65-F5344CB8AC3E}">
        <p14:creationId xmlns:p14="http://schemas.microsoft.com/office/powerpoint/2010/main" val="92019373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D413-19FB-1AD4-D91A-820645FB6087}"/>
              </a:ext>
            </a:extLst>
          </p:cNvPr>
          <p:cNvSpPr>
            <a:spLocks noGrp="1"/>
          </p:cNvSpPr>
          <p:nvPr>
            <p:ph type="title"/>
          </p:nvPr>
        </p:nvSpPr>
        <p:spPr/>
        <p:txBody>
          <a:bodyPr>
            <a:normAutofit/>
          </a:bodyPr>
          <a:lstStyle/>
          <a:p>
            <a:r>
              <a:rPr lang="en-ID" i="0" u="none" strike="noStrike" dirty="0" err="1">
                <a:solidFill>
                  <a:srgbClr val="000000"/>
                </a:solidFill>
                <a:effectLst/>
              </a:rPr>
              <a:t>Telkomsel</a:t>
            </a:r>
            <a:r>
              <a:rPr lang="en-ID" i="0" u="none" strike="noStrike" dirty="0">
                <a:solidFill>
                  <a:srgbClr val="000000"/>
                </a:solidFill>
                <a:effectLst/>
              </a:rPr>
              <a:t> Data Leak (2017, Indonesia)</a:t>
            </a:r>
            <a:endParaRPr lang="en-US" dirty="0"/>
          </a:p>
        </p:txBody>
      </p:sp>
      <p:sp>
        <p:nvSpPr>
          <p:cNvPr id="3" name="Content Placeholder 2">
            <a:extLst>
              <a:ext uri="{FF2B5EF4-FFF2-40B4-BE49-F238E27FC236}">
                <a16:creationId xmlns:a16="http://schemas.microsoft.com/office/drawing/2014/main" id="{D1D3C678-0746-9C4E-A319-018C457A5C7E}"/>
              </a:ext>
            </a:extLst>
          </p:cNvPr>
          <p:cNvSpPr>
            <a:spLocks noGrp="1"/>
          </p:cNvSpPr>
          <p:nvPr>
            <p:ph idx="1"/>
          </p:nvPr>
        </p:nvSpPr>
        <p:spPr/>
        <p:txBody>
          <a:bodyPr/>
          <a:lstStyle/>
          <a:p>
            <a:pPr marL="0" indent="0">
              <a:buNone/>
            </a:pPr>
            <a:r>
              <a:rPr lang="en-ID" b="1" dirty="0"/>
              <a:t>Evidence Sources Used:</a:t>
            </a:r>
            <a:endParaRPr lang="en-ID" dirty="0"/>
          </a:p>
          <a:p>
            <a:r>
              <a:rPr lang="en-ID" dirty="0"/>
              <a:t>Firewall logs → SQL injection attempts bypassed filters</a:t>
            </a:r>
          </a:p>
          <a:p>
            <a:r>
              <a:rPr lang="en-ID" dirty="0"/>
              <a:t>Web server logs → confirmed database queries via injection</a:t>
            </a:r>
          </a:p>
          <a:p>
            <a:pPr marL="0" indent="0">
              <a:buNone/>
            </a:pPr>
            <a:r>
              <a:rPr lang="en-ID" b="1" dirty="0"/>
              <a:t>Result:</a:t>
            </a:r>
            <a:endParaRPr lang="en-ID" dirty="0"/>
          </a:p>
          <a:p>
            <a:r>
              <a:rPr lang="en-ID" dirty="0"/>
              <a:t>Millions of customer data leaked</a:t>
            </a:r>
          </a:p>
          <a:p>
            <a:r>
              <a:rPr lang="en-ID" dirty="0"/>
              <a:t>Exposed weak application security</a:t>
            </a:r>
          </a:p>
        </p:txBody>
      </p:sp>
    </p:spTree>
    <p:extLst>
      <p:ext uri="{BB962C8B-B14F-4D97-AF65-F5344CB8AC3E}">
        <p14:creationId xmlns:p14="http://schemas.microsoft.com/office/powerpoint/2010/main" val="159820636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81DE5-A841-A598-92EE-A1513AC0C981}"/>
              </a:ext>
            </a:extLst>
          </p:cNvPr>
          <p:cNvSpPr>
            <a:spLocks noGrp="1"/>
          </p:cNvSpPr>
          <p:nvPr>
            <p:ph type="title"/>
          </p:nvPr>
        </p:nvSpPr>
        <p:spPr/>
        <p:txBody>
          <a:bodyPr/>
          <a:lstStyle/>
          <a:p>
            <a:r>
              <a:rPr lang="en-ID" b="0" i="0" u="none" strike="noStrike" dirty="0">
                <a:solidFill>
                  <a:srgbClr val="000000"/>
                </a:solidFill>
                <a:effectLst/>
                <a:latin typeface="-webkit-standard"/>
              </a:rPr>
              <a:t>System &amp; Application Logs</a:t>
            </a:r>
            <a:endParaRPr lang="en-US" dirty="0"/>
          </a:p>
        </p:txBody>
      </p:sp>
      <p:sp>
        <p:nvSpPr>
          <p:cNvPr id="3" name="Content Placeholder 2">
            <a:extLst>
              <a:ext uri="{FF2B5EF4-FFF2-40B4-BE49-F238E27FC236}">
                <a16:creationId xmlns:a16="http://schemas.microsoft.com/office/drawing/2014/main" id="{D91904FD-DB1E-0D84-31BD-C606C11C1C52}"/>
              </a:ext>
            </a:extLst>
          </p:cNvPr>
          <p:cNvSpPr>
            <a:spLocks noGrp="1"/>
          </p:cNvSpPr>
          <p:nvPr>
            <p:ph idx="1"/>
          </p:nvPr>
        </p:nvSpPr>
        <p:spPr/>
        <p:txBody>
          <a:bodyPr/>
          <a:lstStyle/>
          <a:p>
            <a:r>
              <a:rPr lang="en-ID" b="1" i="0" u="none" strike="noStrike" dirty="0">
                <a:solidFill>
                  <a:srgbClr val="000000"/>
                </a:solidFill>
                <a:effectLst/>
              </a:rPr>
              <a:t>Windows:</a:t>
            </a:r>
            <a:r>
              <a:rPr lang="en-ID" b="0" i="0" u="none" strike="noStrike" dirty="0">
                <a:solidFill>
                  <a:srgbClr val="000000"/>
                </a:solidFill>
                <a:effectLst/>
              </a:rPr>
              <a:t> Event Viewer (logon failures, account lockouts)</a:t>
            </a:r>
          </a:p>
          <a:p>
            <a:r>
              <a:rPr lang="en-ID" b="1" i="0" u="none" strike="noStrike" dirty="0">
                <a:solidFill>
                  <a:srgbClr val="000000"/>
                </a:solidFill>
                <a:effectLst/>
              </a:rPr>
              <a:t>Linux:</a:t>
            </a:r>
            <a:r>
              <a:rPr lang="en-ID" b="0" i="0" u="none" strike="noStrike" dirty="0">
                <a:solidFill>
                  <a:srgbClr val="000000"/>
                </a:solidFill>
                <a:effectLst/>
              </a:rPr>
              <a:t> /var/log/</a:t>
            </a:r>
            <a:r>
              <a:rPr lang="en-ID" b="0" i="0" u="none" strike="noStrike" dirty="0" err="1">
                <a:solidFill>
                  <a:srgbClr val="000000"/>
                </a:solidFill>
                <a:effectLst/>
              </a:rPr>
              <a:t>auth.log</a:t>
            </a:r>
            <a:r>
              <a:rPr lang="en-ID" b="0" i="0" u="none" strike="noStrike" dirty="0">
                <a:solidFill>
                  <a:srgbClr val="000000"/>
                </a:solidFill>
                <a:effectLst/>
              </a:rPr>
              <a:t>, /var/log/syslog</a:t>
            </a:r>
          </a:p>
          <a:p>
            <a:r>
              <a:rPr lang="en-ID" b="1" i="0" u="none" strike="noStrike" dirty="0">
                <a:solidFill>
                  <a:srgbClr val="000000"/>
                </a:solidFill>
                <a:effectLst/>
              </a:rPr>
              <a:t>Applications:</a:t>
            </a:r>
            <a:r>
              <a:rPr lang="en-ID" b="0" i="0" u="none" strike="noStrike" dirty="0">
                <a:solidFill>
                  <a:srgbClr val="000000"/>
                </a:solidFill>
                <a:effectLst/>
              </a:rPr>
              <a:t> Web server access logs, email server logs</a:t>
            </a:r>
          </a:p>
          <a:p>
            <a:pPr marL="0" indent="0">
              <a:buNone/>
            </a:pPr>
            <a:r>
              <a:rPr lang="en-ID" b="1" i="0" u="none" strike="noStrike" dirty="0">
                <a:solidFill>
                  <a:srgbClr val="000000"/>
                </a:solidFill>
                <a:effectLst/>
              </a:rPr>
              <a:t>Example:</a:t>
            </a:r>
            <a:endParaRPr lang="en-ID" dirty="0"/>
          </a:p>
          <a:p>
            <a:r>
              <a:rPr lang="en-ID" b="0" i="0" u="none" strike="noStrike" dirty="0">
                <a:solidFill>
                  <a:srgbClr val="000000"/>
                </a:solidFill>
                <a:effectLst/>
              </a:rPr>
              <a:t>Apache log:</a:t>
            </a:r>
            <a:br>
              <a:rPr lang="en-ID" b="0" i="0" u="none" strike="noStrike" dirty="0">
                <a:solidFill>
                  <a:srgbClr val="000000"/>
                </a:solidFill>
                <a:effectLst/>
              </a:rPr>
            </a:br>
            <a:r>
              <a:rPr lang="en-ID" sz="3600" b="0" i="0" u="none" strike="noStrike" dirty="0">
                <a:solidFill>
                  <a:schemeClr val="bg1"/>
                </a:solidFill>
                <a:effectLst/>
                <a:highlight>
                  <a:srgbClr val="808080"/>
                </a:highlight>
                <a:latin typeface="Courier New" panose="02070309020205020404" pitchFamily="49" charset="0"/>
                <a:cs typeface="Courier New" panose="02070309020205020404" pitchFamily="49" charset="0"/>
              </a:rPr>
              <a:t>192.168.1.5 - - [12/Mar/2025:13:05] "GET /</a:t>
            </a:r>
            <a:r>
              <a:rPr lang="en-ID" sz="3600" b="0" i="0" u="none" strike="noStrike" dirty="0" err="1">
                <a:solidFill>
                  <a:schemeClr val="bg1"/>
                </a:solidFill>
                <a:effectLst/>
                <a:highlight>
                  <a:srgbClr val="808080"/>
                </a:highlight>
                <a:latin typeface="Courier New" panose="02070309020205020404" pitchFamily="49" charset="0"/>
                <a:cs typeface="Courier New" panose="02070309020205020404" pitchFamily="49" charset="0"/>
              </a:rPr>
              <a:t>login.php?id</a:t>
            </a:r>
            <a:r>
              <a:rPr lang="en-ID" sz="3600" b="0" i="0" u="none" strike="noStrike" dirty="0">
                <a:solidFill>
                  <a:schemeClr val="bg1"/>
                </a:solidFill>
                <a:effectLst/>
                <a:highlight>
                  <a:srgbClr val="808080"/>
                </a:highlight>
                <a:latin typeface="Courier New" panose="02070309020205020404" pitchFamily="49" charset="0"/>
                <a:cs typeface="Courier New" panose="02070309020205020404" pitchFamily="49" charset="0"/>
              </a:rPr>
              <a:t>=1' OR '1'='1" 200</a:t>
            </a:r>
            <a:br>
              <a:rPr lang="en-ID" b="0" i="0" u="none" strike="noStrike" dirty="0">
                <a:solidFill>
                  <a:srgbClr val="000000"/>
                </a:solidFill>
                <a:effectLst/>
              </a:rPr>
            </a:br>
            <a:r>
              <a:rPr lang="en-ID" b="0" i="0" u="none" strike="noStrike" dirty="0">
                <a:solidFill>
                  <a:srgbClr val="000000"/>
                </a:solidFill>
                <a:effectLst/>
              </a:rPr>
              <a:t>→ Attempted SQL injection visible in log.</a:t>
            </a:r>
          </a:p>
        </p:txBody>
      </p:sp>
    </p:spTree>
    <p:extLst>
      <p:ext uri="{BB962C8B-B14F-4D97-AF65-F5344CB8AC3E}">
        <p14:creationId xmlns:p14="http://schemas.microsoft.com/office/powerpoint/2010/main" val="339433910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F838A-1C8E-9AB1-709F-F0F85253B4B6}"/>
              </a:ext>
            </a:extLst>
          </p:cNvPr>
          <p:cNvSpPr>
            <a:spLocks noGrp="1"/>
          </p:cNvSpPr>
          <p:nvPr>
            <p:ph type="title"/>
          </p:nvPr>
        </p:nvSpPr>
        <p:spPr/>
        <p:txBody>
          <a:bodyPr/>
          <a:lstStyle/>
          <a:p>
            <a:r>
              <a:rPr lang="en-ID" i="0" u="none" strike="noStrike" dirty="0">
                <a:solidFill>
                  <a:srgbClr val="000000"/>
                </a:solidFill>
                <a:effectLst/>
              </a:rPr>
              <a:t>Case: Sony Pictures Hack (2014, Global)</a:t>
            </a:r>
            <a:endParaRPr lang="en-US" dirty="0"/>
          </a:p>
        </p:txBody>
      </p:sp>
      <p:sp>
        <p:nvSpPr>
          <p:cNvPr id="3" name="Content Placeholder 2">
            <a:extLst>
              <a:ext uri="{FF2B5EF4-FFF2-40B4-BE49-F238E27FC236}">
                <a16:creationId xmlns:a16="http://schemas.microsoft.com/office/drawing/2014/main" id="{5530DFD8-86D6-9A74-4287-A3292A7DD465}"/>
              </a:ext>
            </a:extLst>
          </p:cNvPr>
          <p:cNvSpPr>
            <a:spLocks noGrp="1"/>
          </p:cNvSpPr>
          <p:nvPr>
            <p:ph idx="1"/>
          </p:nvPr>
        </p:nvSpPr>
        <p:spPr/>
        <p:txBody>
          <a:bodyPr/>
          <a:lstStyle/>
          <a:p>
            <a:pPr marL="0" indent="0">
              <a:buNone/>
            </a:pPr>
            <a:r>
              <a:rPr lang="en-ID" b="1" dirty="0"/>
              <a:t>Evidence Sources Used:</a:t>
            </a:r>
            <a:endParaRPr lang="en-ID" dirty="0"/>
          </a:p>
          <a:p>
            <a:r>
              <a:rPr lang="en-ID" dirty="0"/>
              <a:t>System logs → unusual logins from foreign IPs</a:t>
            </a:r>
          </a:p>
          <a:p>
            <a:r>
              <a:rPr lang="en-ID" dirty="0"/>
              <a:t>Application logs → large file access requests before wipe</a:t>
            </a:r>
          </a:p>
          <a:p>
            <a:pPr marL="0" indent="0">
              <a:buNone/>
            </a:pPr>
            <a:r>
              <a:rPr lang="en-ID" b="1" dirty="0"/>
              <a:t>Result:</a:t>
            </a:r>
            <a:endParaRPr lang="en-ID" dirty="0"/>
          </a:p>
          <a:p>
            <a:r>
              <a:rPr lang="en-ID" dirty="0"/>
              <a:t>Linked to Lazarus Group (North Korea)</a:t>
            </a:r>
          </a:p>
          <a:p>
            <a:r>
              <a:rPr lang="en-ID" dirty="0"/>
              <a:t>Attack disrupted global movie releases</a:t>
            </a:r>
          </a:p>
        </p:txBody>
      </p:sp>
    </p:spTree>
    <p:extLst>
      <p:ext uri="{BB962C8B-B14F-4D97-AF65-F5344CB8AC3E}">
        <p14:creationId xmlns:p14="http://schemas.microsoft.com/office/powerpoint/2010/main" val="77757688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98190-79CA-9605-4415-4D199A563243}"/>
              </a:ext>
            </a:extLst>
          </p:cNvPr>
          <p:cNvSpPr>
            <a:spLocks noGrp="1"/>
          </p:cNvSpPr>
          <p:nvPr>
            <p:ph type="title"/>
          </p:nvPr>
        </p:nvSpPr>
        <p:spPr/>
        <p:txBody>
          <a:bodyPr>
            <a:normAutofit fontScale="90000"/>
          </a:bodyPr>
          <a:lstStyle/>
          <a:p>
            <a:r>
              <a:rPr lang="en-ID" i="0" u="none" strike="noStrike" dirty="0">
                <a:solidFill>
                  <a:srgbClr val="000000"/>
                </a:solidFill>
                <a:effectLst/>
              </a:rPr>
              <a:t>Case: BPJS Kesehatan Data Leak (2021, Indonesia)</a:t>
            </a:r>
            <a:endParaRPr lang="en-US" dirty="0"/>
          </a:p>
        </p:txBody>
      </p:sp>
      <p:sp>
        <p:nvSpPr>
          <p:cNvPr id="3" name="Content Placeholder 2">
            <a:extLst>
              <a:ext uri="{FF2B5EF4-FFF2-40B4-BE49-F238E27FC236}">
                <a16:creationId xmlns:a16="http://schemas.microsoft.com/office/drawing/2014/main" id="{3DD35981-E071-37FA-EF66-9F10EEFB3ED7}"/>
              </a:ext>
            </a:extLst>
          </p:cNvPr>
          <p:cNvSpPr>
            <a:spLocks noGrp="1"/>
          </p:cNvSpPr>
          <p:nvPr>
            <p:ph idx="1"/>
          </p:nvPr>
        </p:nvSpPr>
        <p:spPr/>
        <p:txBody>
          <a:bodyPr/>
          <a:lstStyle/>
          <a:p>
            <a:pPr marL="0" indent="0">
              <a:buNone/>
            </a:pPr>
            <a:r>
              <a:rPr lang="en-ID" b="1" dirty="0"/>
              <a:t>Evidence Sources Used:</a:t>
            </a:r>
            <a:endParaRPr lang="en-ID" dirty="0"/>
          </a:p>
          <a:p>
            <a:r>
              <a:rPr lang="en-ID" dirty="0"/>
              <a:t>Database logs → massive SELECT queries by unauthorized users</a:t>
            </a:r>
          </a:p>
          <a:p>
            <a:r>
              <a:rPr lang="en-ID" dirty="0"/>
              <a:t>System logs → abnormal admin activity from foreign IPs</a:t>
            </a:r>
          </a:p>
          <a:p>
            <a:pPr marL="0" indent="0">
              <a:buNone/>
            </a:pPr>
            <a:r>
              <a:rPr lang="en-ID" b="1" dirty="0"/>
              <a:t>Result:</a:t>
            </a:r>
            <a:endParaRPr lang="en-ID" dirty="0"/>
          </a:p>
          <a:p>
            <a:r>
              <a:rPr lang="en-ID" dirty="0"/>
              <a:t>279M citizen records leaked to dark web</a:t>
            </a:r>
          </a:p>
          <a:p>
            <a:r>
              <a:rPr lang="en-ID" dirty="0"/>
              <a:t>Became a national cybersecurity crisis</a:t>
            </a:r>
          </a:p>
        </p:txBody>
      </p:sp>
    </p:spTree>
    <p:extLst>
      <p:ext uri="{BB962C8B-B14F-4D97-AF65-F5344CB8AC3E}">
        <p14:creationId xmlns:p14="http://schemas.microsoft.com/office/powerpoint/2010/main" val="372276982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EB824-0550-5165-3067-34CE1A1AB272}"/>
              </a:ext>
            </a:extLst>
          </p:cNvPr>
          <p:cNvSpPr>
            <a:spLocks noGrp="1"/>
          </p:cNvSpPr>
          <p:nvPr>
            <p:ph type="title"/>
          </p:nvPr>
        </p:nvSpPr>
        <p:spPr/>
        <p:txBody>
          <a:bodyPr/>
          <a:lstStyle/>
          <a:p>
            <a:r>
              <a:rPr lang="en-ID" b="0" i="0" u="none" strike="noStrike" dirty="0">
                <a:solidFill>
                  <a:srgbClr val="000000"/>
                </a:solidFill>
                <a:effectLst/>
                <a:latin typeface="-webkit-standard"/>
              </a:rPr>
              <a:t>DS/IPS Alerts</a:t>
            </a:r>
            <a:endParaRPr lang="en-US" dirty="0"/>
          </a:p>
        </p:txBody>
      </p:sp>
      <p:sp>
        <p:nvSpPr>
          <p:cNvPr id="3" name="Content Placeholder 2">
            <a:extLst>
              <a:ext uri="{FF2B5EF4-FFF2-40B4-BE49-F238E27FC236}">
                <a16:creationId xmlns:a16="http://schemas.microsoft.com/office/drawing/2014/main" id="{C2F13F61-9D80-CCD2-620B-F7AB74EE7DB1}"/>
              </a:ext>
            </a:extLst>
          </p:cNvPr>
          <p:cNvSpPr>
            <a:spLocks noGrp="1"/>
          </p:cNvSpPr>
          <p:nvPr>
            <p:ph idx="1"/>
          </p:nvPr>
        </p:nvSpPr>
        <p:spPr/>
        <p:txBody>
          <a:bodyPr/>
          <a:lstStyle/>
          <a:p>
            <a:r>
              <a:rPr lang="en-ID" b="0" i="0" u="none" strike="noStrike" dirty="0">
                <a:solidFill>
                  <a:srgbClr val="000000"/>
                </a:solidFill>
                <a:effectLst/>
              </a:rPr>
              <a:t>Signature-based (Snort, Suricata)</a:t>
            </a:r>
          </a:p>
          <a:p>
            <a:r>
              <a:rPr lang="en-ID" b="0" i="0" u="none" strike="noStrike" dirty="0">
                <a:solidFill>
                  <a:srgbClr val="000000"/>
                </a:solidFill>
                <a:effectLst/>
              </a:rPr>
              <a:t>Anomaly-based (detects unusual </a:t>
            </a:r>
            <a:r>
              <a:rPr lang="en-ID" b="0" i="0" u="none" strike="noStrike" dirty="0" err="1">
                <a:solidFill>
                  <a:srgbClr val="000000"/>
                </a:solidFill>
                <a:effectLst/>
              </a:rPr>
              <a:t>behavior</a:t>
            </a:r>
            <a:r>
              <a:rPr lang="en-ID" b="0" i="0" u="none" strike="noStrike" dirty="0">
                <a:solidFill>
                  <a:srgbClr val="000000"/>
                </a:solidFill>
                <a:effectLst/>
              </a:rPr>
              <a:t>)</a:t>
            </a:r>
          </a:p>
          <a:p>
            <a:r>
              <a:rPr lang="en-ID" b="0" i="0" u="none" strike="noStrike" dirty="0">
                <a:solidFill>
                  <a:srgbClr val="000000"/>
                </a:solidFill>
                <a:effectLst/>
              </a:rPr>
              <a:t>Useful for </a:t>
            </a:r>
            <a:r>
              <a:rPr lang="en-ID" b="1" i="0" u="none" strike="noStrike" dirty="0">
                <a:solidFill>
                  <a:srgbClr val="000000"/>
                </a:solidFill>
                <a:effectLst/>
              </a:rPr>
              <a:t>early detection</a:t>
            </a:r>
            <a:r>
              <a:rPr lang="en-ID" b="0" i="0" u="none" strike="noStrike" dirty="0">
                <a:solidFill>
                  <a:srgbClr val="000000"/>
                </a:solidFill>
                <a:effectLst/>
              </a:rPr>
              <a:t>, but may produce false positives</a:t>
            </a:r>
          </a:p>
          <a:p>
            <a:pPr marL="0" indent="0">
              <a:buNone/>
            </a:pPr>
            <a:r>
              <a:rPr lang="en-ID" b="1" i="0" u="none" strike="noStrike" dirty="0">
                <a:solidFill>
                  <a:srgbClr val="000000"/>
                </a:solidFill>
                <a:effectLst/>
              </a:rPr>
              <a:t>Example:</a:t>
            </a:r>
            <a:endParaRPr lang="en-ID" dirty="0"/>
          </a:p>
          <a:p>
            <a:r>
              <a:rPr lang="en-ID" b="0" i="0" u="none" strike="noStrike" dirty="0">
                <a:solidFill>
                  <a:srgbClr val="000000"/>
                </a:solidFill>
                <a:effectLst/>
              </a:rPr>
              <a:t>Snort alert:</a:t>
            </a:r>
            <a:br>
              <a:rPr lang="en-ID" b="0" i="0" u="none" strike="noStrike" dirty="0">
                <a:solidFill>
                  <a:srgbClr val="000000"/>
                </a:solidFill>
                <a:effectLst/>
              </a:rPr>
            </a:br>
            <a:r>
              <a:rPr lang="en-ID" sz="3600" b="0" i="0" u="none" strike="noStrike" dirty="0">
                <a:solidFill>
                  <a:schemeClr val="bg1"/>
                </a:solidFill>
                <a:effectLst/>
                <a:highlight>
                  <a:srgbClr val="808080"/>
                </a:highlight>
                <a:latin typeface="Courier New" panose="02070309020205020404" pitchFamily="49" charset="0"/>
                <a:cs typeface="Courier New" panose="02070309020205020404" pitchFamily="49" charset="0"/>
              </a:rPr>
              <a:t>[1:1000001:0] SQL Injection Attempt detected from 203.0.113.10 → 192.168.1.20</a:t>
            </a:r>
            <a:endParaRPr lang="en-ID" b="0" i="0" u="none" strike="noStrike" dirty="0">
              <a:solidFill>
                <a:schemeClr val="bg1"/>
              </a:solidFill>
              <a:effectLst/>
              <a:highlight>
                <a:srgbClr val="808080"/>
              </a:highligh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3513780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97C2-51BB-2121-FCD2-5DBDA78D5DDE}"/>
              </a:ext>
            </a:extLst>
          </p:cNvPr>
          <p:cNvSpPr>
            <a:spLocks noGrp="1"/>
          </p:cNvSpPr>
          <p:nvPr>
            <p:ph type="title"/>
          </p:nvPr>
        </p:nvSpPr>
        <p:spPr/>
        <p:txBody>
          <a:bodyPr>
            <a:normAutofit fontScale="90000"/>
          </a:bodyPr>
          <a:lstStyle/>
          <a:p>
            <a:r>
              <a:rPr lang="en-ID" i="0" u="none" strike="noStrike" dirty="0">
                <a:solidFill>
                  <a:srgbClr val="000000"/>
                </a:solidFill>
                <a:effectLst/>
              </a:rPr>
              <a:t>Case: Colonial Pipeline Ransomware (2021, USA)</a:t>
            </a:r>
            <a:endParaRPr lang="en-US" dirty="0"/>
          </a:p>
        </p:txBody>
      </p:sp>
      <p:sp>
        <p:nvSpPr>
          <p:cNvPr id="3" name="Content Placeholder 2">
            <a:extLst>
              <a:ext uri="{FF2B5EF4-FFF2-40B4-BE49-F238E27FC236}">
                <a16:creationId xmlns:a16="http://schemas.microsoft.com/office/drawing/2014/main" id="{2B5BBB7C-8808-7FAE-81B3-38082528EBD5}"/>
              </a:ext>
            </a:extLst>
          </p:cNvPr>
          <p:cNvSpPr>
            <a:spLocks noGrp="1"/>
          </p:cNvSpPr>
          <p:nvPr>
            <p:ph idx="1"/>
          </p:nvPr>
        </p:nvSpPr>
        <p:spPr/>
        <p:txBody>
          <a:bodyPr/>
          <a:lstStyle/>
          <a:p>
            <a:pPr marL="0" indent="0">
              <a:buNone/>
            </a:pPr>
            <a:r>
              <a:rPr lang="en-ID" b="1" dirty="0"/>
              <a:t>Evidence Sources Used:</a:t>
            </a:r>
            <a:endParaRPr lang="en-ID" dirty="0"/>
          </a:p>
          <a:p>
            <a:r>
              <a:rPr lang="en-ID" dirty="0"/>
              <a:t>IDS alerts → malicious SMB traffic flagged</a:t>
            </a:r>
          </a:p>
          <a:p>
            <a:r>
              <a:rPr lang="en-ID" dirty="0"/>
              <a:t>Firewall logs → unusual lateral movement</a:t>
            </a:r>
          </a:p>
          <a:p>
            <a:pPr marL="0" indent="0">
              <a:buNone/>
            </a:pPr>
            <a:r>
              <a:rPr lang="en-ID" b="1" dirty="0"/>
              <a:t>Result:</a:t>
            </a:r>
            <a:endParaRPr lang="en-ID" dirty="0"/>
          </a:p>
          <a:p>
            <a:r>
              <a:rPr lang="en-ID" dirty="0"/>
              <a:t>Ransomware identified as </a:t>
            </a:r>
            <a:r>
              <a:rPr lang="en-ID" dirty="0" err="1"/>
              <a:t>DarkSide</a:t>
            </a:r>
            <a:r>
              <a:rPr lang="en-ID" dirty="0"/>
              <a:t> group</a:t>
            </a:r>
          </a:p>
          <a:p>
            <a:r>
              <a:rPr lang="en-ID" dirty="0"/>
              <a:t>Led to $4.4M ransom payment and a major fuel shortage</a:t>
            </a:r>
          </a:p>
        </p:txBody>
      </p:sp>
    </p:spTree>
    <p:extLst>
      <p:ext uri="{BB962C8B-B14F-4D97-AF65-F5344CB8AC3E}">
        <p14:creationId xmlns:p14="http://schemas.microsoft.com/office/powerpoint/2010/main" val="83210748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B2B8-33C3-5112-90D2-363EB6DC4182}"/>
              </a:ext>
            </a:extLst>
          </p:cNvPr>
          <p:cNvSpPr>
            <a:spLocks noGrp="1"/>
          </p:cNvSpPr>
          <p:nvPr>
            <p:ph type="title"/>
          </p:nvPr>
        </p:nvSpPr>
        <p:spPr/>
        <p:txBody>
          <a:bodyPr>
            <a:normAutofit fontScale="90000"/>
          </a:bodyPr>
          <a:lstStyle/>
          <a:p>
            <a:r>
              <a:rPr lang="en-ID" i="0" u="none" strike="noStrike" dirty="0">
                <a:solidFill>
                  <a:srgbClr val="000000"/>
                </a:solidFill>
                <a:effectLst/>
              </a:rPr>
              <a:t>Case: Indonesian University Ransomware Attacks (2020–2021)</a:t>
            </a:r>
            <a:endParaRPr lang="en-US" dirty="0"/>
          </a:p>
        </p:txBody>
      </p:sp>
      <p:sp>
        <p:nvSpPr>
          <p:cNvPr id="3" name="Content Placeholder 2">
            <a:extLst>
              <a:ext uri="{FF2B5EF4-FFF2-40B4-BE49-F238E27FC236}">
                <a16:creationId xmlns:a16="http://schemas.microsoft.com/office/drawing/2014/main" id="{5BF77A79-153D-25C9-6C04-E3C769AFB1F6}"/>
              </a:ext>
            </a:extLst>
          </p:cNvPr>
          <p:cNvSpPr>
            <a:spLocks noGrp="1"/>
          </p:cNvSpPr>
          <p:nvPr>
            <p:ph idx="1"/>
          </p:nvPr>
        </p:nvSpPr>
        <p:spPr/>
        <p:txBody>
          <a:bodyPr/>
          <a:lstStyle/>
          <a:p>
            <a:pPr marL="0" indent="0">
              <a:buNone/>
            </a:pPr>
            <a:r>
              <a:rPr lang="en-ID" b="1" dirty="0"/>
              <a:t>Evidence Sources Used:</a:t>
            </a:r>
            <a:endParaRPr lang="en-ID" dirty="0"/>
          </a:p>
          <a:p>
            <a:r>
              <a:rPr lang="en-ID" dirty="0"/>
              <a:t>IDS alerts → brute force attempts and abnormal SMB traffic</a:t>
            </a:r>
          </a:p>
          <a:p>
            <a:r>
              <a:rPr lang="en-ID" dirty="0"/>
              <a:t>System logs → unauthorized privilege escalation</a:t>
            </a:r>
          </a:p>
          <a:p>
            <a:pPr marL="0" indent="0">
              <a:buNone/>
            </a:pPr>
            <a:r>
              <a:rPr lang="en-ID" b="1" dirty="0"/>
              <a:t>Result:</a:t>
            </a:r>
            <a:endParaRPr lang="en-ID" dirty="0"/>
          </a:p>
          <a:p>
            <a:r>
              <a:rPr lang="en-ID" dirty="0"/>
              <a:t>Confirmed ransomware infections at multiple universities</a:t>
            </a:r>
          </a:p>
          <a:p>
            <a:r>
              <a:rPr lang="en-ID" dirty="0"/>
              <a:t>Forced shutdowns and delays in academic operations</a:t>
            </a:r>
          </a:p>
        </p:txBody>
      </p:sp>
    </p:spTree>
    <p:extLst>
      <p:ext uri="{BB962C8B-B14F-4D97-AF65-F5344CB8AC3E}">
        <p14:creationId xmlns:p14="http://schemas.microsoft.com/office/powerpoint/2010/main" val="171082503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7094F-B7E5-8DD2-533F-D9B997767C27}"/>
              </a:ext>
            </a:extLst>
          </p:cNvPr>
          <p:cNvSpPr>
            <a:spLocks noGrp="1"/>
          </p:cNvSpPr>
          <p:nvPr>
            <p:ph type="title"/>
          </p:nvPr>
        </p:nvSpPr>
        <p:spPr/>
        <p:txBody>
          <a:bodyPr/>
          <a:lstStyle/>
          <a:p>
            <a:r>
              <a:rPr lang="en-ID" b="0" i="0" u="none" strike="noStrike" dirty="0">
                <a:solidFill>
                  <a:srgbClr val="000000"/>
                </a:solidFill>
                <a:effectLst/>
                <a:latin typeface="-webkit-standard"/>
              </a:rPr>
              <a:t>Evidence Across the Network Environment</a:t>
            </a:r>
            <a:endParaRPr lang="en-US" dirty="0"/>
          </a:p>
        </p:txBody>
      </p:sp>
      <p:sp>
        <p:nvSpPr>
          <p:cNvPr id="3" name="Content Placeholder 2">
            <a:extLst>
              <a:ext uri="{FF2B5EF4-FFF2-40B4-BE49-F238E27FC236}">
                <a16:creationId xmlns:a16="http://schemas.microsoft.com/office/drawing/2014/main" id="{A5072031-5F3A-6D15-47D5-0CE2BD2427C0}"/>
              </a:ext>
            </a:extLst>
          </p:cNvPr>
          <p:cNvSpPr>
            <a:spLocks noGrp="1"/>
          </p:cNvSpPr>
          <p:nvPr>
            <p:ph idx="1"/>
          </p:nvPr>
        </p:nvSpPr>
        <p:spPr>
          <a:xfrm>
            <a:off x="1206500" y="5507664"/>
            <a:ext cx="21971000" cy="7732847"/>
          </a:xfrm>
        </p:spPr>
        <p:txBody>
          <a:bodyPr/>
          <a:lstStyle/>
          <a:p>
            <a:r>
              <a:rPr lang="en-ID" b="0" i="0" u="none" strike="noStrike" dirty="0">
                <a:solidFill>
                  <a:srgbClr val="000000"/>
                </a:solidFill>
                <a:effectLst/>
              </a:rPr>
              <a:t>Each component = possible crime scene:</a:t>
            </a:r>
          </a:p>
          <a:p>
            <a:r>
              <a:rPr lang="en-ID" b="0" i="0" u="none" strike="noStrike" dirty="0">
                <a:solidFill>
                  <a:srgbClr val="000000"/>
                </a:solidFill>
                <a:effectLst/>
              </a:rPr>
              <a:t>Client → browser history, DNS cache</a:t>
            </a:r>
          </a:p>
          <a:p>
            <a:r>
              <a:rPr lang="en-ID" b="0" i="0" u="none" strike="noStrike" dirty="0">
                <a:solidFill>
                  <a:srgbClr val="000000"/>
                </a:solidFill>
                <a:effectLst/>
              </a:rPr>
              <a:t>Switch → MAC table entries</a:t>
            </a:r>
          </a:p>
          <a:p>
            <a:r>
              <a:rPr lang="en-ID" b="0" i="0" u="none" strike="noStrike" dirty="0">
                <a:solidFill>
                  <a:srgbClr val="000000"/>
                </a:solidFill>
                <a:effectLst/>
              </a:rPr>
              <a:t>Router → NetFlow, routing info</a:t>
            </a:r>
          </a:p>
          <a:p>
            <a:r>
              <a:rPr lang="en-ID" b="0" i="0" u="none" strike="noStrike" dirty="0">
                <a:solidFill>
                  <a:srgbClr val="000000"/>
                </a:solidFill>
                <a:effectLst/>
              </a:rPr>
              <a:t>Firewall → connection attempts, blocked traffic</a:t>
            </a:r>
          </a:p>
          <a:p>
            <a:r>
              <a:rPr lang="en-ID" b="0" i="0" u="none" strike="noStrike" dirty="0">
                <a:solidFill>
                  <a:srgbClr val="000000"/>
                </a:solidFill>
                <a:effectLst/>
              </a:rPr>
              <a:t>IDS/IPS → alerts and logs</a:t>
            </a:r>
          </a:p>
          <a:p>
            <a:r>
              <a:rPr lang="en-ID" b="0" i="0" u="none" strike="noStrike" dirty="0">
                <a:solidFill>
                  <a:srgbClr val="000000"/>
                </a:solidFill>
                <a:effectLst/>
              </a:rPr>
              <a:t>Server → access/authentication logs</a:t>
            </a:r>
          </a:p>
        </p:txBody>
      </p:sp>
      <p:pic>
        <p:nvPicPr>
          <p:cNvPr id="4" name="Picture 3">
            <a:extLst>
              <a:ext uri="{FF2B5EF4-FFF2-40B4-BE49-F238E27FC236}">
                <a16:creationId xmlns:a16="http://schemas.microsoft.com/office/drawing/2014/main" id="{DDAEDF15-D275-6716-BA94-EFDA47327E5F}"/>
              </a:ext>
            </a:extLst>
          </p:cNvPr>
          <p:cNvPicPr>
            <a:picLocks noChangeAspect="1"/>
          </p:cNvPicPr>
          <p:nvPr/>
        </p:nvPicPr>
        <p:blipFill>
          <a:blip r:embed="rId3"/>
          <a:stretch>
            <a:fillRect/>
          </a:stretch>
        </p:blipFill>
        <p:spPr>
          <a:xfrm>
            <a:off x="4164340" y="2439473"/>
            <a:ext cx="16055320" cy="3128257"/>
          </a:xfrm>
          <a:prstGeom prst="rect">
            <a:avLst/>
          </a:prstGeom>
        </p:spPr>
      </p:pic>
    </p:spTree>
    <p:extLst>
      <p:ext uri="{BB962C8B-B14F-4D97-AF65-F5344CB8AC3E}">
        <p14:creationId xmlns:p14="http://schemas.microsoft.com/office/powerpoint/2010/main" val="258562118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E08F2-447D-F933-EC2E-44DC2DC264C1}"/>
              </a:ext>
            </a:extLst>
          </p:cNvPr>
          <p:cNvSpPr>
            <a:spLocks noGrp="1"/>
          </p:cNvSpPr>
          <p:nvPr>
            <p:ph type="title"/>
          </p:nvPr>
        </p:nvSpPr>
        <p:spPr/>
        <p:txBody>
          <a:bodyPr/>
          <a:lstStyle/>
          <a:p>
            <a:r>
              <a:rPr lang="en-ID" b="0" i="0" u="none" strike="noStrike" dirty="0">
                <a:solidFill>
                  <a:srgbClr val="000000"/>
                </a:solidFill>
                <a:effectLst/>
                <a:latin typeface="-webkit-standard"/>
              </a:rPr>
              <a:t>Volatile vs Non-Volatile Evidence</a:t>
            </a:r>
            <a:endParaRPr lang="en-US" dirty="0"/>
          </a:p>
        </p:txBody>
      </p:sp>
      <p:sp>
        <p:nvSpPr>
          <p:cNvPr id="3" name="Content Placeholder 2">
            <a:extLst>
              <a:ext uri="{FF2B5EF4-FFF2-40B4-BE49-F238E27FC236}">
                <a16:creationId xmlns:a16="http://schemas.microsoft.com/office/drawing/2014/main" id="{DA90C21A-847E-FC8C-C2F7-3AD97E283D81}"/>
              </a:ext>
            </a:extLst>
          </p:cNvPr>
          <p:cNvSpPr>
            <a:spLocks noGrp="1"/>
          </p:cNvSpPr>
          <p:nvPr>
            <p:ph idx="1"/>
          </p:nvPr>
        </p:nvSpPr>
        <p:spPr/>
        <p:txBody>
          <a:bodyPr/>
          <a:lstStyle/>
          <a:p>
            <a:r>
              <a:rPr lang="en-ID" b="1" i="0" u="none" strike="noStrike" dirty="0">
                <a:solidFill>
                  <a:srgbClr val="000000"/>
                </a:solidFill>
                <a:effectLst/>
              </a:rPr>
              <a:t>Volatile:</a:t>
            </a:r>
            <a:r>
              <a:rPr lang="en-ID" b="0" i="0" u="none" strike="noStrike" dirty="0">
                <a:solidFill>
                  <a:srgbClr val="000000"/>
                </a:solidFill>
                <a:effectLst/>
              </a:rPr>
              <a:t> disappears quickly (RAM data, active TCP sessions, live ARP tables)</a:t>
            </a:r>
          </a:p>
          <a:p>
            <a:r>
              <a:rPr lang="en-ID" b="1" i="0" u="none" strike="noStrike" dirty="0">
                <a:solidFill>
                  <a:srgbClr val="000000"/>
                </a:solidFill>
                <a:effectLst/>
              </a:rPr>
              <a:t>Non-Volatile:</a:t>
            </a:r>
            <a:r>
              <a:rPr lang="en-ID" b="0" i="0" u="none" strike="noStrike" dirty="0">
                <a:solidFill>
                  <a:srgbClr val="000000"/>
                </a:solidFill>
                <a:effectLst/>
              </a:rPr>
              <a:t> persists over time (logs, archived flows, disk images)</a:t>
            </a:r>
          </a:p>
          <a:p>
            <a:pPr marL="0" indent="0">
              <a:buNone/>
            </a:pPr>
            <a:endParaRPr lang="en-ID" b="1" i="0" u="none" strike="noStrike" dirty="0">
              <a:solidFill>
                <a:srgbClr val="000000"/>
              </a:solidFill>
              <a:effectLst/>
            </a:endParaRPr>
          </a:p>
          <a:p>
            <a:pPr marL="0" indent="0">
              <a:buNone/>
            </a:pPr>
            <a:r>
              <a:rPr lang="en-ID" b="1" i="0" u="none" strike="noStrike" dirty="0">
                <a:solidFill>
                  <a:srgbClr val="000000"/>
                </a:solidFill>
                <a:effectLst/>
              </a:rPr>
              <a:t>Key Rule:</a:t>
            </a:r>
            <a:r>
              <a:rPr lang="en-ID" b="0" i="0" u="none" strike="noStrike" dirty="0">
                <a:solidFill>
                  <a:srgbClr val="000000"/>
                </a:solidFill>
                <a:effectLst/>
              </a:rPr>
              <a:t> Collect volatile evidence first.</a:t>
            </a:r>
          </a:p>
        </p:txBody>
      </p:sp>
    </p:spTree>
    <p:extLst>
      <p:ext uri="{BB962C8B-B14F-4D97-AF65-F5344CB8AC3E}">
        <p14:creationId xmlns:p14="http://schemas.microsoft.com/office/powerpoint/2010/main" val="40038017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94E0A-D5B6-C4E2-9405-E530256D92F6}"/>
              </a:ext>
            </a:extLst>
          </p:cNvPr>
          <p:cNvSpPr>
            <a:spLocks noGrp="1"/>
          </p:cNvSpPr>
          <p:nvPr>
            <p:ph type="title"/>
          </p:nvPr>
        </p:nvSpPr>
        <p:spPr/>
        <p:txBody>
          <a:bodyPr/>
          <a:lstStyle/>
          <a:p>
            <a:r>
              <a:rPr lang="en-ID" b="0" i="0" u="none" strike="noStrike" dirty="0">
                <a:solidFill>
                  <a:srgbClr val="000000"/>
                </a:solidFill>
                <a:effectLst/>
                <a:latin typeface="-webkit-standard"/>
              </a:rPr>
              <a:t>Chain of Custody</a:t>
            </a:r>
            <a:endParaRPr lang="en-US" dirty="0"/>
          </a:p>
        </p:txBody>
      </p:sp>
      <p:sp>
        <p:nvSpPr>
          <p:cNvPr id="3" name="Content Placeholder 2">
            <a:extLst>
              <a:ext uri="{FF2B5EF4-FFF2-40B4-BE49-F238E27FC236}">
                <a16:creationId xmlns:a16="http://schemas.microsoft.com/office/drawing/2014/main" id="{3A8EB732-D286-D0AA-2647-5CCD40A360AA}"/>
              </a:ext>
            </a:extLst>
          </p:cNvPr>
          <p:cNvSpPr>
            <a:spLocks noGrp="1"/>
          </p:cNvSpPr>
          <p:nvPr>
            <p:ph idx="1"/>
          </p:nvPr>
        </p:nvSpPr>
        <p:spPr/>
        <p:txBody>
          <a:bodyPr/>
          <a:lstStyle/>
          <a:p>
            <a:pPr algn="l">
              <a:buFont typeface="Arial" panose="020B0604020202020204" pitchFamily="34" charset="0"/>
              <a:buChar char="•"/>
            </a:pPr>
            <a:r>
              <a:rPr lang="en-ID" b="0" i="0" u="none" strike="noStrike" dirty="0">
                <a:solidFill>
                  <a:srgbClr val="000000"/>
                </a:solidFill>
                <a:effectLst/>
              </a:rPr>
              <a:t>Document: </a:t>
            </a:r>
            <a:r>
              <a:rPr lang="en-ID" b="1" i="0" u="none" strike="noStrike" dirty="0">
                <a:solidFill>
                  <a:srgbClr val="000000"/>
                </a:solidFill>
                <a:effectLst/>
              </a:rPr>
              <a:t>who, when, where, how</a:t>
            </a:r>
            <a:r>
              <a:rPr lang="en-ID" b="0" i="0" u="none" strike="noStrike" dirty="0">
                <a:solidFill>
                  <a:srgbClr val="000000"/>
                </a:solidFill>
                <a:effectLst/>
              </a:rPr>
              <a:t> evidence was collected</a:t>
            </a:r>
          </a:p>
          <a:p>
            <a:pPr algn="l">
              <a:buFont typeface="Arial" panose="020B0604020202020204" pitchFamily="34" charset="0"/>
              <a:buChar char="•"/>
            </a:pPr>
            <a:r>
              <a:rPr lang="en-ID" b="0" i="0" u="none" strike="noStrike" dirty="0">
                <a:solidFill>
                  <a:srgbClr val="000000"/>
                </a:solidFill>
                <a:effectLst/>
              </a:rPr>
              <a:t>Prevents tampering claims</a:t>
            </a:r>
          </a:p>
          <a:p>
            <a:pPr algn="l">
              <a:buFont typeface="Arial" panose="020B0604020202020204" pitchFamily="34" charset="0"/>
              <a:buChar char="•"/>
            </a:pPr>
            <a:r>
              <a:rPr lang="en-ID" b="0" i="0" u="none" strike="noStrike" dirty="0">
                <a:solidFill>
                  <a:srgbClr val="000000"/>
                </a:solidFill>
                <a:effectLst/>
              </a:rPr>
              <a:t>Ensures admissibility in court</a:t>
            </a:r>
          </a:p>
          <a:p>
            <a:pPr marL="0" indent="0" algn="l">
              <a:buNone/>
            </a:pPr>
            <a:r>
              <a:rPr lang="en-ID" b="1" i="0" u="none" strike="noStrike" dirty="0">
                <a:solidFill>
                  <a:srgbClr val="000000"/>
                </a:solidFill>
                <a:effectLst/>
              </a:rPr>
              <a:t>Example:</a:t>
            </a:r>
            <a:r>
              <a:rPr lang="en-ID" b="0" i="0" u="none" strike="noStrike" dirty="0">
                <a:solidFill>
                  <a:srgbClr val="000000"/>
                </a:solidFill>
                <a:effectLst/>
              </a:rPr>
              <a:t> Investigator signs the evidence log when handing the </a:t>
            </a:r>
            <a:r>
              <a:rPr lang="en-ID" b="0" i="0" u="none" strike="noStrike" dirty="0" err="1">
                <a:solidFill>
                  <a:srgbClr val="000000"/>
                </a:solidFill>
                <a:effectLst/>
              </a:rPr>
              <a:t>pcap</a:t>
            </a:r>
            <a:r>
              <a:rPr lang="en-ID" b="0" i="0" u="none" strike="noStrike" dirty="0">
                <a:solidFill>
                  <a:srgbClr val="000000"/>
                </a:solidFill>
                <a:effectLst/>
              </a:rPr>
              <a:t> to a colleague.</a:t>
            </a:r>
          </a:p>
          <a:p>
            <a:endParaRPr lang="en-US" dirty="0"/>
          </a:p>
        </p:txBody>
      </p:sp>
    </p:spTree>
    <p:extLst>
      <p:ext uri="{BB962C8B-B14F-4D97-AF65-F5344CB8AC3E}">
        <p14:creationId xmlns:p14="http://schemas.microsoft.com/office/powerpoint/2010/main" val="1200281139"/>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4746-3A79-4F54-BFA2-46848CD3C9D9}"/>
              </a:ext>
            </a:extLst>
          </p:cNvPr>
          <p:cNvSpPr>
            <a:spLocks noGrp="1"/>
          </p:cNvSpPr>
          <p:nvPr>
            <p:ph type="title"/>
          </p:nvPr>
        </p:nvSpPr>
        <p:spPr/>
        <p:txBody>
          <a:bodyPr/>
          <a:lstStyle/>
          <a:p>
            <a:r>
              <a:rPr lang="en-ID" b="0" i="0" u="none" strike="noStrike" dirty="0">
                <a:solidFill>
                  <a:srgbClr val="000000"/>
                </a:solidFill>
                <a:effectLst/>
                <a:latin typeface="-webkit-standard"/>
              </a:rPr>
              <a:t>Evidence Integrity</a:t>
            </a:r>
            <a:endParaRPr lang="en-US" dirty="0"/>
          </a:p>
        </p:txBody>
      </p:sp>
      <p:sp>
        <p:nvSpPr>
          <p:cNvPr id="3" name="Content Placeholder 2">
            <a:extLst>
              <a:ext uri="{FF2B5EF4-FFF2-40B4-BE49-F238E27FC236}">
                <a16:creationId xmlns:a16="http://schemas.microsoft.com/office/drawing/2014/main" id="{964A738F-B2BF-6F35-30EB-880EB1C44AE2}"/>
              </a:ext>
            </a:extLst>
          </p:cNvPr>
          <p:cNvSpPr>
            <a:spLocks noGrp="1"/>
          </p:cNvSpPr>
          <p:nvPr>
            <p:ph idx="1"/>
          </p:nvPr>
        </p:nvSpPr>
        <p:spPr/>
        <p:txBody>
          <a:bodyPr/>
          <a:lstStyle/>
          <a:p>
            <a:r>
              <a:rPr lang="en-ID" b="0" i="0" u="none" strike="noStrike" dirty="0">
                <a:solidFill>
                  <a:srgbClr val="000000"/>
                </a:solidFill>
                <a:effectLst/>
              </a:rPr>
              <a:t>Use </a:t>
            </a:r>
            <a:r>
              <a:rPr lang="en-ID" b="1" i="0" u="none" strike="noStrike" dirty="0">
                <a:solidFill>
                  <a:srgbClr val="000000"/>
                </a:solidFill>
                <a:effectLst/>
              </a:rPr>
              <a:t>hashing</a:t>
            </a:r>
            <a:r>
              <a:rPr lang="en-ID" b="0" i="0" u="none" strike="noStrike" dirty="0">
                <a:solidFill>
                  <a:srgbClr val="000000"/>
                </a:solidFill>
                <a:effectLst/>
              </a:rPr>
              <a:t> (MD5, SHA-256) to prove data unchanged</a:t>
            </a:r>
          </a:p>
          <a:p>
            <a:r>
              <a:rPr lang="en-ID" b="0" i="0" u="none" strike="noStrike" dirty="0">
                <a:solidFill>
                  <a:srgbClr val="000000"/>
                </a:solidFill>
                <a:effectLst/>
              </a:rPr>
              <a:t>Hash before and after transfer/storage</a:t>
            </a:r>
          </a:p>
          <a:p>
            <a:r>
              <a:rPr lang="en-ID" b="0" i="0" u="none" strike="noStrike" dirty="0">
                <a:solidFill>
                  <a:srgbClr val="000000"/>
                </a:solidFill>
                <a:effectLst/>
              </a:rPr>
              <a:t>If hashes differ → evidence compromised</a:t>
            </a:r>
          </a:p>
          <a:p>
            <a:r>
              <a:rPr lang="en-ID" b="1" i="0" u="none" strike="noStrike" dirty="0">
                <a:solidFill>
                  <a:srgbClr val="000000"/>
                </a:solidFill>
                <a:effectLst/>
              </a:rPr>
              <a:t>Case:</a:t>
            </a:r>
            <a:r>
              <a:rPr lang="en-ID" b="0" i="0" u="none" strike="noStrike" dirty="0">
                <a:solidFill>
                  <a:srgbClr val="000000"/>
                </a:solidFill>
                <a:effectLst/>
              </a:rPr>
              <a:t> Court rejected log file because no hash was provided → integrity unverified.</a:t>
            </a:r>
          </a:p>
        </p:txBody>
      </p:sp>
    </p:spTree>
    <p:extLst>
      <p:ext uri="{BB962C8B-B14F-4D97-AF65-F5344CB8AC3E}">
        <p14:creationId xmlns:p14="http://schemas.microsoft.com/office/powerpoint/2010/main" val="139566148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0603B-15FF-AB5A-D7F5-0304F12F7370}"/>
              </a:ext>
            </a:extLst>
          </p:cNvPr>
          <p:cNvSpPr>
            <a:spLocks noGrp="1"/>
          </p:cNvSpPr>
          <p:nvPr>
            <p:ph type="title"/>
          </p:nvPr>
        </p:nvSpPr>
        <p:spPr/>
        <p:txBody>
          <a:bodyPr>
            <a:normAutofit/>
          </a:bodyPr>
          <a:lstStyle/>
          <a:p>
            <a:r>
              <a:rPr lang="en-ID" i="0" u="none" strike="noStrike" dirty="0">
                <a:solidFill>
                  <a:srgbClr val="000000"/>
                </a:solidFill>
                <a:effectLst/>
              </a:rPr>
              <a:t>Case: LinkedIn Data Breach (2021, Global)</a:t>
            </a:r>
            <a:endParaRPr lang="en-US" dirty="0"/>
          </a:p>
        </p:txBody>
      </p:sp>
      <p:sp>
        <p:nvSpPr>
          <p:cNvPr id="3" name="Content Placeholder 2">
            <a:extLst>
              <a:ext uri="{FF2B5EF4-FFF2-40B4-BE49-F238E27FC236}">
                <a16:creationId xmlns:a16="http://schemas.microsoft.com/office/drawing/2014/main" id="{1F847225-451C-20CA-EC62-A02E1118DC35}"/>
              </a:ext>
            </a:extLst>
          </p:cNvPr>
          <p:cNvSpPr>
            <a:spLocks noGrp="1"/>
          </p:cNvSpPr>
          <p:nvPr>
            <p:ph idx="1"/>
          </p:nvPr>
        </p:nvSpPr>
        <p:spPr/>
        <p:txBody>
          <a:bodyPr/>
          <a:lstStyle/>
          <a:p>
            <a:pPr marL="0" indent="0">
              <a:buNone/>
            </a:pPr>
            <a:r>
              <a:rPr lang="en-ID" b="1" dirty="0"/>
              <a:t>Evidence Sources Used:</a:t>
            </a:r>
            <a:endParaRPr lang="en-ID" dirty="0"/>
          </a:p>
          <a:p>
            <a:r>
              <a:rPr lang="en-ID" dirty="0"/>
              <a:t>Web server logs → automated scraping activity</a:t>
            </a:r>
          </a:p>
          <a:p>
            <a:r>
              <a:rPr lang="en-ID" dirty="0"/>
              <a:t>Firewall logs → high-volume queries from the same IPs</a:t>
            </a:r>
          </a:p>
          <a:p>
            <a:r>
              <a:rPr lang="en-ID" dirty="0"/>
              <a:t>IDS alerts → detected scraping patterns but deprioritized</a:t>
            </a:r>
          </a:p>
          <a:p>
            <a:pPr marL="0" indent="0">
              <a:buNone/>
            </a:pPr>
            <a:r>
              <a:rPr lang="en-ID" b="1" dirty="0"/>
              <a:t>Result:</a:t>
            </a:r>
            <a:endParaRPr lang="en-ID" dirty="0"/>
          </a:p>
          <a:p>
            <a:r>
              <a:rPr lang="en-ID" dirty="0"/>
              <a:t>700M user profiles scraped and sold online</a:t>
            </a:r>
          </a:p>
          <a:p>
            <a:r>
              <a:rPr lang="en-ID" dirty="0"/>
              <a:t>Raised debate on data scraping legality vs hacking</a:t>
            </a:r>
          </a:p>
        </p:txBody>
      </p:sp>
    </p:spTree>
    <p:extLst>
      <p:ext uri="{BB962C8B-B14F-4D97-AF65-F5344CB8AC3E}">
        <p14:creationId xmlns:p14="http://schemas.microsoft.com/office/powerpoint/2010/main" val="194648657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5B2E6-5FAF-96E0-E67E-ABB8C06F9521}"/>
              </a:ext>
            </a:extLst>
          </p:cNvPr>
          <p:cNvSpPr>
            <a:spLocks noGrp="1"/>
          </p:cNvSpPr>
          <p:nvPr>
            <p:ph type="title"/>
          </p:nvPr>
        </p:nvSpPr>
        <p:spPr/>
        <p:txBody>
          <a:bodyPr>
            <a:normAutofit fontScale="90000"/>
          </a:bodyPr>
          <a:lstStyle/>
          <a:p>
            <a:r>
              <a:rPr lang="en-ID" i="0" u="none" strike="noStrike" dirty="0">
                <a:solidFill>
                  <a:srgbClr val="000000"/>
                </a:solidFill>
                <a:effectLst/>
              </a:rPr>
              <a:t>Case: Indonesian COVID-19 Contact Tracing App Leak (2021)</a:t>
            </a:r>
            <a:endParaRPr lang="en-US" dirty="0"/>
          </a:p>
        </p:txBody>
      </p:sp>
      <p:sp>
        <p:nvSpPr>
          <p:cNvPr id="3" name="Content Placeholder 2">
            <a:extLst>
              <a:ext uri="{FF2B5EF4-FFF2-40B4-BE49-F238E27FC236}">
                <a16:creationId xmlns:a16="http://schemas.microsoft.com/office/drawing/2014/main" id="{8656CA5D-2AE2-07FE-2099-9A84B4AA980F}"/>
              </a:ext>
            </a:extLst>
          </p:cNvPr>
          <p:cNvSpPr>
            <a:spLocks noGrp="1"/>
          </p:cNvSpPr>
          <p:nvPr>
            <p:ph idx="1"/>
          </p:nvPr>
        </p:nvSpPr>
        <p:spPr/>
        <p:txBody>
          <a:bodyPr/>
          <a:lstStyle/>
          <a:p>
            <a:pPr marL="0" indent="0">
              <a:buNone/>
            </a:pPr>
            <a:r>
              <a:rPr lang="en-ID" b="1" dirty="0"/>
              <a:t>Evidence Sources Used:</a:t>
            </a:r>
            <a:endParaRPr lang="en-ID" dirty="0"/>
          </a:p>
          <a:p>
            <a:r>
              <a:rPr lang="en-ID" dirty="0"/>
              <a:t>Application logs → unauthorized API calls</a:t>
            </a:r>
          </a:p>
          <a:p>
            <a:r>
              <a:rPr lang="en-ID" dirty="0"/>
              <a:t>Server logs → bulk queries from external IP ranges</a:t>
            </a:r>
          </a:p>
          <a:p>
            <a:pPr marL="0" indent="0">
              <a:buNone/>
            </a:pPr>
            <a:r>
              <a:rPr lang="en-ID" b="1" dirty="0"/>
              <a:t>Result:</a:t>
            </a:r>
            <a:endParaRPr lang="en-ID" dirty="0"/>
          </a:p>
          <a:p>
            <a:r>
              <a:rPr lang="en-ID" dirty="0"/>
              <a:t>Millions of vaccination records leaked</a:t>
            </a:r>
          </a:p>
          <a:p>
            <a:r>
              <a:rPr lang="en-ID" dirty="0"/>
              <a:t>Public trust in e-health systems is damaged</a:t>
            </a:r>
          </a:p>
        </p:txBody>
      </p:sp>
    </p:spTree>
    <p:extLst>
      <p:ext uri="{BB962C8B-B14F-4D97-AF65-F5344CB8AC3E}">
        <p14:creationId xmlns:p14="http://schemas.microsoft.com/office/powerpoint/2010/main" val="289249578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EC02-6332-5EB3-3E90-56F9408D50B4}"/>
              </a:ext>
            </a:extLst>
          </p:cNvPr>
          <p:cNvSpPr>
            <a:spLocks noGrp="1"/>
          </p:cNvSpPr>
          <p:nvPr>
            <p:ph type="title"/>
          </p:nvPr>
        </p:nvSpPr>
        <p:spPr/>
        <p:txBody>
          <a:bodyPr/>
          <a:lstStyle/>
          <a:p>
            <a:r>
              <a:rPr lang="en-ID" b="0" i="0" u="none" strike="noStrike" dirty="0">
                <a:solidFill>
                  <a:srgbClr val="000000"/>
                </a:solidFill>
                <a:effectLst/>
                <a:latin typeface="-webkit-standard"/>
              </a:rPr>
              <a:t>Correlation of Evidence</a:t>
            </a:r>
            <a:endParaRPr lang="en-US" dirty="0"/>
          </a:p>
        </p:txBody>
      </p:sp>
      <p:sp>
        <p:nvSpPr>
          <p:cNvPr id="3" name="Content Placeholder 2">
            <a:extLst>
              <a:ext uri="{FF2B5EF4-FFF2-40B4-BE49-F238E27FC236}">
                <a16:creationId xmlns:a16="http://schemas.microsoft.com/office/drawing/2014/main" id="{08AF4CC8-6D21-1F40-B402-8AD5BC582479}"/>
              </a:ext>
            </a:extLst>
          </p:cNvPr>
          <p:cNvSpPr>
            <a:spLocks noGrp="1"/>
          </p:cNvSpPr>
          <p:nvPr>
            <p:ph idx="1"/>
          </p:nvPr>
        </p:nvSpPr>
        <p:spPr/>
        <p:txBody>
          <a:bodyPr/>
          <a:lstStyle/>
          <a:p>
            <a:r>
              <a:rPr lang="en-ID" b="0" i="0" u="none" strike="noStrike" dirty="0">
                <a:solidFill>
                  <a:srgbClr val="000000"/>
                </a:solidFill>
                <a:effectLst/>
              </a:rPr>
              <a:t>A single source is rarely enough</a:t>
            </a:r>
          </a:p>
          <a:p>
            <a:r>
              <a:rPr lang="en-ID" b="0" i="0" u="none" strike="noStrike" dirty="0">
                <a:solidFill>
                  <a:srgbClr val="000000"/>
                </a:solidFill>
                <a:effectLst/>
              </a:rPr>
              <a:t>Cross-check logs, PCAPs, IDS alerts, and system logs</a:t>
            </a:r>
          </a:p>
          <a:p>
            <a:r>
              <a:rPr lang="en-ID" b="0" i="0" u="none" strike="noStrike" dirty="0">
                <a:solidFill>
                  <a:srgbClr val="000000"/>
                </a:solidFill>
                <a:effectLst/>
              </a:rPr>
              <a:t>Provides </a:t>
            </a:r>
            <a:r>
              <a:rPr lang="en-ID" b="1" i="0" u="none" strike="noStrike" dirty="0">
                <a:solidFill>
                  <a:srgbClr val="000000"/>
                </a:solidFill>
                <a:effectLst/>
              </a:rPr>
              <a:t>a timeline</a:t>
            </a:r>
            <a:r>
              <a:rPr lang="en-ID" b="0" i="0" u="none" strike="noStrike" dirty="0">
                <a:solidFill>
                  <a:srgbClr val="000000"/>
                </a:solidFill>
                <a:effectLst/>
              </a:rPr>
              <a:t> and </a:t>
            </a:r>
            <a:r>
              <a:rPr lang="en-ID" b="1" i="0" u="none" strike="noStrike" dirty="0">
                <a:solidFill>
                  <a:srgbClr val="000000"/>
                </a:solidFill>
                <a:effectLst/>
              </a:rPr>
              <a:t>attack chain</a:t>
            </a:r>
            <a:endParaRPr lang="en-ID" b="0" i="0" u="none" strike="noStrike" dirty="0">
              <a:solidFill>
                <a:srgbClr val="000000"/>
              </a:solidFill>
              <a:effectLst/>
            </a:endParaRPr>
          </a:p>
          <a:p>
            <a:pPr marL="0" indent="0">
              <a:buNone/>
            </a:pPr>
            <a:r>
              <a:rPr lang="en-ID" b="1" i="0" u="none" strike="noStrike" dirty="0">
                <a:solidFill>
                  <a:srgbClr val="000000"/>
                </a:solidFill>
                <a:effectLst/>
              </a:rPr>
              <a:t>Example: DDoS Attack</a:t>
            </a:r>
            <a:endParaRPr lang="en-ID" b="0" i="0" u="none" strike="noStrike" dirty="0">
              <a:solidFill>
                <a:srgbClr val="000000"/>
              </a:solidFill>
              <a:effectLst/>
            </a:endParaRPr>
          </a:p>
          <a:p>
            <a:r>
              <a:rPr lang="en-ID" b="0" i="0" u="none" strike="noStrike" dirty="0">
                <a:solidFill>
                  <a:srgbClr val="000000"/>
                </a:solidFill>
                <a:effectLst/>
              </a:rPr>
              <a:t>Firewall → sudden traffic spike</a:t>
            </a:r>
          </a:p>
          <a:p>
            <a:r>
              <a:rPr lang="en-ID" b="0" i="0" u="none" strike="noStrike" dirty="0">
                <a:solidFill>
                  <a:srgbClr val="000000"/>
                </a:solidFill>
                <a:effectLst/>
              </a:rPr>
              <a:t>Router → confirmed source IP ranges</a:t>
            </a:r>
          </a:p>
          <a:p>
            <a:r>
              <a:rPr lang="en-ID" b="0" i="0" u="none" strike="noStrike" dirty="0">
                <a:solidFill>
                  <a:srgbClr val="000000"/>
                </a:solidFill>
                <a:effectLst/>
              </a:rPr>
              <a:t>IDS → matched known DDoS patterns</a:t>
            </a:r>
          </a:p>
          <a:p>
            <a:endParaRPr lang="en-US" dirty="0"/>
          </a:p>
        </p:txBody>
      </p:sp>
    </p:spTree>
    <p:extLst>
      <p:ext uri="{BB962C8B-B14F-4D97-AF65-F5344CB8AC3E}">
        <p14:creationId xmlns:p14="http://schemas.microsoft.com/office/powerpoint/2010/main" val="34612119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6212F-BA2E-AA7E-A56D-5BAC10BB5179}"/>
              </a:ext>
            </a:extLst>
          </p:cNvPr>
          <p:cNvSpPr>
            <a:spLocks noGrp="1"/>
          </p:cNvSpPr>
          <p:nvPr>
            <p:ph type="title"/>
          </p:nvPr>
        </p:nvSpPr>
        <p:spPr/>
        <p:txBody>
          <a:bodyPr/>
          <a:lstStyle/>
          <a:p>
            <a:r>
              <a:rPr lang="en-ID" b="0" i="0" u="none" strike="noStrike" dirty="0">
                <a:solidFill>
                  <a:srgbClr val="000000"/>
                </a:solidFill>
                <a:effectLst/>
                <a:latin typeface="-webkit-standard"/>
              </a:rPr>
              <a:t>Best Practices in Evidence Handling</a:t>
            </a:r>
            <a:endParaRPr lang="en-US" dirty="0"/>
          </a:p>
        </p:txBody>
      </p:sp>
      <p:sp>
        <p:nvSpPr>
          <p:cNvPr id="3" name="Content Placeholder 2">
            <a:extLst>
              <a:ext uri="{FF2B5EF4-FFF2-40B4-BE49-F238E27FC236}">
                <a16:creationId xmlns:a16="http://schemas.microsoft.com/office/drawing/2014/main" id="{EB28B379-4A32-2FE7-18BC-9D2B687D43CC}"/>
              </a:ext>
            </a:extLst>
          </p:cNvPr>
          <p:cNvSpPr>
            <a:spLocks noGrp="1"/>
          </p:cNvSpPr>
          <p:nvPr>
            <p:ph idx="1"/>
          </p:nvPr>
        </p:nvSpPr>
        <p:spPr/>
        <p:txBody>
          <a:bodyPr/>
          <a:lstStyle/>
          <a:p>
            <a:r>
              <a:rPr lang="en-ID" dirty="0"/>
              <a:t>Prioritize volatile evidence</a:t>
            </a:r>
          </a:p>
          <a:p>
            <a:r>
              <a:rPr lang="en-ID" dirty="0"/>
              <a:t>Always hash and timestamp data</a:t>
            </a:r>
          </a:p>
          <a:p>
            <a:r>
              <a:rPr lang="en-ID" dirty="0"/>
              <a:t>Store securely (encrypted, access controlled)</a:t>
            </a:r>
          </a:p>
          <a:p>
            <a:r>
              <a:rPr lang="en-ID" dirty="0"/>
              <a:t>Document every step clearly</a:t>
            </a:r>
          </a:p>
          <a:p>
            <a:endParaRPr lang="en-US" dirty="0"/>
          </a:p>
        </p:txBody>
      </p:sp>
    </p:spTree>
    <p:extLst>
      <p:ext uri="{BB962C8B-B14F-4D97-AF65-F5344CB8AC3E}">
        <p14:creationId xmlns:p14="http://schemas.microsoft.com/office/powerpoint/2010/main" val="146159798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88E67-3D15-2501-A779-46D69898A78B}"/>
              </a:ext>
            </a:extLst>
          </p:cNvPr>
          <p:cNvSpPr>
            <a:spLocks noGrp="1"/>
          </p:cNvSpPr>
          <p:nvPr>
            <p:ph type="title"/>
          </p:nvPr>
        </p:nvSpPr>
        <p:spPr/>
        <p:txBody>
          <a:bodyPr>
            <a:normAutofit fontScale="90000"/>
          </a:bodyPr>
          <a:lstStyle/>
          <a:p>
            <a:r>
              <a:rPr lang="en-ID" dirty="0"/>
              <a:t>Big Discussion: Investigating a Ransomware Case</a:t>
            </a:r>
            <a:endParaRPr lang="en-US" dirty="0"/>
          </a:p>
        </p:txBody>
      </p:sp>
      <p:sp>
        <p:nvSpPr>
          <p:cNvPr id="3" name="Content Placeholder 2">
            <a:extLst>
              <a:ext uri="{FF2B5EF4-FFF2-40B4-BE49-F238E27FC236}">
                <a16:creationId xmlns:a16="http://schemas.microsoft.com/office/drawing/2014/main" id="{A30B279D-E1A3-B286-0C48-DFF45DF10B92}"/>
              </a:ext>
            </a:extLst>
          </p:cNvPr>
          <p:cNvSpPr>
            <a:spLocks noGrp="1"/>
          </p:cNvSpPr>
          <p:nvPr>
            <p:ph idx="1"/>
          </p:nvPr>
        </p:nvSpPr>
        <p:spPr>
          <a:xfrm>
            <a:off x="1206500" y="6858000"/>
            <a:ext cx="21971000" cy="6382512"/>
          </a:xfrm>
        </p:spPr>
        <p:txBody>
          <a:bodyPr>
            <a:normAutofit/>
          </a:bodyPr>
          <a:lstStyle/>
          <a:p>
            <a:pPr marL="0" indent="0">
              <a:buNone/>
            </a:pPr>
            <a:endParaRPr lang="en-ID" b="0" i="1" u="none" strike="noStrike" dirty="0">
              <a:solidFill>
                <a:srgbClr val="000000"/>
              </a:solidFill>
              <a:effectLst/>
            </a:endParaRPr>
          </a:p>
          <a:p>
            <a:pPr marL="0" indent="0">
              <a:buNone/>
            </a:pPr>
            <a:endParaRPr lang="en-ID" i="1" dirty="0"/>
          </a:p>
          <a:p>
            <a:pPr marL="0" indent="0" algn="ctr">
              <a:buNone/>
            </a:pPr>
            <a:r>
              <a:rPr lang="en-ID" b="1" u="none" strike="noStrike" dirty="0">
                <a:solidFill>
                  <a:srgbClr val="0070C0"/>
                </a:solidFill>
                <a:effectLst/>
              </a:rPr>
              <a:t>If you were the investigator in a ransomware case, which evidence sources would you prioritize and why?</a:t>
            </a:r>
          </a:p>
        </p:txBody>
      </p:sp>
      <p:pic>
        <p:nvPicPr>
          <p:cNvPr id="4" name="Picture 3">
            <a:extLst>
              <a:ext uri="{FF2B5EF4-FFF2-40B4-BE49-F238E27FC236}">
                <a16:creationId xmlns:a16="http://schemas.microsoft.com/office/drawing/2014/main" id="{4B6A307F-96CA-E444-ECD1-A1F2D86A99C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20938" y="5052374"/>
            <a:ext cx="14342124" cy="2794454"/>
          </a:xfrm>
          <a:prstGeom prst="rect">
            <a:avLst/>
          </a:prstGeom>
        </p:spPr>
      </p:pic>
    </p:spTree>
    <p:extLst>
      <p:ext uri="{BB962C8B-B14F-4D97-AF65-F5344CB8AC3E}">
        <p14:creationId xmlns:p14="http://schemas.microsoft.com/office/powerpoint/2010/main" val="204056263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56B79-596D-BDF0-9ECA-02DB0825B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4C6624-4D45-56DE-D201-0188AE4A3F32}"/>
              </a:ext>
            </a:extLst>
          </p:cNvPr>
          <p:cNvSpPr>
            <a:spLocks noGrp="1"/>
          </p:cNvSpPr>
          <p:nvPr>
            <p:ph type="title"/>
          </p:nvPr>
        </p:nvSpPr>
        <p:spPr/>
        <p:txBody>
          <a:bodyPr>
            <a:normAutofit fontScale="90000"/>
          </a:bodyPr>
          <a:lstStyle/>
          <a:p>
            <a:r>
              <a:rPr lang="en-ID" dirty="0"/>
              <a:t>Big Discussion: Investigating a Ransomware Case</a:t>
            </a:r>
            <a:endParaRPr lang="en-US" dirty="0"/>
          </a:p>
        </p:txBody>
      </p:sp>
      <p:sp>
        <p:nvSpPr>
          <p:cNvPr id="3" name="Content Placeholder 2">
            <a:extLst>
              <a:ext uri="{FF2B5EF4-FFF2-40B4-BE49-F238E27FC236}">
                <a16:creationId xmlns:a16="http://schemas.microsoft.com/office/drawing/2014/main" id="{5FF26BDC-77DB-2296-629F-A8164E3A795C}"/>
              </a:ext>
            </a:extLst>
          </p:cNvPr>
          <p:cNvSpPr>
            <a:spLocks noGrp="1"/>
          </p:cNvSpPr>
          <p:nvPr>
            <p:ph idx="1"/>
          </p:nvPr>
        </p:nvSpPr>
        <p:spPr/>
        <p:txBody>
          <a:bodyPr>
            <a:normAutofit lnSpcReduction="10000"/>
          </a:bodyPr>
          <a:lstStyle/>
          <a:p>
            <a:r>
              <a:rPr lang="en-ID" b="0" i="0" u="none" strike="noStrike" dirty="0">
                <a:solidFill>
                  <a:srgbClr val="000000"/>
                </a:solidFill>
                <a:effectLst/>
              </a:rPr>
              <a:t>Firewalls (entry point)</a:t>
            </a:r>
          </a:p>
          <a:p>
            <a:r>
              <a:rPr lang="en-ID" b="0" i="0" u="none" strike="noStrike" dirty="0">
                <a:solidFill>
                  <a:srgbClr val="000000"/>
                </a:solidFill>
                <a:effectLst/>
              </a:rPr>
              <a:t>Email server logs (phishing vector)</a:t>
            </a:r>
          </a:p>
          <a:p>
            <a:r>
              <a:rPr lang="en-ID" b="0" i="0" u="none" strike="noStrike" dirty="0">
                <a:solidFill>
                  <a:srgbClr val="000000"/>
                </a:solidFill>
                <a:effectLst/>
              </a:rPr>
              <a:t>Workstation logs (infection traces)</a:t>
            </a:r>
          </a:p>
          <a:p>
            <a:r>
              <a:rPr lang="en-ID" b="0" i="0" u="none" strike="noStrike" dirty="0">
                <a:solidFill>
                  <a:srgbClr val="000000"/>
                </a:solidFill>
                <a:effectLst/>
              </a:rPr>
              <a:t>IDS alerts (malware communication)</a:t>
            </a:r>
          </a:p>
          <a:p>
            <a:r>
              <a:rPr lang="en-ID" b="0" i="0" u="none" strike="noStrike" dirty="0">
                <a:solidFill>
                  <a:srgbClr val="000000"/>
                </a:solidFill>
                <a:effectLst/>
              </a:rPr>
              <a:t>NetFlow (C2 communication at odd hours)</a:t>
            </a:r>
          </a:p>
          <a:p>
            <a:pPr marL="0" indent="0">
              <a:buNone/>
            </a:pPr>
            <a:r>
              <a:rPr lang="en-ID" b="1" i="0" u="none" strike="noStrike" dirty="0">
                <a:solidFill>
                  <a:srgbClr val="000000"/>
                </a:solidFill>
                <a:effectLst/>
              </a:rPr>
              <a:t>Sample Answer:</a:t>
            </a:r>
            <a:endParaRPr lang="en-ID" b="0" i="0" u="none" strike="noStrike" dirty="0">
              <a:solidFill>
                <a:srgbClr val="000000"/>
              </a:solidFill>
              <a:effectLst/>
            </a:endParaRPr>
          </a:p>
          <a:p>
            <a:r>
              <a:rPr lang="en-ID" b="0" i="0" u="none" strike="noStrike" dirty="0">
                <a:solidFill>
                  <a:srgbClr val="000000"/>
                </a:solidFill>
                <a:effectLst/>
              </a:rPr>
              <a:t>Start with the firewall and email server logs to confirm the entry point</a:t>
            </a:r>
          </a:p>
          <a:p>
            <a:r>
              <a:rPr lang="en-ID" b="0" i="0" u="none" strike="noStrike" dirty="0">
                <a:solidFill>
                  <a:srgbClr val="000000"/>
                </a:solidFill>
                <a:effectLst/>
              </a:rPr>
              <a:t>Then workstation logs for the initial infection</a:t>
            </a:r>
          </a:p>
          <a:p>
            <a:r>
              <a:rPr lang="en-ID" b="0" i="0" u="none" strike="noStrike" dirty="0">
                <a:solidFill>
                  <a:srgbClr val="000000"/>
                </a:solidFill>
                <a:effectLst/>
              </a:rPr>
              <a:t>Correlate with IDS/NetFlow to detect C2 servers</a:t>
            </a:r>
          </a:p>
          <a:p>
            <a:r>
              <a:rPr lang="en-ID" b="0" i="0" u="none" strike="noStrike" dirty="0">
                <a:solidFill>
                  <a:srgbClr val="000000"/>
                </a:solidFill>
                <a:effectLst/>
              </a:rPr>
              <a:t>Build a full timeline of the attack</a:t>
            </a:r>
          </a:p>
        </p:txBody>
      </p:sp>
    </p:spTree>
    <p:extLst>
      <p:ext uri="{BB962C8B-B14F-4D97-AF65-F5344CB8AC3E}">
        <p14:creationId xmlns:p14="http://schemas.microsoft.com/office/powerpoint/2010/main" val="421293002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16EE-7862-1A29-A32E-2F2E0BBC9197}"/>
              </a:ext>
            </a:extLst>
          </p:cNvPr>
          <p:cNvSpPr>
            <a:spLocks noGrp="1"/>
          </p:cNvSpPr>
          <p:nvPr>
            <p:ph type="title"/>
          </p:nvPr>
        </p:nvSpPr>
        <p:spPr/>
        <p:txBody>
          <a:bodyPr/>
          <a:lstStyle/>
          <a:p>
            <a:r>
              <a:rPr lang="en-US" dirty="0"/>
              <a:t>Hands-on</a:t>
            </a:r>
          </a:p>
        </p:txBody>
      </p:sp>
    </p:spTree>
    <p:extLst>
      <p:ext uri="{BB962C8B-B14F-4D97-AF65-F5344CB8AC3E}">
        <p14:creationId xmlns:p14="http://schemas.microsoft.com/office/powerpoint/2010/main" val="306891005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C5EE-B6B7-FC22-6887-0B7192350267}"/>
              </a:ext>
            </a:extLst>
          </p:cNvPr>
          <p:cNvSpPr>
            <a:spLocks noGrp="1"/>
          </p:cNvSpPr>
          <p:nvPr>
            <p:ph type="title"/>
          </p:nvPr>
        </p:nvSpPr>
        <p:spPr/>
        <p:txBody>
          <a:bodyPr/>
          <a:lstStyle/>
          <a:p>
            <a:r>
              <a:rPr lang="en-US" dirty="0"/>
              <a:t>DNS Traffic</a:t>
            </a:r>
          </a:p>
        </p:txBody>
      </p:sp>
      <p:sp>
        <p:nvSpPr>
          <p:cNvPr id="3" name="Content Placeholder 2">
            <a:extLst>
              <a:ext uri="{FF2B5EF4-FFF2-40B4-BE49-F238E27FC236}">
                <a16:creationId xmlns:a16="http://schemas.microsoft.com/office/drawing/2014/main" id="{C264E475-8439-C759-8A5F-5DA019A65D29}"/>
              </a:ext>
            </a:extLst>
          </p:cNvPr>
          <p:cNvSpPr>
            <a:spLocks noGrp="1"/>
          </p:cNvSpPr>
          <p:nvPr>
            <p:ph idx="1"/>
          </p:nvPr>
        </p:nvSpPr>
        <p:spPr/>
        <p:txBody>
          <a:bodyPr/>
          <a:lstStyle/>
          <a:p>
            <a:r>
              <a:rPr lang="en-US" dirty="0"/>
              <a:t>Convert names to IP Addresses</a:t>
            </a:r>
          </a:p>
          <a:p>
            <a:r>
              <a:rPr lang="en-US" dirty="0"/>
              <a:t>Transfer information between DNS servers</a:t>
            </a:r>
          </a:p>
          <a:p>
            <a:r>
              <a:rPr lang="en-US" dirty="0"/>
              <a:t>Find the name from IP addresses</a:t>
            </a:r>
          </a:p>
          <a:p>
            <a:r>
              <a:rPr lang="en-US" dirty="0"/>
              <a:t>Lookup other name elements</a:t>
            </a:r>
          </a:p>
          <a:p>
            <a:r>
              <a:rPr lang="en-US" dirty="0"/>
              <a:t>Uses both TCP and UDP port 53</a:t>
            </a:r>
          </a:p>
          <a:p>
            <a:r>
              <a:rPr lang="en-US" dirty="0"/>
              <a:t>TCP used just for zone transfers</a:t>
            </a:r>
          </a:p>
          <a:p>
            <a:r>
              <a:rPr lang="en-US" dirty="0" err="1"/>
              <a:t>mDNS</a:t>
            </a:r>
            <a:r>
              <a:rPr lang="en-US" dirty="0"/>
              <a:t> (multicast DNS) is a way to use name resolution without a DNS server</a:t>
            </a:r>
          </a:p>
        </p:txBody>
      </p:sp>
    </p:spTree>
    <p:extLst>
      <p:ext uri="{BB962C8B-B14F-4D97-AF65-F5344CB8AC3E}">
        <p14:creationId xmlns:p14="http://schemas.microsoft.com/office/powerpoint/2010/main" val="397973418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DB51-810E-A6BB-8F10-3BBBF03AA610}"/>
              </a:ext>
            </a:extLst>
          </p:cNvPr>
          <p:cNvSpPr>
            <a:spLocks noGrp="1"/>
          </p:cNvSpPr>
          <p:nvPr>
            <p:ph type="title"/>
          </p:nvPr>
        </p:nvSpPr>
        <p:spPr/>
        <p:txBody>
          <a:bodyPr/>
          <a:lstStyle/>
          <a:p>
            <a:r>
              <a:rPr lang="en-US" dirty="0"/>
              <a:t>Normal DNS Traffic</a:t>
            </a:r>
          </a:p>
        </p:txBody>
      </p:sp>
      <p:pic>
        <p:nvPicPr>
          <p:cNvPr id="4" name="Content Placeholder 3">
            <a:extLst>
              <a:ext uri="{FF2B5EF4-FFF2-40B4-BE49-F238E27FC236}">
                <a16:creationId xmlns:a16="http://schemas.microsoft.com/office/drawing/2014/main" id="{B633FA42-3068-EA23-BFF9-D892360FAEB4}"/>
              </a:ext>
            </a:extLst>
          </p:cNvPr>
          <p:cNvPicPr>
            <a:picLocks noGrp="1" noChangeAspect="1"/>
          </p:cNvPicPr>
          <p:nvPr>
            <p:ph idx="1"/>
          </p:nvPr>
        </p:nvPicPr>
        <p:blipFill>
          <a:blip r:embed="rId3"/>
          <a:stretch>
            <a:fillRect/>
          </a:stretch>
        </p:blipFill>
        <p:spPr>
          <a:xfrm>
            <a:off x="2178828" y="4037669"/>
            <a:ext cx="20026344" cy="7944124"/>
          </a:xfrm>
          <a:prstGeom prst="rect">
            <a:avLst/>
          </a:prstGeom>
        </p:spPr>
      </p:pic>
    </p:spTree>
    <p:extLst>
      <p:ext uri="{BB962C8B-B14F-4D97-AF65-F5344CB8AC3E}">
        <p14:creationId xmlns:p14="http://schemas.microsoft.com/office/powerpoint/2010/main" val="3818288892"/>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58785-7F4F-BCE7-8B97-94186A2F296B}"/>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C1E029AA-BE64-3AAF-9933-345693C08E12}"/>
              </a:ext>
            </a:extLst>
          </p:cNvPr>
          <p:cNvPicPr>
            <a:picLocks noGrp="1" noChangeAspect="1"/>
          </p:cNvPicPr>
          <p:nvPr>
            <p:ph idx="1"/>
          </p:nvPr>
        </p:nvPicPr>
        <p:blipFill>
          <a:blip r:embed="rId3"/>
          <a:srcRect l="1283"/>
          <a:stretch/>
        </p:blipFill>
        <p:spPr>
          <a:xfrm>
            <a:off x="4225158" y="2778950"/>
            <a:ext cx="16143561" cy="10461562"/>
          </a:xfrm>
          <a:prstGeom prst="rect">
            <a:avLst/>
          </a:prstGeom>
        </p:spPr>
      </p:pic>
    </p:spTree>
    <p:extLst>
      <p:ext uri="{BB962C8B-B14F-4D97-AF65-F5344CB8AC3E}">
        <p14:creationId xmlns:p14="http://schemas.microsoft.com/office/powerpoint/2010/main" val="88889899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DE400-4337-6909-CB97-AF593EFF99EE}"/>
              </a:ext>
            </a:extLst>
          </p:cNvPr>
          <p:cNvSpPr>
            <a:spLocks noGrp="1"/>
          </p:cNvSpPr>
          <p:nvPr>
            <p:ph type="title"/>
          </p:nvPr>
        </p:nvSpPr>
        <p:spPr/>
        <p:txBody>
          <a:bodyPr/>
          <a:lstStyle/>
          <a:p>
            <a:r>
              <a:rPr lang="en-US" dirty="0"/>
              <a:t>DNS Types</a:t>
            </a:r>
          </a:p>
        </p:txBody>
      </p:sp>
      <p:sp>
        <p:nvSpPr>
          <p:cNvPr id="3" name="Content Placeholder 2">
            <a:extLst>
              <a:ext uri="{FF2B5EF4-FFF2-40B4-BE49-F238E27FC236}">
                <a16:creationId xmlns:a16="http://schemas.microsoft.com/office/drawing/2014/main" id="{252A50B1-3F81-A44D-FC6E-821479C4E679}"/>
              </a:ext>
            </a:extLst>
          </p:cNvPr>
          <p:cNvSpPr>
            <a:spLocks noGrp="1"/>
          </p:cNvSpPr>
          <p:nvPr>
            <p:ph idx="1"/>
          </p:nvPr>
        </p:nvSpPr>
        <p:spPr/>
        <p:txBody>
          <a:bodyPr>
            <a:normAutofit fontScale="92500"/>
          </a:bodyPr>
          <a:lstStyle/>
          <a:p>
            <a:pPr>
              <a:buFont typeface="+mj-lt"/>
              <a:buAutoNum type="arabicPeriod"/>
            </a:pPr>
            <a:r>
              <a:rPr lang="en-ID" b="1" dirty="0"/>
              <a:t>A Record (Address Record)</a:t>
            </a:r>
            <a:r>
              <a:rPr lang="en-ID" dirty="0"/>
              <a:t> – Maps a domain name to an IPv4 address.</a:t>
            </a:r>
          </a:p>
          <a:p>
            <a:pPr>
              <a:buFont typeface="+mj-lt"/>
              <a:buAutoNum type="arabicPeriod"/>
            </a:pPr>
            <a:r>
              <a:rPr lang="en-ID" b="1" dirty="0"/>
              <a:t>AAAA Record</a:t>
            </a:r>
            <a:r>
              <a:rPr lang="en-ID" dirty="0"/>
              <a:t> – Maps a domain name to an IPv6 address.</a:t>
            </a:r>
          </a:p>
          <a:p>
            <a:pPr>
              <a:buFont typeface="+mj-lt"/>
              <a:buAutoNum type="arabicPeriod"/>
            </a:pPr>
            <a:r>
              <a:rPr lang="en-ID" b="1" dirty="0"/>
              <a:t>CNAME (Canonical Name)</a:t>
            </a:r>
            <a:r>
              <a:rPr lang="en-ID" dirty="0"/>
              <a:t> – Creates an alias from one domain name to another.</a:t>
            </a:r>
          </a:p>
          <a:p>
            <a:pPr>
              <a:buFont typeface="+mj-lt"/>
              <a:buAutoNum type="arabicPeriod"/>
            </a:pPr>
            <a:r>
              <a:rPr lang="en-ID" b="1" dirty="0"/>
              <a:t>MX (Mail Exchange)</a:t>
            </a:r>
            <a:r>
              <a:rPr lang="en-ID" dirty="0"/>
              <a:t> – Directs email to a mail server.</a:t>
            </a:r>
          </a:p>
          <a:p>
            <a:pPr>
              <a:buFont typeface="+mj-lt"/>
              <a:buAutoNum type="arabicPeriod"/>
            </a:pPr>
            <a:r>
              <a:rPr lang="en-ID" b="1" dirty="0"/>
              <a:t>NS (Name Server)</a:t>
            </a:r>
            <a:r>
              <a:rPr lang="en-ID" dirty="0"/>
              <a:t> – Identifies the authoritative name servers for the domain.</a:t>
            </a:r>
          </a:p>
          <a:p>
            <a:pPr>
              <a:buFont typeface="+mj-lt"/>
              <a:buAutoNum type="arabicPeriod"/>
            </a:pPr>
            <a:r>
              <a:rPr lang="en-ID" b="1" dirty="0"/>
              <a:t>TXT (Text Record)</a:t>
            </a:r>
            <a:r>
              <a:rPr lang="en-ID" dirty="0"/>
              <a:t> – Stores text data, often for email security (SPF, DKIM, DMARC).</a:t>
            </a:r>
          </a:p>
          <a:p>
            <a:pPr>
              <a:buFont typeface="+mj-lt"/>
              <a:buAutoNum type="arabicPeriod"/>
            </a:pPr>
            <a:r>
              <a:rPr lang="en-ID" b="1" dirty="0"/>
              <a:t>PTR (Pointer Record)</a:t>
            </a:r>
            <a:r>
              <a:rPr lang="en-ID" dirty="0"/>
              <a:t> – Reverse lookup: maps an IP address back to a domain name.</a:t>
            </a:r>
          </a:p>
          <a:p>
            <a:pPr>
              <a:buFont typeface="+mj-lt"/>
              <a:buAutoNum type="arabicPeriod"/>
            </a:pPr>
            <a:r>
              <a:rPr lang="en-ID" b="1" dirty="0"/>
              <a:t>SOA (Start of Authority)</a:t>
            </a:r>
            <a:r>
              <a:rPr lang="en-ID" dirty="0"/>
              <a:t> – Provides administrative details about the domain and DNS zone.</a:t>
            </a:r>
          </a:p>
        </p:txBody>
      </p:sp>
    </p:spTree>
    <p:extLst>
      <p:ext uri="{BB962C8B-B14F-4D97-AF65-F5344CB8AC3E}">
        <p14:creationId xmlns:p14="http://schemas.microsoft.com/office/powerpoint/2010/main" val="331962794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2A9D-715B-821A-C644-F391117CE53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B8DD703-D587-A7D2-E2E0-627206180B71}"/>
              </a:ext>
            </a:extLst>
          </p:cNvPr>
          <p:cNvSpPr>
            <a:spLocks noGrp="1"/>
          </p:cNvSpPr>
          <p:nvPr>
            <p:ph idx="1"/>
          </p:nvPr>
        </p:nvSpPr>
        <p:spPr/>
        <p:txBody>
          <a:bodyPr anchor="ctr"/>
          <a:lstStyle/>
          <a:p>
            <a:pPr marL="0" indent="0" algn="ctr">
              <a:buNone/>
            </a:pPr>
            <a:r>
              <a:rPr lang="en-US" b="1" dirty="0">
                <a:solidFill>
                  <a:schemeClr val="bg2">
                    <a:lumMod val="10000"/>
                  </a:schemeClr>
                </a:solidFill>
              </a:rPr>
              <a:t>Download and open week 2 - </a:t>
            </a:r>
            <a:r>
              <a:rPr lang="en-US" b="1" dirty="0" err="1">
                <a:solidFill>
                  <a:schemeClr val="bg2">
                    <a:lumMod val="10000"/>
                  </a:schemeClr>
                </a:solidFill>
              </a:rPr>
              <a:t>dns.cap</a:t>
            </a:r>
            <a:endParaRPr lang="en-US" b="1" dirty="0">
              <a:solidFill>
                <a:schemeClr val="bg2">
                  <a:lumMod val="10000"/>
                </a:schemeClr>
              </a:solidFill>
            </a:endParaRPr>
          </a:p>
        </p:txBody>
      </p:sp>
    </p:spTree>
    <p:extLst>
      <p:ext uri="{BB962C8B-B14F-4D97-AF65-F5344CB8AC3E}">
        <p14:creationId xmlns:p14="http://schemas.microsoft.com/office/powerpoint/2010/main" val="48461708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1B8F1-2BF3-473E-D0D8-983299EF41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4D26C1-DC6C-536E-4B88-4E17602AABC6}"/>
              </a:ext>
            </a:extLst>
          </p:cNvPr>
          <p:cNvSpPr>
            <a:spLocks noGrp="1"/>
          </p:cNvSpPr>
          <p:nvPr>
            <p:ph idx="1"/>
          </p:nvPr>
        </p:nvSpPr>
        <p:spPr/>
        <p:txBody>
          <a:bodyPr/>
          <a:lstStyle/>
          <a:p>
            <a:pPr marL="0" indent="0">
              <a:buNone/>
            </a:pPr>
            <a:r>
              <a:rPr lang="en-US" b="1" dirty="0">
                <a:solidFill>
                  <a:srgbClr val="0070C0"/>
                </a:solidFill>
              </a:rPr>
              <a:t>What DNS record types are seen in the trace file?</a:t>
            </a:r>
          </a:p>
          <a:p>
            <a:endParaRPr lang="en-US" dirty="0"/>
          </a:p>
          <a:p>
            <a:pPr marL="0" indent="0">
              <a:buNone/>
            </a:pPr>
            <a:r>
              <a:rPr lang="en-US" dirty="0"/>
              <a:t>Answer: TXT, A, AAAA, NS, MX, PTR, SRV</a:t>
            </a:r>
          </a:p>
        </p:txBody>
      </p:sp>
    </p:spTree>
    <p:extLst>
      <p:ext uri="{BB962C8B-B14F-4D97-AF65-F5344CB8AC3E}">
        <p14:creationId xmlns:p14="http://schemas.microsoft.com/office/powerpoint/2010/main" val="21403485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3550-5C26-0306-19FA-EA685A59DC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F4E11F-2DAE-10B9-6030-3B58012459F1}"/>
              </a:ext>
            </a:extLst>
          </p:cNvPr>
          <p:cNvSpPr>
            <a:spLocks noGrp="1"/>
          </p:cNvSpPr>
          <p:nvPr>
            <p:ph idx="1"/>
          </p:nvPr>
        </p:nvSpPr>
        <p:spPr/>
        <p:txBody>
          <a:bodyPr/>
          <a:lstStyle/>
          <a:p>
            <a:pPr marL="0" indent="0">
              <a:buNone/>
            </a:pPr>
            <a:r>
              <a:rPr lang="en-US" b="1" dirty="0">
                <a:solidFill>
                  <a:srgbClr val="0070C0"/>
                </a:solidFill>
              </a:rPr>
              <a:t>How many DNS servers are in this trace file?</a:t>
            </a:r>
          </a:p>
          <a:p>
            <a:endParaRPr lang="en-US" dirty="0"/>
          </a:p>
          <a:p>
            <a:pPr marL="0" indent="0">
              <a:buNone/>
            </a:pPr>
            <a:r>
              <a:rPr lang="en-US" dirty="0"/>
              <a:t>Answer: 4</a:t>
            </a:r>
          </a:p>
        </p:txBody>
      </p:sp>
    </p:spTree>
    <p:extLst>
      <p:ext uri="{BB962C8B-B14F-4D97-AF65-F5344CB8AC3E}">
        <p14:creationId xmlns:p14="http://schemas.microsoft.com/office/powerpoint/2010/main" val="222354572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AF026-88AC-26EE-EF46-74A9526632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D69DED4-4813-D8D3-8E43-36E9CCA7B015}"/>
              </a:ext>
            </a:extLst>
          </p:cNvPr>
          <p:cNvSpPr>
            <a:spLocks noGrp="1"/>
          </p:cNvSpPr>
          <p:nvPr>
            <p:ph idx="1"/>
          </p:nvPr>
        </p:nvSpPr>
        <p:spPr/>
        <p:txBody>
          <a:bodyPr/>
          <a:lstStyle/>
          <a:p>
            <a:pPr marL="0" indent="0">
              <a:buNone/>
            </a:pPr>
            <a:r>
              <a:rPr lang="en-US" b="1" dirty="0">
                <a:solidFill>
                  <a:srgbClr val="0070C0"/>
                </a:solidFill>
              </a:rPr>
              <a:t>How many requests and how many responses are seen here?</a:t>
            </a:r>
          </a:p>
          <a:p>
            <a:endParaRPr lang="en-US" dirty="0"/>
          </a:p>
          <a:p>
            <a:pPr marL="0" indent="0">
              <a:buNone/>
            </a:pPr>
            <a:r>
              <a:rPr lang="en-US" dirty="0"/>
              <a:t>Answer: 	19 each. (use filter: </a:t>
            </a:r>
            <a:r>
              <a:rPr lang="en-US" dirty="0" err="1"/>
              <a:t>dns.flags.response</a:t>
            </a:r>
            <a:r>
              <a:rPr lang="en-US" dirty="0"/>
              <a:t> == 0 or </a:t>
            </a:r>
            <a:r>
              <a:rPr lang="en-US" dirty="0" err="1"/>
              <a:t>dns.flags.response</a:t>
            </a:r>
            <a:r>
              <a:rPr lang="en-US" dirty="0"/>
              <a:t> == 1)</a:t>
            </a:r>
          </a:p>
          <a:p>
            <a:pPr marL="0" indent="0">
              <a:buNone/>
            </a:pPr>
            <a:endParaRPr lang="en-US" dirty="0"/>
          </a:p>
        </p:txBody>
      </p:sp>
    </p:spTree>
    <p:extLst>
      <p:ext uri="{BB962C8B-B14F-4D97-AF65-F5344CB8AC3E}">
        <p14:creationId xmlns:p14="http://schemas.microsoft.com/office/powerpoint/2010/main" val="169887199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BBEAE-A2C2-897A-1386-6E3E8D3D04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2C041E-07B1-B119-C815-D55FA220EC79}"/>
              </a:ext>
            </a:extLst>
          </p:cNvPr>
          <p:cNvSpPr>
            <a:spLocks noGrp="1"/>
          </p:cNvSpPr>
          <p:nvPr>
            <p:ph idx="1"/>
          </p:nvPr>
        </p:nvSpPr>
        <p:spPr/>
        <p:txBody>
          <a:bodyPr/>
          <a:lstStyle/>
          <a:p>
            <a:pPr marL="0" indent="0">
              <a:buNone/>
            </a:pPr>
            <a:r>
              <a:rPr lang="en-US" b="1" dirty="0">
                <a:solidFill>
                  <a:srgbClr val="0070C0"/>
                </a:solidFill>
              </a:rPr>
              <a:t>For which names was the IPv6 address requested?</a:t>
            </a:r>
          </a:p>
          <a:p>
            <a:pPr marL="0" indent="0">
              <a:buNone/>
            </a:pPr>
            <a:endParaRPr lang="en-US" dirty="0"/>
          </a:p>
          <a:p>
            <a:pPr marL="0" indent="0">
              <a:buNone/>
            </a:pPr>
            <a:r>
              <a:rPr lang="en-US" dirty="0"/>
              <a:t>Answer: 12 (filter used: </a:t>
            </a:r>
            <a:r>
              <a:rPr lang="en-US" dirty="0" err="1"/>
              <a:t>dns.qry.type</a:t>
            </a:r>
            <a:r>
              <a:rPr lang="en-US" dirty="0"/>
              <a:t> == 28)</a:t>
            </a:r>
          </a:p>
          <a:p>
            <a:pPr marL="0" indent="0">
              <a:buNone/>
            </a:pPr>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DFF70B00-D2A5-67FF-3ED7-C7FD83631CD3}"/>
              </a:ext>
            </a:extLst>
          </p:cNvPr>
          <p:cNvGraphicFramePr>
            <a:graphicFrameLocks noGrp="1"/>
          </p:cNvGraphicFramePr>
          <p:nvPr>
            <p:extLst>
              <p:ext uri="{D42A27DB-BD31-4B8C-83A1-F6EECF244321}">
                <p14:modId xmlns:p14="http://schemas.microsoft.com/office/powerpoint/2010/main" val="3962371864"/>
              </p:ext>
            </p:extLst>
          </p:nvPr>
        </p:nvGraphicFramePr>
        <p:xfrm>
          <a:off x="8924448" y="6858000"/>
          <a:ext cx="6535103" cy="5029200"/>
        </p:xfrm>
        <a:graphic>
          <a:graphicData uri="http://schemas.openxmlformats.org/drawingml/2006/table">
            <a:tbl>
              <a:tblPr/>
              <a:tblGrid>
                <a:gridCol w="1322705">
                  <a:extLst>
                    <a:ext uri="{9D8B030D-6E8A-4147-A177-3AD203B41FA5}">
                      <a16:colId xmlns:a16="http://schemas.microsoft.com/office/drawing/2014/main" val="1660073972"/>
                    </a:ext>
                  </a:extLst>
                </a:gridCol>
                <a:gridCol w="1017905">
                  <a:extLst>
                    <a:ext uri="{9D8B030D-6E8A-4147-A177-3AD203B41FA5}">
                      <a16:colId xmlns:a16="http://schemas.microsoft.com/office/drawing/2014/main" val="2224445787"/>
                    </a:ext>
                  </a:extLst>
                </a:gridCol>
                <a:gridCol w="4194493">
                  <a:extLst>
                    <a:ext uri="{9D8B030D-6E8A-4147-A177-3AD203B41FA5}">
                      <a16:colId xmlns:a16="http://schemas.microsoft.com/office/drawing/2014/main" val="831611382"/>
                    </a:ext>
                  </a:extLst>
                </a:gridCol>
              </a:tblGrid>
              <a:tr h="365760">
                <a:tc>
                  <a:txBody>
                    <a:bodyPr/>
                    <a:lstStyle/>
                    <a:p>
                      <a:pPr algn="ctr"/>
                      <a:r>
                        <a:rPr lang="en-ID" sz="2400" b="1" dirty="0">
                          <a:solidFill>
                            <a:schemeClr val="bg2">
                              <a:lumMod val="10000"/>
                            </a:schemeClr>
                          </a:solidFill>
                        </a:rPr>
                        <a:t>Record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1" dirty="0">
                          <a:solidFill>
                            <a:schemeClr val="bg2">
                              <a:lumMod val="10000"/>
                            </a:schemeClr>
                          </a:solidFill>
                        </a:rPr>
                        <a:t>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1" dirty="0">
                          <a:solidFill>
                            <a:schemeClr val="bg2">
                              <a:lumMod val="10000"/>
                            </a:schemeClr>
                          </a:solidFill>
                        </a:rPr>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4291613"/>
                  </a:ext>
                </a:extLst>
              </a:tr>
              <a:tr h="365760">
                <a:tc>
                  <a:txBody>
                    <a:bodyPr/>
                    <a:lstStyle/>
                    <a:p>
                      <a:pPr algn="ctr"/>
                      <a:r>
                        <a:rPr lang="en-ID" sz="2400" b="0" dirty="0">
                          <a:solidFill>
                            <a:schemeClr val="bg2">
                              <a:lumMod val="10000"/>
                            </a:schemeClr>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dirty="0">
                          <a:solidFill>
                            <a:schemeClr val="bg2">
                              <a:lumMod val="10000"/>
                            </a:schemeClr>
                          </a:solidFill>
                        </a:rPr>
                        <a:t>IPv4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5056252"/>
                  </a:ext>
                </a:extLst>
              </a:tr>
              <a:tr h="365760">
                <a:tc>
                  <a:txBody>
                    <a:bodyPr/>
                    <a:lstStyle/>
                    <a:p>
                      <a:pPr algn="ctr"/>
                      <a:r>
                        <a:rPr lang="en-ID" sz="2400" b="0">
                          <a:solidFill>
                            <a:schemeClr val="bg2">
                              <a:lumMod val="10000"/>
                            </a:schemeClr>
                          </a:solidFill>
                        </a:rPr>
                        <a:t>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Authoritative name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4005666"/>
                  </a:ext>
                </a:extLst>
              </a:tr>
              <a:tr h="365760">
                <a:tc>
                  <a:txBody>
                    <a:bodyPr/>
                    <a:lstStyle/>
                    <a:p>
                      <a:pPr algn="ctr"/>
                      <a:r>
                        <a:rPr lang="en-ID" sz="2400" b="0">
                          <a:solidFill>
                            <a:schemeClr val="bg2">
                              <a:lumMod val="10000"/>
                            </a:schemeClr>
                          </a:solidFill>
                        </a:rPr>
                        <a:t>CNAME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Canonical name (alias)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465316"/>
                  </a:ext>
                </a:extLst>
              </a:tr>
              <a:tr h="365760">
                <a:tc>
                  <a:txBody>
                    <a:bodyPr/>
                    <a:lstStyle/>
                    <a:p>
                      <a:pPr algn="ctr"/>
                      <a:r>
                        <a:rPr lang="en-ID" sz="2400" b="0">
                          <a:solidFill>
                            <a:schemeClr val="bg2">
                              <a:lumMod val="10000"/>
                            </a:schemeClr>
                          </a:solidFill>
                        </a:rPr>
                        <a:t>SOA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Start of authority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3164500"/>
                  </a:ext>
                </a:extLst>
              </a:tr>
              <a:tr h="365760">
                <a:tc>
                  <a:txBody>
                    <a:bodyPr/>
                    <a:lstStyle/>
                    <a:p>
                      <a:pPr algn="ctr"/>
                      <a:r>
                        <a:rPr lang="en-ID" sz="2400" b="0">
                          <a:solidFill>
                            <a:schemeClr val="bg2">
                              <a:lumMod val="10000"/>
                            </a:schemeClr>
                          </a:solidFill>
                        </a:rPr>
                        <a:t>PTR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Reverse DNS pointer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886219"/>
                  </a:ext>
                </a:extLst>
              </a:tr>
              <a:tr h="365760">
                <a:tc>
                  <a:txBody>
                    <a:bodyPr/>
                    <a:lstStyle/>
                    <a:p>
                      <a:pPr algn="ctr"/>
                      <a:r>
                        <a:rPr lang="en-ID" sz="2400" b="0">
                          <a:solidFill>
                            <a:schemeClr val="bg2">
                              <a:lumMod val="10000"/>
                            </a:schemeClr>
                          </a:solidFill>
                        </a:rPr>
                        <a:t>MX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Mail exchange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909525"/>
                  </a:ext>
                </a:extLst>
              </a:tr>
              <a:tr h="365760">
                <a:tc>
                  <a:txBody>
                    <a:bodyPr/>
                    <a:lstStyle/>
                    <a:p>
                      <a:pPr algn="ctr"/>
                      <a:r>
                        <a:rPr lang="en-ID" sz="2400" b="0">
                          <a:solidFill>
                            <a:schemeClr val="bg2">
                              <a:lumMod val="10000"/>
                            </a:schemeClr>
                          </a:solidFill>
                        </a:rPr>
                        <a:t>TXT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Text record (SPF/DKIM,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245122"/>
                  </a:ext>
                </a:extLst>
              </a:tr>
              <a:tr h="365760">
                <a:tc>
                  <a:txBody>
                    <a:bodyPr/>
                    <a:lstStyle/>
                    <a:p>
                      <a:pPr algn="ctr"/>
                      <a:r>
                        <a:rPr lang="en-ID" sz="2400" b="0">
                          <a:solidFill>
                            <a:schemeClr val="bg2">
                              <a:lumMod val="10000"/>
                            </a:schemeClr>
                          </a:solidFill>
                        </a:rPr>
                        <a:t>AAAA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IPv6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7846160"/>
                  </a:ext>
                </a:extLst>
              </a:tr>
              <a:tr h="365760">
                <a:tc>
                  <a:txBody>
                    <a:bodyPr/>
                    <a:lstStyle/>
                    <a:p>
                      <a:pPr algn="ctr"/>
                      <a:r>
                        <a:rPr lang="en-ID" sz="2400" b="0">
                          <a:solidFill>
                            <a:schemeClr val="bg2">
                              <a:lumMod val="10000"/>
                            </a:schemeClr>
                          </a:solidFill>
                        </a:rPr>
                        <a:t>SRV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a:solidFill>
                            <a:schemeClr val="bg2">
                              <a:lumMod val="10000"/>
                            </a:schemeClr>
                          </a:solidFill>
                        </a:rPr>
                        <a:t>Service locator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18862"/>
                  </a:ext>
                </a:extLst>
              </a:tr>
              <a:tr h="365760">
                <a:tc>
                  <a:txBody>
                    <a:bodyPr/>
                    <a:lstStyle/>
                    <a:p>
                      <a:pPr algn="ctr"/>
                      <a:r>
                        <a:rPr lang="en-ID" sz="2400" b="0">
                          <a:solidFill>
                            <a:schemeClr val="bg2">
                              <a:lumMod val="10000"/>
                            </a:schemeClr>
                          </a:solidFill>
                        </a:rPr>
                        <a:t>ANY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D" sz="2400" b="0" dirty="0">
                          <a:solidFill>
                            <a:schemeClr val="bg2">
                              <a:lumMod val="10000"/>
                            </a:schemeClr>
                          </a:solidFill>
                        </a:rPr>
                        <a:t>255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D" sz="2400" b="0" dirty="0">
                          <a:solidFill>
                            <a:schemeClr val="bg2">
                              <a:lumMod val="10000"/>
                            </a:schemeClr>
                          </a:solidFill>
                        </a:rPr>
                        <a:t>Request all records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5158672"/>
                  </a:ext>
                </a:extLst>
              </a:tr>
            </a:tbl>
          </a:graphicData>
        </a:graphic>
      </p:graphicFrame>
    </p:spTree>
    <p:extLst>
      <p:ext uri="{BB962C8B-B14F-4D97-AF65-F5344CB8AC3E}">
        <p14:creationId xmlns:p14="http://schemas.microsoft.com/office/powerpoint/2010/main" val="276761362"/>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8A60-83B3-E696-3993-0866481164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346B2C-8C3A-BF3E-F463-9BA92013A774}"/>
              </a:ext>
            </a:extLst>
          </p:cNvPr>
          <p:cNvSpPr>
            <a:spLocks noGrp="1"/>
          </p:cNvSpPr>
          <p:nvPr>
            <p:ph idx="1"/>
          </p:nvPr>
        </p:nvSpPr>
        <p:spPr/>
        <p:txBody>
          <a:bodyPr/>
          <a:lstStyle/>
          <a:p>
            <a:pPr marL="0" indent="0">
              <a:buNone/>
            </a:pPr>
            <a:r>
              <a:rPr lang="en-US" b="1" dirty="0">
                <a:solidFill>
                  <a:srgbClr val="0070C0"/>
                </a:solidFill>
              </a:rPr>
              <a:t>How many name error conditions occurred?</a:t>
            </a:r>
          </a:p>
          <a:p>
            <a:pPr marL="0" indent="0">
              <a:buNone/>
            </a:pPr>
            <a:endParaRPr lang="en-US" dirty="0"/>
          </a:p>
          <a:p>
            <a:pPr marL="0" indent="0">
              <a:buNone/>
            </a:pPr>
            <a:r>
              <a:rPr lang="en-US" dirty="0"/>
              <a:t>Answer: 6 (filter used: </a:t>
            </a:r>
            <a:r>
              <a:rPr lang="en-US" dirty="0" err="1"/>
              <a:t>dns.flags.rcode</a:t>
            </a:r>
            <a:r>
              <a:rPr lang="en-US" dirty="0"/>
              <a:t> == 3)</a:t>
            </a:r>
          </a:p>
        </p:txBody>
      </p:sp>
    </p:spTree>
    <p:extLst>
      <p:ext uri="{BB962C8B-B14F-4D97-AF65-F5344CB8AC3E}">
        <p14:creationId xmlns:p14="http://schemas.microsoft.com/office/powerpoint/2010/main" val="315827783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6152-4B50-F23B-7552-325A850689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FC50A6-FA31-FD04-A3F3-AF3E247B3F32}"/>
              </a:ext>
            </a:extLst>
          </p:cNvPr>
          <p:cNvSpPr>
            <a:spLocks noGrp="1"/>
          </p:cNvSpPr>
          <p:nvPr>
            <p:ph idx="1"/>
          </p:nvPr>
        </p:nvSpPr>
        <p:spPr/>
        <p:txBody>
          <a:bodyPr/>
          <a:lstStyle/>
          <a:p>
            <a:pPr marL="0" indent="0">
              <a:buNone/>
            </a:pPr>
            <a:r>
              <a:rPr lang="en-US" b="1" dirty="0">
                <a:solidFill>
                  <a:srgbClr val="0070C0"/>
                </a:solidFill>
              </a:rPr>
              <a:t>For which requests did those errors occur?</a:t>
            </a:r>
          </a:p>
          <a:p>
            <a:pPr marL="0" indent="0">
              <a:buNone/>
            </a:pPr>
            <a:endParaRPr lang="en-US" dirty="0"/>
          </a:p>
          <a:p>
            <a:pPr marL="0" indent="0">
              <a:buNone/>
            </a:pPr>
            <a:r>
              <a:rPr lang="en-US" dirty="0"/>
              <a:t>Answer: </a:t>
            </a:r>
            <a:r>
              <a:rPr lang="en-US" dirty="0" err="1"/>
              <a:t>www.example.notginh</a:t>
            </a:r>
            <a:endParaRPr lang="en-US" dirty="0"/>
          </a:p>
        </p:txBody>
      </p:sp>
    </p:spTree>
    <p:extLst>
      <p:ext uri="{BB962C8B-B14F-4D97-AF65-F5344CB8AC3E}">
        <p14:creationId xmlns:p14="http://schemas.microsoft.com/office/powerpoint/2010/main" val="327128605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74694-490B-C788-A1A0-C69683D9FD80}"/>
              </a:ext>
            </a:extLst>
          </p:cNvPr>
          <p:cNvSpPr>
            <a:spLocks noGrp="1"/>
          </p:cNvSpPr>
          <p:nvPr>
            <p:ph type="title"/>
          </p:nvPr>
        </p:nvSpPr>
        <p:spPr/>
        <p:txBody>
          <a:bodyPr/>
          <a:lstStyle/>
          <a:p>
            <a:r>
              <a:rPr lang="en-ID" b="0" i="0" u="none" strike="noStrike" dirty="0">
                <a:solidFill>
                  <a:srgbClr val="000000"/>
                </a:solidFill>
                <a:effectLst/>
                <a:latin typeface="-webkit-standard"/>
              </a:rPr>
              <a:t>Summary &amp; Reflection</a:t>
            </a:r>
            <a:endParaRPr lang="en-US" dirty="0"/>
          </a:p>
        </p:txBody>
      </p:sp>
      <p:sp>
        <p:nvSpPr>
          <p:cNvPr id="3" name="Content Placeholder 2">
            <a:extLst>
              <a:ext uri="{FF2B5EF4-FFF2-40B4-BE49-F238E27FC236}">
                <a16:creationId xmlns:a16="http://schemas.microsoft.com/office/drawing/2014/main" id="{6C2EE13C-4328-4527-E11D-74CA669AAE1F}"/>
              </a:ext>
            </a:extLst>
          </p:cNvPr>
          <p:cNvSpPr>
            <a:spLocks noGrp="1"/>
          </p:cNvSpPr>
          <p:nvPr>
            <p:ph idx="1"/>
          </p:nvPr>
        </p:nvSpPr>
        <p:spPr/>
        <p:txBody>
          <a:bodyPr/>
          <a:lstStyle/>
          <a:p>
            <a:r>
              <a:rPr lang="en-ID" dirty="0"/>
              <a:t>Evidence types: packets, flows, logs, alerts</a:t>
            </a:r>
          </a:p>
          <a:p>
            <a:r>
              <a:rPr lang="en-ID" dirty="0"/>
              <a:t>Volatile vs non-volatile → capture in the right order</a:t>
            </a:r>
          </a:p>
          <a:p>
            <a:r>
              <a:rPr lang="en-ID" dirty="0"/>
              <a:t>Chain of custody + hashing = integrity</a:t>
            </a:r>
          </a:p>
          <a:p>
            <a:r>
              <a:rPr lang="en-ID" dirty="0"/>
              <a:t>Multiple sources must be correlated</a:t>
            </a:r>
          </a:p>
          <a:p>
            <a:r>
              <a:rPr lang="en-ID" dirty="0"/>
              <a:t>Real-life cases prove that evidence is the backbone of network forensics</a:t>
            </a:r>
          </a:p>
        </p:txBody>
      </p:sp>
    </p:spTree>
    <p:extLst>
      <p:ext uri="{BB962C8B-B14F-4D97-AF65-F5344CB8AC3E}">
        <p14:creationId xmlns:p14="http://schemas.microsoft.com/office/powerpoint/2010/main" val="2725037851"/>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C29185-DEBA-2653-928F-12E0AF1EE5B8}"/>
              </a:ext>
            </a:extLst>
          </p:cNvPr>
          <p:cNvSpPr>
            <a:spLocks noGrp="1"/>
          </p:cNvSpPr>
          <p:nvPr>
            <p:ph type="title"/>
          </p:nvPr>
        </p:nvSpPr>
        <p:spPr/>
        <p:txBody>
          <a:bodyPr/>
          <a:lstStyle/>
          <a:p>
            <a:r>
              <a:rPr lang="en-US" dirty="0"/>
              <a:t>See you next week!</a:t>
            </a:r>
          </a:p>
        </p:txBody>
      </p:sp>
    </p:spTree>
    <p:extLst>
      <p:ext uri="{BB962C8B-B14F-4D97-AF65-F5344CB8AC3E}">
        <p14:creationId xmlns:p14="http://schemas.microsoft.com/office/powerpoint/2010/main" val="25367731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1391</TotalTime>
  <Words>3573</Words>
  <Application>Microsoft Macintosh PowerPoint</Application>
  <PresentationFormat>Custom</PresentationFormat>
  <Paragraphs>375</Paragraphs>
  <Slides>45</Slides>
  <Notes>34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-webkit-standard</vt:lpstr>
      <vt:lpstr>Aptos</vt:lpstr>
      <vt:lpstr>Arial</vt:lpstr>
      <vt:lpstr>Courier New</vt:lpstr>
      <vt:lpstr>Helvetica Neue Medium</vt:lpstr>
      <vt:lpstr>OCRB</vt:lpstr>
      <vt:lpstr>Open Sans ExtraBold</vt:lpstr>
      <vt:lpstr>Open Sans Light</vt:lpstr>
      <vt:lpstr>Open Sans Semibold</vt:lpstr>
      <vt:lpstr>21_BasicWhite</vt:lpstr>
      <vt:lpstr>Sources of Evidence in Network Forensics</vt:lpstr>
      <vt:lpstr>Learning Objectives</vt:lpstr>
      <vt:lpstr>Why Evidence Matters</vt:lpstr>
      <vt:lpstr>International Case: Equifax Data Breach (2017, USA)</vt:lpstr>
      <vt:lpstr>Local Case: Tokopedia Data Breach (2020, Indonesia)</vt:lpstr>
      <vt:lpstr>Types of Digital Evidence</vt:lpstr>
      <vt:lpstr>Packet Captures</vt:lpstr>
      <vt:lpstr>Case: SolarWinds Attack (2020, Global)</vt:lpstr>
      <vt:lpstr>Case: Kominfo Website Defacement (2018, Indonesia)</vt:lpstr>
      <vt:lpstr>Flow Records</vt:lpstr>
      <vt:lpstr>Case: DDoS Attack on GitHub (2018, Global)</vt:lpstr>
      <vt:lpstr>Case: Bank BRI ATM Malware Incident (2019, Indonesia)</vt:lpstr>
      <vt:lpstr>Device Logs</vt:lpstr>
      <vt:lpstr>Case: Marriott Data Breach (2018, Global)</vt:lpstr>
      <vt:lpstr>Telkomsel Data Leak (2017, Indonesia)</vt:lpstr>
      <vt:lpstr>System &amp; Application Logs</vt:lpstr>
      <vt:lpstr>Case: Sony Pictures Hack (2014, Global)</vt:lpstr>
      <vt:lpstr>Case: BPJS Kesehatan Data Leak (2021, Indonesia)</vt:lpstr>
      <vt:lpstr>DS/IPS Alerts</vt:lpstr>
      <vt:lpstr>Case: Colonial Pipeline Ransomware (2021, USA)</vt:lpstr>
      <vt:lpstr>Case: Indonesian University Ransomware Attacks (2020–2021)</vt:lpstr>
      <vt:lpstr>Evidence Across the Network Environment</vt:lpstr>
      <vt:lpstr>Volatile vs Non-Volatile Evidence</vt:lpstr>
      <vt:lpstr>Chain of Custody</vt:lpstr>
      <vt:lpstr>Evidence Integrity</vt:lpstr>
      <vt:lpstr>Case: LinkedIn Data Breach (2021, Global)</vt:lpstr>
      <vt:lpstr>Case: Indonesian COVID-19 Contact Tracing App Leak (2021)</vt:lpstr>
      <vt:lpstr>Correlation of Evidence</vt:lpstr>
      <vt:lpstr>Best Practices in Evidence Handling</vt:lpstr>
      <vt:lpstr>Big Discussion: Investigating a Ransomware Case</vt:lpstr>
      <vt:lpstr>Big Discussion: Investigating a Ransomware Case</vt:lpstr>
      <vt:lpstr>Hands-on</vt:lpstr>
      <vt:lpstr>DNS Traffic</vt:lpstr>
      <vt:lpstr>Normal DNS Traffic</vt:lpstr>
      <vt:lpstr>PowerPoint Presentation</vt:lpstr>
      <vt:lpstr>DNS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&amp; Reflection</vt:lpstr>
      <vt:lpstr>See you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Satrio Pradono, S.Kom., M.T.I.</dc:creator>
  <cp:lastModifiedBy>Satrio Pradono, S.Kom., M.T.I.</cp:lastModifiedBy>
  <cp:revision>8</cp:revision>
  <dcterms:created xsi:type="dcterms:W3CDTF">2024-08-21T04:45:24Z</dcterms:created>
  <dcterms:modified xsi:type="dcterms:W3CDTF">2025-09-18T13:16:31Z</dcterms:modified>
</cp:coreProperties>
</file>
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93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15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Default Section" id="{FDCF6184-A2D9-AB41-A157-73E9C07C27FC}">
          <p14:sldIdLst>
            <p14:sldId id="256"/>
            <p14:sldId id="293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54A4"/>
    <a:srgbClr val="1C8ED3"/>
    <a:srgbClr val="23A1E1"/>
    <a:srgbClr val="F724FF"/>
    <a:srgbClr val="45FFFF"/>
    <a:srgbClr val="4AFD00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02" autoAdjust="0"/>
    <p:restoredTop sz="82220"/>
  </p:normalViewPr>
  <p:slideViewPr>
    <p:cSldViewPr snapToGrid="0" snapToObjects="1">
      <p:cViewPr varScale="1">
        <p:scale>
          <a:sx n="60" d="100"/>
          <a:sy n="60" d="100"/>
        </p:scale>
        <p:origin x="1512" y="17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Welcome to Week 4. Today we’ll focus on </a:t>
            </a:r>
            <a:r>
              <a:rPr lang="en-ID" b="1" dirty="0"/>
              <a:t>Evidence Acquisition in Network Forensics</a:t>
            </a:r>
            <a:r>
              <a:rPr lang="en-ID" dirty="0"/>
              <a:t>, based on Chapter 2.3 of our textbook.</a:t>
            </a:r>
          </a:p>
          <a:p>
            <a:r>
              <a:rPr lang="en-ID" dirty="0"/>
              <a:t>Last week we studied common network protocols and what kind of evidence they provide. Now we’ll talk about </a:t>
            </a:r>
            <a:r>
              <a:rPr lang="en-ID" i="1" dirty="0"/>
              <a:t>how we actually acquire that evidence</a:t>
            </a:r>
            <a:r>
              <a:rPr lang="en-ID" dirty="0"/>
              <a:t> in a way that is both reliable and admissible.”</a:t>
            </a:r>
          </a:p>
        </p:txBody>
      </p:sp>
    </p:spTree>
    <p:extLst>
      <p:ext uri="{BB962C8B-B14F-4D97-AF65-F5344CB8AC3E}">
        <p14:creationId xmlns:p14="http://schemas.microsoft.com/office/powerpoint/2010/main" val="2827974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By the end of this lecture,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Explain what evidence acquisition means in network forensics.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Identify key tools used for capturing packets, flows, and logs.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Apply best practices like order of volatility and chain of custody.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Recognize mistakes that can ruin an investigation.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Learn from real-world case studies where acquisition went right—or very wrong.”</a:t>
            </a:r>
          </a:p>
        </p:txBody>
      </p:sp>
    </p:spTree>
    <p:extLst>
      <p:ext uri="{BB962C8B-B14F-4D97-AF65-F5344CB8AC3E}">
        <p14:creationId xmlns:p14="http://schemas.microsoft.com/office/powerpoint/2010/main" val="695212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Evidence acquisition means the process of collecting data that may serve as digital evidence.</a:t>
            </a:r>
          </a:p>
          <a:p>
            <a:r>
              <a:rPr lang="en-ID" dirty="0"/>
              <a:t>It must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Complete</a:t>
            </a:r>
            <a:r>
              <a:rPr lang="en-ID" dirty="0"/>
              <a:t> — cover all relevant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Accurate</a:t>
            </a:r>
            <a:r>
              <a:rPr lang="en-ID" dirty="0"/>
              <a:t> — reflect the truth without alteration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Reliable</a:t>
            </a:r>
            <a:r>
              <a:rPr lang="en-ID" dirty="0"/>
              <a:t> — defensible in court</a:t>
            </a:r>
          </a:p>
          <a:p>
            <a:r>
              <a:rPr lang="en-ID" dirty="0"/>
              <a:t>The challenge is balancing speed with correctness. If you collect too slowly, data may be lost. If you collect carelessly, evidence may be inadmissible.</a:t>
            </a:r>
          </a:p>
        </p:txBody>
      </p:sp>
    </p:spTree>
    <p:extLst>
      <p:ext uri="{BB962C8B-B14F-4D97-AF65-F5344CB8AC3E}">
        <p14:creationId xmlns:p14="http://schemas.microsoft.com/office/powerpoint/2010/main" val="2420029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Key principles guide all acquisitions: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Order of Volatility</a:t>
            </a:r>
            <a:r>
              <a:rPr lang="en-ID" dirty="0"/>
              <a:t>: start with the most short-lived evidence, like memory or live traffic, before logs or disks.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Integrity</a:t>
            </a:r>
            <a:r>
              <a:rPr lang="en-ID" dirty="0"/>
              <a:t>: use hashing to prove nothing 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Chain of Custody</a:t>
            </a:r>
            <a:r>
              <a:rPr lang="en-ID" dirty="0"/>
              <a:t>: record who collected the evidence, when, where, and how.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Repeatability</a:t>
            </a:r>
            <a:r>
              <a:rPr lang="en-ID" dirty="0"/>
              <a:t>: another expert should be able to repeat the process and get the same result.</a:t>
            </a:r>
          </a:p>
          <a:p>
            <a:r>
              <a:rPr lang="en-ID" dirty="0"/>
              <a:t>These principles make the difference between a successful forensic case and evidence that gets thrown out.”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952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Where do we acquire from?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Packets</a:t>
            </a:r>
            <a:r>
              <a:rPr lang="en-ID" dirty="0"/>
              <a:t>: real-time network captures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Flows</a:t>
            </a:r>
            <a:r>
              <a:rPr lang="en-ID" dirty="0"/>
              <a:t>: metadata summaries like NetFlow or Argus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Logs</a:t>
            </a:r>
            <a:r>
              <a:rPr lang="en-ID" dirty="0"/>
              <a:t>: routers, firewalls, servers, </a:t>
            </a:r>
            <a:r>
              <a:rPr lang="en-ID" dirty="0" err="1"/>
              <a:t>syslogs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System data</a:t>
            </a:r>
            <a:r>
              <a:rPr lang="en-ID" dirty="0"/>
              <a:t>: authentication records, event logs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Third-party services</a:t>
            </a:r>
            <a:r>
              <a:rPr lang="en-ID" dirty="0"/>
              <a:t>: cloud providers, ISPs</a:t>
            </a:r>
          </a:p>
          <a:p>
            <a:r>
              <a:rPr lang="en-ID" dirty="0"/>
              <a:t>Each has different value. Packets are detailed but heavy. Flows are compact but high-level. Logs give context. Together, they tell the full story.”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986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Some tools for capturing packets: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tcpdump</a:t>
            </a:r>
            <a:r>
              <a:rPr lang="en-ID" dirty="0"/>
              <a:t> — lightweight, command line, trusted in court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Wireshark / </a:t>
            </a:r>
            <a:r>
              <a:rPr lang="en-ID" b="1" dirty="0" err="1"/>
              <a:t>dumpcap</a:t>
            </a:r>
            <a:r>
              <a:rPr lang="en-ID" dirty="0"/>
              <a:t> — user-friendly GUI, filtering, deep inspection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Hardware taps / SPAN ports</a:t>
            </a:r>
            <a:r>
              <a:rPr lang="en-ID" dirty="0"/>
              <a:t> — mirror traffic without disruption</a:t>
            </a:r>
          </a:p>
          <a:p>
            <a:r>
              <a:rPr lang="en-ID" dirty="0"/>
              <a:t>Forensic value: packet captures give you headers and payloads. They show exactly what happened on the wire.”</a:t>
            </a:r>
          </a:p>
        </p:txBody>
      </p:sp>
    </p:spTree>
    <p:extLst>
      <p:ext uri="{BB962C8B-B14F-4D97-AF65-F5344CB8AC3E}">
        <p14:creationId xmlns:p14="http://schemas.microsoft.com/office/powerpoint/2010/main" val="2801171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Sometimes packet capture is too heavy. That’s when flow capture is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NetFlow</a:t>
            </a:r>
            <a:r>
              <a:rPr lang="en-ID" dirty="0"/>
              <a:t> (Cisco)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sFlow</a:t>
            </a:r>
            <a:r>
              <a:rPr lang="en-ID" dirty="0"/>
              <a:t> (sampling-based)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Argus</a:t>
            </a:r>
            <a:r>
              <a:rPr lang="en-ID" dirty="0"/>
              <a:t> (research and forensic community)</a:t>
            </a:r>
          </a:p>
          <a:p>
            <a:r>
              <a:rPr lang="en-ID" dirty="0"/>
              <a:t>Forensic value: flows summarize communication patterns. You don’t see the actual content, but you see who talked to who, for how long, and how much data moved.”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850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Logs give broader context. 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Syslog servers</a:t>
            </a:r>
            <a:r>
              <a:rPr lang="en-ID" dirty="0"/>
              <a:t> (collect logs centrally)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SIEM platforms</a:t>
            </a:r>
            <a:r>
              <a:rPr lang="en-ID" dirty="0"/>
              <a:t> (Splunk, ELK, </a:t>
            </a:r>
            <a:r>
              <a:rPr lang="en-ID" dirty="0" err="1"/>
              <a:t>QRadar</a:t>
            </a:r>
            <a:r>
              <a:rPr lang="en-ID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Firewall/IDS logs</a:t>
            </a:r>
            <a:endParaRPr lang="en-ID" dirty="0"/>
          </a:p>
          <a:p>
            <a:r>
              <a:rPr lang="en-ID" dirty="0"/>
              <a:t>Logs can prove things like failed logins, configuration changes, blocked traffic, or malware alerts.”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97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To do this properly, always remember: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Collect volatile evidence first (packets, memory).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Hash files (SHA-256 or SHA-512) immediately.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Store in read-only or write-protected media.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Document every action.</a:t>
            </a:r>
          </a:p>
          <a:p>
            <a:r>
              <a:rPr lang="en-ID" dirty="0"/>
              <a:t>One mistake in collection can cause evidence to be ruled invalid.”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758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In 2018, Marriott suffered a huge data breach. Investigators initially failed to preserve logs, which delayed the investigation.</a:t>
            </a:r>
          </a:p>
          <a:p>
            <a:r>
              <a:rPr lang="en-ID" b="1" dirty="0"/>
              <a:t>Evidence collected:</a:t>
            </a:r>
            <a:r>
              <a:rPr lang="en-ID" dirty="0"/>
              <a:t> firewall logs and some database access logs.</a:t>
            </a:r>
            <a:br>
              <a:rPr lang="en-ID" dirty="0"/>
            </a:br>
            <a:r>
              <a:rPr lang="en-ID" b="1" dirty="0"/>
              <a:t>Problem:</a:t>
            </a:r>
            <a:r>
              <a:rPr lang="en-ID" dirty="0"/>
              <a:t> incomplete, overwritten too quickly.</a:t>
            </a:r>
            <a:br>
              <a:rPr lang="en-ID" dirty="0"/>
            </a:br>
            <a:r>
              <a:rPr lang="en-ID" b="1" dirty="0"/>
              <a:t>Result:</a:t>
            </a:r>
            <a:r>
              <a:rPr lang="en-ID" dirty="0"/>
              <a:t> it took months longer to confirm the scale of the breach.</a:t>
            </a:r>
          </a:p>
          <a:p>
            <a:r>
              <a:rPr lang="en-ID" dirty="0"/>
              <a:t>Lesson: always preserve logs before rotation.”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800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In 2021, data of 279 million citizens leaked from BPJS Kesehatan.</a:t>
            </a:r>
          </a:p>
          <a:p>
            <a:r>
              <a:rPr lang="en-ID" b="1" dirty="0"/>
              <a:t>Evidence collected:</a:t>
            </a:r>
            <a:r>
              <a:rPr lang="en-ID" dirty="0"/>
              <a:t> database logs and application access records.</a:t>
            </a:r>
            <a:br>
              <a:rPr lang="en-ID" dirty="0"/>
            </a:br>
            <a:r>
              <a:rPr lang="en-ID" b="1" dirty="0"/>
              <a:t>Problem:</a:t>
            </a:r>
            <a:r>
              <a:rPr lang="en-ID" dirty="0"/>
              <a:t> no consistent hashing, unclear chain of custody.</a:t>
            </a:r>
            <a:br>
              <a:rPr lang="en-ID" dirty="0"/>
            </a:br>
            <a:r>
              <a:rPr lang="en-ID" b="1" dirty="0"/>
              <a:t>Result:</a:t>
            </a:r>
            <a:r>
              <a:rPr lang="en-ID" dirty="0"/>
              <a:t> hard to prove in court exactly how the data was stolen.</a:t>
            </a:r>
          </a:p>
          <a:p>
            <a:r>
              <a:rPr lang="en-ID" dirty="0"/>
              <a:t>Lesson: without proper acquisition, even if you know what happened, you can’t prove it.”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376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How does chain of custody look in practice?</a:t>
            </a:r>
          </a:p>
          <a:p>
            <a:r>
              <a:rPr lang="en-ID" dirty="0"/>
              <a:t>Example entry: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i="1" dirty="0"/>
              <a:t>2025-10-05, </a:t>
            </a:r>
            <a:r>
              <a:rPr lang="en-ID" i="1" dirty="0" err="1"/>
              <a:t>tcpdump</a:t>
            </a:r>
            <a:r>
              <a:rPr lang="en-ID" i="1" dirty="0"/>
              <a:t> capture, filename: capture1.pcap, SHA-256 hash: </a:t>
            </a:r>
            <a:r>
              <a:rPr lang="en-ID" i="1" dirty="0" err="1"/>
              <a:t>abcd</a:t>
            </a:r>
            <a:r>
              <a:rPr lang="en-ID" i="1" dirty="0"/>
              <a:t>..., collected by A. Investigator, stored in Locker 3.</a:t>
            </a:r>
            <a:endParaRPr lang="en-ID" dirty="0"/>
          </a:p>
          <a:p>
            <a:r>
              <a:rPr lang="en-ID" dirty="0"/>
              <a:t>It’s a simple log, but it proves evidence hasn’t been tampered with.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095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Common mistakes: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Not hashing evidence before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Missing critical logs due to rotation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Using tools that alter metadata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Poor documentation</a:t>
            </a:r>
          </a:p>
          <a:p>
            <a:r>
              <a:rPr lang="en-ID" dirty="0"/>
              <a:t>Any one of these can destroy the credibility of the case.”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8045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Let’s apply this.</a:t>
            </a:r>
          </a:p>
          <a:p>
            <a:r>
              <a:rPr lang="en-ID" b="1" dirty="0"/>
              <a:t>Scenario:</a:t>
            </a:r>
            <a:r>
              <a:rPr lang="en-ID" dirty="0"/>
              <a:t> A company suspects data exfiltration at midnight last Sunday. You’re called Monday morning.</a:t>
            </a:r>
          </a:p>
          <a:p>
            <a:r>
              <a:rPr lang="en-ID" dirty="0"/>
              <a:t>What do you collect first? Why?</a:t>
            </a:r>
          </a:p>
          <a:p>
            <a:r>
              <a:rPr lang="en-ID" b="1" dirty="0"/>
              <a:t>Model Answer: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First: volatile data — NetFlow and IDS logs from the time of exfiltration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Then: firewall and server logs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Use </a:t>
            </a:r>
            <a:r>
              <a:rPr lang="en-ID" dirty="0" err="1"/>
              <a:t>tcpdump</a:t>
            </a:r>
            <a:r>
              <a:rPr lang="en-ID" dirty="0"/>
              <a:t>/Wireshark for live capture if traffic is ongoing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Preserve all with hashes and chain of custody.”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322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To recap: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Collect from multiple 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Start with volatile evidence.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Use trusted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Hash and document.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Think beyond technical — evidence must stand in court.”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0310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Final thought: What’s harder — capturing the evidence technically, or ensuring it’s admissible in court?</a:t>
            </a:r>
          </a:p>
          <a:p>
            <a:r>
              <a:rPr lang="en-ID" dirty="0"/>
              <a:t>Some will argue technical challenges (data volume, encryption). Others will say legal admissibility (chain of custody, handling procedures).</a:t>
            </a:r>
          </a:p>
          <a:p>
            <a:r>
              <a:rPr lang="en-ID" dirty="0"/>
              <a:t>Both matter equally — if evidence isn’t valid in court, it’s useless.”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686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10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Aptos" panose="020B0004020202020204" pitchFamily="34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Aptos" panose="020B0004020202020204" pitchFamily="34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ptos" panose="020B0004020202020204" pitchFamily="34" charset="0"/>
                <a:ea typeface="Aptos" panose="020B0004020202020204" pitchFamily="34" charset="0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Aptos" panose="020B0004020202020204" pitchFamily="34" charset="0"/>
              </a:defRPr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ptos" panose="020B0004020202020204" pitchFamily="34" charset="0"/>
                <a:ea typeface="Aptos" panose="020B0004020202020204" pitchFamily="34" charset="0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4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ptos" panose="020B0004020202020204" pitchFamily="34" charset="0"/>
                <a:ea typeface="Aptos" panose="020B0004020202020204" pitchFamily="34" charset="0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004301" cy="357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>
                <a:latin typeface="Aptos" panose="020B0004020202020204" pitchFamily="34" charset="0"/>
              </a:rPr>
              <a:t>SUBJECT MATTER EXPERT</a:t>
            </a:r>
            <a:endParaRPr sz="2800" b="1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D645C5F-9B49-0817-CC1A-84282EE4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475488"/>
            <a:ext cx="19392118" cy="2037175"/>
          </a:xfrm>
        </p:spPr>
        <p:txBody>
          <a:bodyPr anchor="ctr"/>
          <a:lstStyle>
            <a:lvl1pPr>
              <a:lnSpc>
                <a:spcPct val="100000"/>
              </a:lnSpc>
              <a:defRPr b="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0B82B85-5AAA-4DD4-23B6-327BBDEF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2779776"/>
            <a:ext cx="21971000" cy="10460736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79DAF52-7079-D27A-6999-F8755F55C30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4D2750-83A7-0E8A-991D-531C92146EE0}"/>
              </a:ext>
            </a:extLst>
          </p:cNvPr>
          <p:cNvSpPr/>
          <p:nvPr userDrawn="1"/>
        </p:nvSpPr>
        <p:spPr>
          <a:xfrm>
            <a:off x="0" y="13386985"/>
            <a:ext cx="24384000" cy="326827"/>
          </a:xfrm>
          <a:prstGeom prst="rect">
            <a:avLst/>
          </a:prstGeom>
          <a:solidFill>
            <a:srgbClr val="2554A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4" name="Picture 1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97484277-1919-EC7C-A06C-AB36A5E0C4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194"/>
          <a:stretch/>
        </p:blipFill>
        <p:spPr>
          <a:xfrm>
            <a:off x="21098107" y="676211"/>
            <a:ext cx="2079393" cy="164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C614F1-89F8-B808-9DD9-229AAF4CE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98E9C-690F-D5B2-6A0E-CA43C8C26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EBA59A-5DC7-987B-985C-E7F05D80D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722D20-F203-A321-C13A-3A85A24C3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C79DE9-4AFD-C17C-6D01-10CB5913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BA874-2A87-342A-D528-C2660A034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03794-B39A-7A69-54AC-AFD888C8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25C93-1B77-566C-CD32-E4AC841F1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923CA-0AF7-7160-B581-2CACED78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62FAA5-6C99-7043-5D20-4F0B7F863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28E23-B05B-27F7-5B39-9129277EE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A795C1-A678-59F7-F2CE-A3263373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008AF-17B2-1560-3039-4C723BA0C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F6EF1-CFA9-A58C-D0E2-EFC77F0A6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995F2D-6472-91D6-94D4-E6E20D96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3551FA-97E6-2245-9BD6-C384100F7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5400" dirty="0"/>
              <a:t>COMP6348001</a:t>
            </a:r>
          </a:p>
          <a:p>
            <a:r>
              <a:rPr lang="en-US" sz="5400" dirty="0"/>
              <a:t>Network Forensics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500" dirty="0"/>
              <a:t>Evidence Acquisition in Network Forensics</a:t>
            </a:r>
            <a:endParaRPr lang="en-US" sz="34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Dr. Don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BF5A-0B8E-0DB7-8E73-85F9B439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Learning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ABDB9-8181-FE10-C3FA-42BE1DE36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By the end of this session, you will be able to:</a:t>
            </a:r>
          </a:p>
          <a:p>
            <a:r>
              <a:rPr lang="en-ID" dirty="0"/>
              <a:t>Explain methods for acquiring network evidence</a:t>
            </a:r>
          </a:p>
          <a:p>
            <a:r>
              <a:rPr lang="en-ID" dirty="0"/>
              <a:t>Identify tools used for packet capture, flow capture, and log collection</a:t>
            </a:r>
          </a:p>
          <a:p>
            <a:r>
              <a:rPr lang="en-ID" dirty="0"/>
              <a:t>Apply best practices for preserving evidence integrity</a:t>
            </a:r>
          </a:p>
          <a:p>
            <a:r>
              <a:rPr lang="en-ID" dirty="0"/>
              <a:t>Recognize challenges and mistakes in acquisition</a:t>
            </a:r>
          </a:p>
        </p:txBody>
      </p:sp>
    </p:spTree>
    <p:extLst>
      <p:ext uri="{BB962C8B-B14F-4D97-AF65-F5344CB8AC3E}">
        <p14:creationId xmlns:p14="http://schemas.microsoft.com/office/powerpoint/2010/main" val="12101298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C7AE-DC07-5C5B-4671-89C2BE51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What is Evidence Acquisition?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AECEF-AFFE-130B-C8C9-D77CAAB86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Process of collecting digital artifacts for forensic analysis</a:t>
            </a:r>
          </a:p>
          <a:p>
            <a:r>
              <a:rPr lang="en-ID" dirty="0"/>
              <a:t>Must be:</a:t>
            </a:r>
          </a:p>
          <a:p>
            <a:pPr lvl="1"/>
            <a:r>
              <a:rPr lang="en-ID" dirty="0"/>
              <a:t>Complete → covers all relevant sources</a:t>
            </a:r>
          </a:p>
          <a:p>
            <a:pPr lvl="1"/>
            <a:r>
              <a:rPr lang="en-ID" dirty="0"/>
              <a:t>Accurate → true copy of original</a:t>
            </a:r>
          </a:p>
          <a:p>
            <a:pPr lvl="1"/>
            <a:r>
              <a:rPr lang="en-ID" dirty="0"/>
              <a:t>Reliable → admissible in court</a:t>
            </a:r>
          </a:p>
          <a:p>
            <a:pPr lvl="1"/>
            <a:r>
              <a:rPr lang="en-ID" dirty="0"/>
              <a:t>Involves both live capture and archival collection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7283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FBE9-1030-B24D-AB02-A65F5C414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The Forensic Principles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39273-E42D-3A6A-7C37-C1C8073F3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Order of Volatility</a:t>
            </a:r>
            <a:r>
              <a:rPr lang="en-ID" dirty="0"/>
              <a:t> → volatile evidence first (RAM, live sessions)</a:t>
            </a:r>
          </a:p>
          <a:p>
            <a:r>
              <a:rPr lang="en-ID" b="1" dirty="0"/>
              <a:t>Integrity</a:t>
            </a:r>
            <a:r>
              <a:rPr lang="en-ID" dirty="0"/>
              <a:t> → hashing to prove evidence unchanged</a:t>
            </a:r>
          </a:p>
          <a:p>
            <a:r>
              <a:rPr lang="en-ID" b="1" dirty="0"/>
              <a:t>Chain of Custody</a:t>
            </a:r>
            <a:r>
              <a:rPr lang="en-ID" dirty="0"/>
              <a:t> → document every handoff</a:t>
            </a:r>
          </a:p>
          <a:p>
            <a:r>
              <a:rPr lang="en-ID" b="1" dirty="0"/>
              <a:t>Repeatability</a:t>
            </a:r>
            <a:r>
              <a:rPr lang="en-ID" dirty="0"/>
              <a:t> → another examiner should get same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258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71A6D-280D-A20F-CDA5-1A10AFE6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Sources of Acquired Evidence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436D8-7F82-A942-4794-402CEEC29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Packets</a:t>
            </a:r>
            <a:r>
              <a:rPr lang="en-ID" dirty="0"/>
              <a:t> → captured in real time</a:t>
            </a:r>
          </a:p>
          <a:p>
            <a:r>
              <a:rPr lang="en-ID" b="1" dirty="0"/>
              <a:t>Flow Records</a:t>
            </a:r>
            <a:r>
              <a:rPr lang="en-ID" dirty="0"/>
              <a:t> → summarized communication (NetFlow, IPFIX)</a:t>
            </a:r>
          </a:p>
          <a:p>
            <a:r>
              <a:rPr lang="en-ID" b="1" dirty="0"/>
              <a:t>Logs</a:t>
            </a:r>
            <a:r>
              <a:rPr lang="en-ID" dirty="0"/>
              <a:t> → routers, firewalls, syslog, SIEM exports</a:t>
            </a:r>
          </a:p>
          <a:p>
            <a:r>
              <a:rPr lang="en-ID" b="1" dirty="0"/>
              <a:t>System Data</a:t>
            </a:r>
            <a:r>
              <a:rPr lang="en-ID" dirty="0"/>
              <a:t> → authentication records, event logs</a:t>
            </a:r>
          </a:p>
          <a:p>
            <a:r>
              <a:rPr lang="en-ID" b="1" dirty="0"/>
              <a:t>Third-party Services</a:t>
            </a:r>
            <a:r>
              <a:rPr lang="en-ID" dirty="0"/>
              <a:t> → cloud providers, ISPs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249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058B-295D-22CE-991A-E2448562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Packet Capture 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5967-EDF4-F24F-C9C8-F53F7B1E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tcpdump</a:t>
            </a:r>
            <a:r>
              <a:rPr lang="en-ID" dirty="0"/>
              <a:t> – lightweight, CLI-based</a:t>
            </a:r>
          </a:p>
          <a:p>
            <a:r>
              <a:rPr lang="en-ID" b="1" dirty="0"/>
              <a:t>Wireshark / </a:t>
            </a:r>
            <a:r>
              <a:rPr lang="en-ID" b="1" dirty="0" err="1"/>
              <a:t>dumpcap</a:t>
            </a:r>
            <a:r>
              <a:rPr lang="en-ID" dirty="0"/>
              <a:t> – GUI + advanced filters</a:t>
            </a:r>
          </a:p>
          <a:p>
            <a:r>
              <a:rPr lang="en-ID" b="1" dirty="0"/>
              <a:t>Network taps / SPAN ports</a:t>
            </a:r>
            <a:r>
              <a:rPr lang="en-ID" dirty="0"/>
              <a:t> – passive collection points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5276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154B-4D78-5D1B-FC84-83A67393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Flow Capture 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00342-A399-E3D7-CFFC-AC0164101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NetFlow (Cisco)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sFlow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Argus</a:t>
            </a:r>
            <a:r>
              <a:rPr lang="en-ID" dirty="0"/>
              <a:t> (Audit Record Generation and Utilization System)</a:t>
            </a:r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r>
              <a:rPr lang="en-ID" b="1" dirty="0"/>
              <a:t>Forensic Value:</a:t>
            </a:r>
            <a:r>
              <a:rPr lang="en-ID" dirty="0"/>
              <a:t> Metadata only, smaller size, long-term storage.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1209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7A1B-1359-00C3-B1BB-10511114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Log Collection 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8D646-A01D-DC62-99A5-8AC23D081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Syslog servers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SIEM platforms (Splunk, ELK Stack, </a:t>
            </a:r>
            <a:r>
              <a:rPr lang="en-ID" b="1" dirty="0" err="1"/>
              <a:t>QRadar</a:t>
            </a:r>
            <a:r>
              <a:rPr lang="en-ID" b="1" dirty="0"/>
              <a:t>)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Firewall exports</a:t>
            </a:r>
            <a:endParaRPr lang="en-ID" dirty="0"/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r>
              <a:rPr lang="en-ID" b="1" dirty="0"/>
              <a:t>Forensic Value:</a:t>
            </a:r>
            <a:r>
              <a:rPr lang="en-ID" dirty="0"/>
              <a:t> Provide timeline of events across devices.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0517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45B8-EE34-725D-8019-19E47E1E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Best Practices in Acquisition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125D-AA0B-EF8A-176F-BC6263F43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Collect </a:t>
            </a:r>
            <a:r>
              <a:rPr lang="en-ID" b="1" dirty="0"/>
              <a:t>volatile evidence first</a:t>
            </a:r>
            <a:r>
              <a:rPr lang="en-ID" dirty="0"/>
              <a:t> (live captures before logs rotate)</a:t>
            </a:r>
          </a:p>
          <a:p>
            <a:r>
              <a:rPr lang="en-ID" b="1" dirty="0"/>
              <a:t>Hash files</a:t>
            </a:r>
            <a:r>
              <a:rPr lang="en-ID" dirty="0"/>
              <a:t> (MD5, SHA-256) at collection and transfer</a:t>
            </a:r>
          </a:p>
          <a:p>
            <a:r>
              <a:rPr lang="en-ID" dirty="0"/>
              <a:t>Store evidence in </a:t>
            </a:r>
            <a:r>
              <a:rPr lang="en-ID" b="1" dirty="0"/>
              <a:t>read-only media</a:t>
            </a:r>
            <a:r>
              <a:rPr lang="en-ID" dirty="0"/>
              <a:t> (WORM, CD/DVD, secure vault)</a:t>
            </a:r>
          </a:p>
          <a:p>
            <a:r>
              <a:rPr lang="en-ID" dirty="0"/>
              <a:t>Keep </a:t>
            </a:r>
            <a:r>
              <a:rPr lang="en-ID" b="1" dirty="0"/>
              <a:t>detailed acquisition notes</a:t>
            </a:r>
            <a:endParaRPr lang="en-ID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9288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AD81F-270C-4682-0651-F2468E35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International Case: Marriott Breach (2018)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67A16-16CC-B23C-4392-7551A47D1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Investigators initially missed evidence because </a:t>
            </a:r>
            <a:r>
              <a:rPr lang="en-ID" b="1" dirty="0"/>
              <a:t>logs weren’t collected in time</a:t>
            </a:r>
            <a:endParaRPr lang="en-ID" dirty="0"/>
          </a:p>
          <a:p>
            <a:r>
              <a:rPr lang="en-ID" b="1" dirty="0"/>
              <a:t>Evidence Sources Used:</a:t>
            </a:r>
            <a:endParaRPr lang="en-ID" dirty="0"/>
          </a:p>
          <a:p>
            <a:pPr lvl="1"/>
            <a:r>
              <a:rPr lang="en-ID" dirty="0"/>
              <a:t>Firewall logs (incomplete)</a:t>
            </a:r>
          </a:p>
          <a:p>
            <a:pPr lvl="1"/>
            <a:r>
              <a:rPr lang="en-ID" dirty="0"/>
              <a:t>Database access logs (partially overwritten)</a:t>
            </a:r>
          </a:p>
          <a:p>
            <a:r>
              <a:rPr lang="en-ID" b="1" dirty="0"/>
              <a:t>Result:</a:t>
            </a:r>
            <a:r>
              <a:rPr lang="en-ID" dirty="0"/>
              <a:t> Timeline reconstruction was delayed, making attribution harder</a:t>
            </a:r>
          </a:p>
          <a:p>
            <a:r>
              <a:rPr lang="en-ID" b="1" dirty="0"/>
              <a:t>Lesson:</a:t>
            </a:r>
            <a:r>
              <a:rPr lang="en-ID" dirty="0"/>
              <a:t> Acquire logs early and preserve them before rotation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5145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DD5B7-E83F-0D60-0CEC-7BEB87D5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Indonesian Case: BPJS Kesehatan Leak (2021)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1EFC5-0DB5-C4C0-7D35-74EB13AAB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279M citizen records leaked</a:t>
            </a:r>
          </a:p>
          <a:p>
            <a:r>
              <a:rPr lang="en-ID" b="1" dirty="0"/>
              <a:t>Evidence Sources Used:</a:t>
            </a:r>
            <a:endParaRPr lang="en-ID" dirty="0"/>
          </a:p>
          <a:p>
            <a:pPr lvl="1"/>
            <a:r>
              <a:rPr lang="en-ID" dirty="0"/>
              <a:t>Database logs (showed mass queries)</a:t>
            </a:r>
          </a:p>
          <a:p>
            <a:pPr lvl="1"/>
            <a:r>
              <a:rPr lang="en-ID" dirty="0"/>
              <a:t>Application logs (unauthorized access)</a:t>
            </a:r>
          </a:p>
          <a:p>
            <a:r>
              <a:rPr lang="en-ID" b="1" dirty="0"/>
              <a:t>Acquisition Problem:</a:t>
            </a:r>
            <a:r>
              <a:rPr lang="en-ID" dirty="0"/>
              <a:t> Lack of consistent hashing + unclear chain of custody</a:t>
            </a:r>
          </a:p>
          <a:p>
            <a:r>
              <a:rPr lang="en-ID" b="1" dirty="0"/>
              <a:t>Result:</a:t>
            </a:r>
            <a:r>
              <a:rPr lang="en-ID" dirty="0"/>
              <a:t> Difficult to prove in court how data was stolen</a:t>
            </a:r>
          </a:p>
          <a:p>
            <a:r>
              <a:rPr lang="en-ID" b="1" dirty="0"/>
              <a:t>Lesson:</a:t>
            </a:r>
            <a:r>
              <a:rPr lang="en-ID" dirty="0"/>
              <a:t> Proper acquisition procedure = stronger legal case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7800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70D8-57C9-5022-9CFF-4B67A4A4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Chain of Custody in Practice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6EC2E-B62A-850A-4EA9-6E0C4AD53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Log sheet includes:</a:t>
            </a:r>
          </a:p>
          <a:p>
            <a:pPr lvl="1"/>
            <a:r>
              <a:rPr lang="en-ID" dirty="0"/>
              <a:t>Who collected</a:t>
            </a:r>
          </a:p>
          <a:p>
            <a:pPr lvl="1"/>
            <a:r>
              <a:rPr lang="en-ID" dirty="0"/>
              <a:t>When and where</a:t>
            </a:r>
          </a:p>
          <a:p>
            <a:pPr lvl="1"/>
            <a:r>
              <a:rPr lang="en-ID" dirty="0"/>
              <a:t>What tool was used</a:t>
            </a:r>
          </a:p>
          <a:p>
            <a:pPr lvl="1"/>
            <a:r>
              <a:rPr lang="en-ID" dirty="0"/>
              <a:t>Hash value of evidence</a:t>
            </a:r>
          </a:p>
          <a:p>
            <a:pPr marL="0" indent="0">
              <a:buNone/>
            </a:pPr>
            <a:r>
              <a:rPr lang="en-ID" dirty="0"/>
              <a:t>Example entry:</a:t>
            </a:r>
          </a:p>
          <a:p>
            <a:r>
              <a:rPr lang="en-ID" i="1" dirty="0"/>
              <a:t>2025-10-05, </a:t>
            </a:r>
            <a:r>
              <a:rPr lang="en-ID" i="1" dirty="0" err="1"/>
              <a:t>tcpdump</a:t>
            </a:r>
            <a:r>
              <a:rPr lang="en-ID" i="1" dirty="0"/>
              <a:t> capture, /cases/capture1.pcap, SHA-256: </a:t>
            </a:r>
            <a:r>
              <a:rPr lang="en-ID" i="1" dirty="0" err="1"/>
              <a:t>abcd</a:t>
            </a:r>
            <a:r>
              <a:rPr lang="en-ID" i="1" dirty="0"/>
              <a:t>..., collected by A. Investigator, stored in Evidence Locker 3.</a:t>
            </a:r>
            <a:endParaRPr lang="en-ID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14898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92EA-AD85-C96E-A03E-2FF8898B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Mistakes in Acquisition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82F6E-26C7-6EE5-CCF2-FBAA90AA9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Not hashing evidence before analysis</a:t>
            </a:r>
          </a:p>
          <a:p>
            <a:r>
              <a:rPr lang="en-ID" dirty="0"/>
              <a:t>Capturing traffic without timestamps</a:t>
            </a:r>
          </a:p>
          <a:p>
            <a:r>
              <a:rPr lang="en-ID" dirty="0"/>
              <a:t>Collecting partial logs (missing critical period)</a:t>
            </a:r>
          </a:p>
          <a:p>
            <a:r>
              <a:rPr lang="en-ID" dirty="0"/>
              <a:t>Using tools that alter metadata</a:t>
            </a:r>
          </a:p>
          <a:p>
            <a:r>
              <a:rPr lang="en-ID" dirty="0"/>
              <a:t>Poor documentation → evidence inadmissible in court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5279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9F3E-6C40-CF41-B964-A04BD32FA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Case Study Discussion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B1FC1-C50E-69F8-BFD2-D17080410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b="1" dirty="0"/>
              <a:t>Scenario:</a:t>
            </a:r>
            <a:r>
              <a:rPr lang="en-ID" dirty="0"/>
              <a:t> A company suspects data exfiltration at midnight last Sunday. You are called on Monday morning.</a:t>
            </a:r>
          </a:p>
          <a:p>
            <a:r>
              <a:rPr lang="en-ID" b="1" dirty="0"/>
              <a:t>Questions for students:</a:t>
            </a:r>
            <a:endParaRPr lang="en-ID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/>
              <a:t>Which evidence do you collect first?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/>
              <a:t>Which tools would you use?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/>
              <a:t>How do you preserve it for later analysis?</a:t>
            </a:r>
          </a:p>
          <a:p>
            <a:r>
              <a:rPr lang="en-ID" b="1" dirty="0"/>
              <a:t>Sample Answer:</a:t>
            </a:r>
            <a:endParaRPr lang="en-ID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/>
              <a:t>First: NetFlow/IDS logs from Sunday midnight (volatile, may rotate fast)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/>
              <a:t>Then: Firewall and server logs for access attempts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/>
              <a:t>Tools: </a:t>
            </a:r>
            <a:r>
              <a:rPr lang="en-ID" dirty="0" err="1"/>
              <a:t>tcpdump</a:t>
            </a:r>
            <a:r>
              <a:rPr lang="en-ID" dirty="0"/>
              <a:t>/Wireshark for live capture, hash with SHA-256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/>
              <a:t>Preserve: write-once media, detailed chain of custody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2398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E57E-62B3-BE9C-8307-59D10332C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Best Practices Recap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4D327-46A0-A30E-15C9-CF9726B46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Acquire from multiple sources (packets, flows, logs)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Prioritize volatile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Use trusted tools (</a:t>
            </a:r>
            <a:r>
              <a:rPr lang="en-ID" dirty="0" err="1"/>
              <a:t>tcpdump</a:t>
            </a:r>
            <a:r>
              <a:rPr lang="en-ID" dirty="0"/>
              <a:t>, Wireshark, Argus)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Always hash and document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Think ahead: evidence should stand in court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1456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8610-1A56-AF8A-7537-CF97AA07C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Reflection Question (End)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1AEC0-CD7A-3025-E409-91E02F985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D" b="1" dirty="0">
                <a:solidFill>
                  <a:srgbClr val="0070C0"/>
                </a:solidFill>
              </a:rPr>
              <a:t>What is the most challenging part of acquiring network evidence: the technical capture, or ensuring the evidence is admissible in court? Why?</a:t>
            </a:r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r>
              <a:rPr lang="en-ID" b="1" dirty="0"/>
              <a:t>Sample Answer: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Technical capture is challenging due to data volume.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Legal admissibility is equally critical, because evidence without integrity is useless in trial.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Students should see acquisition as both </a:t>
            </a:r>
            <a:r>
              <a:rPr lang="en-ID" b="1" dirty="0"/>
              <a:t>technical + legal responsibility</a:t>
            </a:r>
            <a:r>
              <a:rPr lang="en-ID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737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C29185-DEBA-2653-928F-12E0AF1E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53677314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FEBCA056-F2A5-496F-A830-7BAED988D208}" vid="{3C0D7A97-88A3-424B-BF48-73EB1D05E1B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1788</TotalTime>
  <Words>1662</Words>
  <Application>Microsoft Macintosh PowerPoint</Application>
  <PresentationFormat>Custom</PresentationFormat>
  <Paragraphs>184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-webkit-standard</vt:lpstr>
      <vt:lpstr>Aptos</vt:lpstr>
      <vt:lpstr>Arial</vt:lpstr>
      <vt:lpstr>Helvetica Neue Medium</vt:lpstr>
      <vt:lpstr>OCRB</vt:lpstr>
      <vt:lpstr>Open Sans ExtraBold</vt:lpstr>
      <vt:lpstr>Open Sans Light</vt:lpstr>
      <vt:lpstr>Open Sans Semibold</vt:lpstr>
      <vt:lpstr>21_BasicWhite</vt:lpstr>
      <vt:lpstr>Evidence Acquisition in Network Forensics</vt:lpstr>
      <vt:lpstr>Learning Objectives</vt:lpstr>
      <vt:lpstr>What is Evidence Acquisition?</vt:lpstr>
      <vt:lpstr>The Forensic Principles</vt:lpstr>
      <vt:lpstr>Sources of Acquired Evidence</vt:lpstr>
      <vt:lpstr>Packet Capture Tools</vt:lpstr>
      <vt:lpstr>Flow Capture Tools</vt:lpstr>
      <vt:lpstr>Log Collection Tools</vt:lpstr>
      <vt:lpstr>Best Practices in Acquisition</vt:lpstr>
      <vt:lpstr>International Case: Marriott Breach (2018)</vt:lpstr>
      <vt:lpstr>Indonesian Case: BPJS Kesehatan Leak (2021)</vt:lpstr>
      <vt:lpstr>Chain of Custody in Practice</vt:lpstr>
      <vt:lpstr>Mistakes in Acquisition</vt:lpstr>
      <vt:lpstr>Case Study Discussion</vt:lpstr>
      <vt:lpstr>Best Practices Recap</vt:lpstr>
      <vt:lpstr>Reflection Question (End)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Satrio Pradono, S.Kom., M.T.I.</dc:creator>
  <cp:lastModifiedBy>Satrio Pradono, S.Kom., M.T.I.</cp:lastModifiedBy>
  <cp:revision>12</cp:revision>
  <dcterms:created xsi:type="dcterms:W3CDTF">2024-08-21T04:45:24Z</dcterms:created>
  <dcterms:modified xsi:type="dcterms:W3CDTF">2025-10-02T13:52:09Z</dcterms:modified>
</cp:coreProperties>
</file>